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6" r:id="rId9"/>
    <p:sldId id="263" r:id="rId10"/>
    <p:sldId id="265" r:id="rId11"/>
  </p:sldIdLst>
  <p:sldSz cx="12192000" cy="6858000"/>
  <p:notesSz cx="6858000" cy="12192000"/>
  <p:embeddedFontLst>
    <p:embeddedFont>
      <p:font typeface="Cambria" panose="02040503050406030204" pitchFamily="18" charset="0"/>
      <p:regular r:id="rId13"/>
      <p:bold r:id="rId14"/>
      <p:italic r:id="rId15"/>
      <p:boldItalic r:id="rId16"/>
    </p:embeddedFont>
    <p:embeddedFont>
      <p:font typeface="Inter" panose="020B0604020202020204" charset="0"/>
      <p:regular r:id="rId17"/>
    </p:embeddedFont>
    <p:embeddedFont>
      <p:font typeface="Inter Light" panose="020B0604020202020204" charset="0"/>
      <p:regular r:id="rId18"/>
    </p:embeddedFont>
    <p:embeddedFont>
      <p:font typeface="Manrope" panose="020B0604020202020204" charset="0"/>
      <p:regular r:id="rId19"/>
    </p:embeddedFont>
    <p:embeddedFont>
      <p:font typeface="Manrope Bold" panose="020B0604020202020204" charset="0"/>
      <p:regular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21E4B2-780C-47C0-AE93-7BC7B4F448CE}" v="180" dt="2026-07-24T12:06:43.810"/>
    <p1510:client id="{9D1508E4-490C-DEBD-69E5-7515AEFA4E98}" v="177" dt="2026-07-24T12:00:05.107"/>
    <p1510:client id="{C3CB44DD-500D-B9C1-0440-AA50CEE66BC3}" v="217" dt="2026-07-24T12:51:55.4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26540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0ED"/>
          </a:solidFill>
          <a:ln/>
        </p:spPr>
        <p:txBody>
          <a:bodyPr/>
          <a:lstStyle/>
          <a:p>
            <a:endParaRPr lang="en-ZA"/>
          </a:p>
        </p:txBody>
      </p:sp>
      <p:sp>
        <p:nvSpPr>
          <p:cNvPr id="3" name="Shape 1"/>
          <p:cNvSpPr/>
          <p:nvPr/>
        </p:nvSpPr>
        <p:spPr>
          <a:xfrm>
            <a:off x="0" y="0"/>
            <a:ext cx="12191695" cy="6858000"/>
          </a:xfrm>
          <a:prstGeom prst="rect">
            <a:avLst/>
          </a:prstGeom>
          <a:solidFill>
            <a:srgbClr val="FFFFFF"/>
          </a:solidFill>
          <a:ln/>
        </p:spPr>
        <p:txBody>
          <a:bodyPr/>
          <a:lstStyle/>
          <a:p>
            <a:endParaRPr lang="en-ZA"/>
          </a:p>
        </p:txBody>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hyperlink" Target="https://www.youtube.com/watch?v=olqm3Tu8zwE&amp;t=2076s" TargetMode="External"/><Relationship Id="rId4" Type="http://schemas.openxmlformats.org/officeDocument/2006/relationships/hyperlink" Target="https://www.redbull.com/za-en/events/red-bull-box-cart-race-south-africa/"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jpeg"/><Relationship Id="rId7" Type="http://schemas.openxmlformats.org/officeDocument/2006/relationships/image" Target="../media/image16.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jpe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94267" y="260350"/>
            <a:ext cx="6095848" cy="6337300"/>
          </a:xfrm>
          <a:prstGeom prst="rect">
            <a:avLst/>
          </a:prstGeom>
        </p:spPr>
      </p:pic>
      <p:sp>
        <p:nvSpPr>
          <p:cNvPr id="3" name="Shape 0"/>
          <p:cNvSpPr/>
          <p:nvPr/>
        </p:nvSpPr>
        <p:spPr>
          <a:xfrm>
            <a:off x="6757322" y="1203127"/>
            <a:ext cx="2113108" cy="251420"/>
          </a:xfrm>
          <a:prstGeom prst="roundRect">
            <a:avLst>
              <a:gd name="adj" fmla="val 47364"/>
            </a:avLst>
          </a:prstGeom>
          <a:solidFill>
            <a:srgbClr val="FFD7CC"/>
          </a:solidFill>
          <a:ln/>
        </p:spPr>
        <p:txBody>
          <a:bodyPr/>
          <a:lstStyle/>
          <a:p>
            <a:endParaRPr lang="en-ZA"/>
          </a:p>
        </p:txBody>
      </p:sp>
      <p:sp>
        <p:nvSpPr>
          <p:cNvPr id="4" name="Text 1"/>
          <p:cNvSpPr/>
          <p:nvPr/>
        </p:nvSpPr>
        <p:spPr>
          <a:xfrm>
            <a:off x="6856539" y="1252736"/>
            <a:ext cx="2524260" cy="152202"/>
          </a:xfrm>
          <a:prstGeom prst="rect">
            <a:avLst/>
          </a:prstGeom>
          <a:noFill/>
          <a:ln/>
        </p:spPr>
        <p:txBody>
          <a:bodyPr wrap="none" lIns="0" tIns="0" rIns="0" bIns="0" rtlCol="0" anchor="t"/>
          <a:lstStyle/>
          <a:p>
            <a:pPr marL="0" indent="0" algn="l">
              <a:lnSpc>
                <a:spcPct val="96000"/>
              </a:lnSpc>
              <a:buNone/>
            </a:pPr>
            <a:r>
              <a:rPr lang="en-US" sz="1000">
                <a:solidFill>
                  <a:srgbClr val="55575A"/>
                </a:solidFill>
                <a:latin typeface="Manrope" pitchFamily="34" charset="0"/>
                <a:ea typeface="Manrope" pitchFamily="34" charset="-122"/>
                <a:cs typeface="Manrope" pitchFamily="34" charset="-120"/>
              </a:rPr>
              <a:t>2026 RED BULL BOX CART RACE</a:t>
            </a:r>
            <a:endParaRPr lang="en-US" sz="1000"/>
          </a:p>
        </p:txBody>
      </p:sp>
      <p:sp>
        <p:nvSpPr>
          <p:cNvPr id="5" name="Text 2"/>
          <p:cNvSpPr/>
          <p:nvPr/>
        </p:nvSpPr>
        <p:spPr>
          <a:xfrm>
            <a:off x="6757322" y="1520627"/>
            <a:ext cx="4772898" cy="1033463"/>
          </a:xfrm>
          <a:prstGeom prst="rect">
            <a:avLst/>
          </a:prstGeom>
          <a:noFill/>
          <a:ln/>
        </p:spPr>
        <p:txBody>
          <a:bodyPr wrap="square" lIns="0" tIns="0" rIns="0" bIns="0" rtlCol="0" anchor="t">
            <a:normAutofit/>
          </a:bodyPr>
          <a:lstStyle/>
          <a:p>
            <a:pPr marL="0" indent="0" algn="l">
              <a:lnSpc>
                <a:spcPct val="104000"/>
              </a:lnSpc>
              <a:buNone/>
            </a:pPr>
            <a:r>
              <a:rPr lang="en-US" sz="3250" b="1">
                <a:solidFill>
                  <a:srgbClr val="0C0D0F"/>
                </a:solidFill>
                <a:latin typeface="Inter" pitchFamily="34" charset="0"/>
                <a:ea typeface="Inter" pitchFamily="34" charset="-122"/>
                <a:cs typeface="Inter" pitchFamily="34" charset="-120"/>
              </a:rPr>
              <a:t>Pick ‘n Pay × Kwik Kwik Nawu Nawu</a:t>
            </a:r>
            <a:endParaRPr lang="en-US" sz="3250" b="1"/>
          </a:p>
        </p:txBody>
      </p:sp>
      <p:sp>
        <p:nvSpPr>
          <p:cNvPr id="6" name="Text 3"/>
          <p:cNvSpPr/>
          <p:nvPr/>
        </p:nvSpPr>
        <p:spPr>
          <a:xfrm>
            <a:off x="6856538" y="3308279"/>
            <a:ext cx="4486131" cy="3082247"/>
          </a:xfrm>
          <a:prstGeom prst="rect">
            <a:avLst/>
          </a:prstGeom>
          <a:noFill/>
          <a:ln/>
        </p:spPr>
        <p:txBody>
          <a:bodyPr wrap="square" lIns="0" tIns="0" rIns="0" bIns="0" rtlCol="0" anchor="t">
            <a:normAutofit/>
          </a:bodyPr>
          <a:lstStyle/>
          <a:p>
            <a:pPr marL="0" indent="0" algn="l">
              <a:lnSpc>
                <a:spcPct val="104000"/>
              </a:lnSpc>
              <a:buNone/>
            </a:pPr>
            <a:r>
              <a:rPr lang="en-US" sz="4450">
                <a:solidFill>
                  <a:srgbClr val="0C0D0F"/>
                </a:solidFill>
                <a:latin typeface="Inter" pitchFamily="34" charset="0"/>
                <a:ea typeface="Inter" pitchFamily="34" charset="-122"/>
                <a:cs typeface="Inter" pitchFamily="34" charset="-120"/>
              </a:rPr>
              <a:t>Fresh Ideas. Fast Delivery. South African Innovation.</a:t>
            </a:r>
            <a:endParaRPr lang="en-US" sz="445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578247"/>
            <a:ext cx="10868745" cy="335955"/>
          </a:xfrm>
          <a:prstGeom prst="rect">
            <a:avLst/>
          </a:prstGeom>
          <a:noFill/>
          <a:ln/>
        </p:spPr>
        <p:txBody>
          <a:bodyPr wrap="none" lIns="0" tIns="0" rIns="0" bIns="0" rtlCol="0" anchor="t"/>
          <a:lstStyle/>
          <a:p>
            <a:pPr marL="0" indent="0" algn="ctr">
              <a:lnSpc>
                <a:spcPct val="104000"/>
              </a:lnSpc>
              <a:buNone/>
            </a:pPr>
            <a:r>
              <a:rPr lang="en-US" sz="2100">
                <a:solidFill>
                  <a:srgbClr val="0C0D0F"/>
                </a:solidFill>
                <a:latin typeface="Inter" pitchFamily="34" charset="0"/>
                <a:ea typeface="Inter" pitchFamily="34" charset="-122"/>
                <a:cs typeface="Inter" pitchFamily="34" charset="-120"/>
              </a:rPr>
              <a:t>Meet the Team</a:t>
            </a:r>
            <a:endParaRPr lang="en-US" sz="2100"/>
          </a:p>
        </p:txBody>
      </p:sp>
      <p:sp>
        <p:nvSpPr>
          <p:cNvPr id="3" name="Text 1"/>
          <p:cNvSpPr/>
          <p:nvPr/>
        </p:nvSpPr>
        <p:spPr>
          <a:xfrm>
            <a:off x="0" y="1023342"/>
            <a:ext cx="11478330" cy="141883"/>
          </a:xfrm>
          <a:prstGeom prst="rect">
            <a:avLst/>
          </a:prstGeom>
          <a:noFill/>
          <a:ln/>
        </p:spPr>
        <p:txBody>
          <a:bodyPr wrap="none" lIns="0" tIns="0" rIns="0" bIns="0" rtlCol="0" anchor="t"/>
          <a:lstStyle/>
          <a:p>
            <a:pPr marL="0" indent="0" algn="ctr">
              <a:lnSpc>
                <a:spcPct val="110000"/>
              </a:lnSpc>
              <a:buNone/>
            </a:pPr>
            <a:r>
              <a:rPr lang="en-US" sz="1600">
                <a:solidFill>
                  <a:srgbClr val="55575A"/>
                </a:solidFill>
                <a:latin typeface="Manrope" pitchFamily="34" charset="0"/>
                <a:ea typeface="Manrope" pitchFamily="34" charset="-122"/>
                <a:cs typeface="Manrope" pitchFamily="34" charset="-120"/>
              </a:rPr>
              <a:t>Our dedicated group of engineering students bringing the Kwik Kwik Nawu Nawu vision to life.</a:t>
            </a:r>
            <a:endParaRPr lang="en-US" sz="1600"/>
          </a:p>
        </p:txBody>
      </p:sp>
      <p:pic>
        <p:nvPicPr>
          <p:cNvPr id="4" name="Image 0" descr="preencoded.png"/>
          <p:cNvPicPr>
            <a:picLocks noChangeAspect="1"/>
          </p:cNvPicPr>
          <p:nvPr/>
        </p:nvPicPr>
        <p:blipFill>
          <a:blip r:embed="rId3"/>
          <a:stretch>
            <a:fillRect/>
          </a:stretch>
        </p:blipFill>
        <p:spPr>
          <a:xfrm>
            <a:off x="1609685" y="1274366"/>
            <a:ext cx="1668222" cy="1668264"/>
          </a:xfrm>
          <a:prstGeom prst="rect">
            <a:avLst/>
          </a:prstGeom>
        </p:spPr>
      </p:pic>
      <p:sp>
        <p:nvSpPr>
          <p:cNvPr id="5" name="Text 2"/>
          <p:cNvSpPr/>
          <p:nvPr/>
        </p:nvSpPr>
        <p:spPr>
          <a:xfrm>
            <a:off x="661475" y="3029942"/>
            <a:ext cx="3564642" cy="167878"/>
          </a:xfrm>
          <a:prstGeom prst="rect">
            <a:avLst/>
          </a:prstGeom>
          <a:noFill/>
          <a:ln/>
        </p:spPr>
        <p:txBody>
          <a:bodyPr wrap="none" lIns="0" tIns="0" rIns="0" bIns="0" rtlCol="0" anchor="t"/>
          <a:lstStyle/>
          <a:p>
            <a:pPr marL="0" indent="0" algn="ctr">
              <a:lnSpc>
                <a:spcPct val="104000"/>
              </a:lnSpc>
              <a:buNone/>
            </a:pPr>
            <a:r>
              <a:rPr lang="en-US" sz="1200" b="1">
                <a:solidFill>
                  <a:srgbClr val="55575A"/>
                </a:solidFill>
                <a:latin typeface="Inter" pitchFamily="34" charset="0"/>
                <a:ea typeface="Inter" pitchFamily="34" charset="-122"/>
                <a:cs typeface="Inter" pitchFamily="34" charset="-120"/>
              </a:rPr>
              <a:t>Katlego Malogadithare </a:t>
            </a:r>
            <a:endParaRPr lang="en-US" sz="1200" b="1"/>
          </a:p>
        </p:txBody>
      </p:sp>
      <p:sp>
        <p:nvSpPr>
          <p:cNvPr id="6" name="Text 3"/>
          <p:cNvSpPr/>
          <p:nvPr/>
        </p:nvSpPr>
        <p:spPr>
          <a:xfrm>
            <a:off x="661475" y="3239691"/>
            <a:ext cx="3564642" cy="325636"/>
          </a:xfrm>
          <a:prstGeom prst="rect">
            <a:avLst/>
          </a:prstGeom>
          <a:noFill/>
          <a:ln/>
        </p:spPr>
        <p:txBody>
          <a:bodyPr wrap="square" lIns="0" tIns="0" rIns="0" bIns="0" rtlCol="0" anchor="t"/>
          <a:lstStyle/>
          <a:p>
            <a:pPr marL="0" indent="0" algn="ctr">
              <a:lnSpc>
                <a:spcPct val="110000"/>
              </a:lnSpc>
              <a:spcAft>
                <a:spcPts val="300"/>
              </a:spcAft>
              <a:buNone/>
            </a:pPr>
            <a:r>
              <a:rPr lang="en-US" sz="1100" b="1">
                <a:solidFill>
                  <a:srgbClr val="55575A"/>
                </a:solidFill>
                <a:latin typeface="Manrope Bold" pitchFamily="34" charset="0"/>
                <a:ea typeface="Manrope Bold" pitchFamily="34" charset="-122"/>
                <a:cs typeface="Manrope Bold" pitchFamily="34" charset="-120"/>
              </a:rPr>
              <a:t>Captain </a:t>
            </a:r>
            <a:endParaRPr lang="en-US" sz="1100"/>
          </a:p>
          <a:p>
            <a:pPr marL="0" indent="0" algn="ctr">
              <a:lnSpc>
                <a:spcPct val="110000"/>
              </a:lnSpc>
              <a:buNone/>
            </a:pPr>
            <a:r>
              <a:rPr lang="en-US" sz="1100">
                <a:solidFill>
                  <a:srgbClr val="55575A"/>
                </a:solidFill>
                <a:latin typeface="Manrope" pitchFamily="34" charset="0"/>
                <a:ea typeface="Manrope" pitchFamily="34" charset="-122"/>
                <a:cs typeface="Manrope" pitchFamily="34" charset="-120"/>
              </a:rPr>
              <a:t>Team Management and Budget.  </a:t>
            </a:r>
            <a:endParaRPr lang="en-US" sz="1100"/>
          </a:p>
        </p:txBody>
      </p:sp>
      <p:pic>
        <p:nvPicPr>
          <p:cNvPr id="7" name="Image 1" descr="preencoded.png"/>
          <p:cNvPicPr>
            <a:picLocks noChangeAspect="1"/>
          </p:cNvPicPr>
          <p:nvPr/>
        </p:nvPicPr>
        <p:blipFill>
          <a:blip r:embed="rId4"/>
          <a:stretch>
            <a:fillRect/>
          </a:stretch>
        </p:blipFill>
        <p:spPr>
          <a:xfrm>
            <a:off x="5261637" y="1274366"/>
            <a:ext cx="1668222" cy="166826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8" name="Text 4"/>
          <p:cNvSpPr/>
          <p:nvPr/>
        </p:nvSpPr>
        <p:spPr>
          <a:xfrm>
            <a:off x="4653943" y="3051771"/>
            <a:ext cx="2437525" cy="198911"/>
          </a:xfrm>
          <a:prstGeom prst="rect">
            <a:avLst/>
          </a:prstGeom>
          <a:noFill/>
          <a:ln/>
        </p:spPr>
        <p:txBody>
          <a:bodyPr wrap="none" lIns="0" tIns="0" rIns="0" bIns="0" rtlCol="0" anchor="t"/>
          <a:lstStyle/>
          <a:p>
            <a:pPr marL="0" indent="0" algn="ctr">
              <a:lnSpc>
                <a:spcPct val="104000"/>
              </a:lnSpc>
              <a:buNone/>
            </a:pPr>
            <a:r>
              <a:rPr lang="en-US" sz="1200" b="1">
                <a:solidFill>
                  <a:srgbClr val="55575A"/>
                </a:solidFill>
                <a:latin typeface="Inter" pitchFamily="34" charset="0"/>
                <a:ea typeface="Inter" pitchFamily="34" charset="-122"/>
                <a:cs typeface="Inter" pitchFamily="34" charset="-120"/>
              </a:rPr>
              <a:t>Shela Kunutu</a:t>
            </a:r>
            <a:endParaRPr lang="en-US" sz="1200" b="1"/>
          </a:p>
        </p:txBody>
      </p:sp>
      <p:sp>
        <p:nvSpPr>
          <p:cNvPr id="9" name="Text 5"/>
          <p:cNvSpPr/>
          <p:nvPr/>
        </p:nvSpPr>
        <p:spPr>
          <a:xfrm>
            <a:off x="4313377" y="3208732"/>
            <a:ext cx="3564741" cy="467519"/>
          </a:xfrm>
          <a:prstGeom prst="rect">
            <a:avLst/>
          </a:prstGeom>
          <a:noFill/>
          <a:ln/>
        </p:spPr>
        <p:txBody>
          <a:bodyPr wrap="square" lIns="0" tIns="0" rIns="0" bIns="0" rtlCol="0" anchor="t"/>
          <a:lstStyle/>
          <a:p>
            <a:pPr marL="0" indent="0" algn="ctr">
              <a:lnSpc>
                <a:spcPct val="110000"/>
              </a:lnSpc>
              <a:spcAft>
                <a:spcPts val="300"/>
              </a:spcAft>
              <a:buNone/>
            </a:pPr>
            <a:r>
              <a:rPr lang="en-US" sz="1100" b="1">
                <a:solidFill>
                  <a:srgbClr val="55575A"/>
                </a:solidFill>
                <a:latin typeface="Manrope Bold"/>
                <a:ea typeface="Manrope Bold" pitchFamily="34" charset="-122"/>
                <a:cs typeface="Manrope Bold" pitchFamily="34" charset="-120"/>
              </a:rPr>
              <a:t>Performances and Aesthetics </a:t>
            </a:r>
            <a:endParaRPr lang="en-US" sz="1100">
              <a:latin typeface="Manrope Bold"/>
            </a:endParaRPr>
          </a:p>
          <a:p>
            <a:pPr marL="0" indent="0" algn="ctr">
              <a:lnSpc>
                <a:spcPct val="110000"/>
              </a:lnSpc>
              <a:buNone/>
            </a:pPr>
            <a:r>
              <a:rPr lang="en-US" sz="1200">
                <a:solidFill>
                  <a:srgbClr val="55575A"/>
                </a:solidFill>
                <a:latin typeface="Manrope" pitchFamily="34" charset="0"/>
                <a:ea typeface="Manrope" pitchFamily="34" charset="-122"/>
                <a:cs typeface="Manrope" pitchFamily="34" charset="-120"/>
              </a:rPr>
              <a:t>Responsible for the cart's visual appeal, translating brand identity into a compelling and unique physical design.</a:t>
            </a:r>
            <a:endParaRPr lang="en-US" sz="1200"/>
          </a:p>
        </p:txBody>
      </p:sp>
      <p:pic>
        <p:nvPicPr>
          <p:cNvPr id="10" name="Image 2" descr="preencoded.png"/>
          <p:cNvPicPr>
            <a:picLocks noChangeAspect="1"/>
          </p:cNvPicPr>
          <p:nvPr/>
        </p:nvPicPr>
        <p:blipFill>
          <a:blip r:embed="rId5"/>
          <a:stretch>
            <a:fillRect/>
          </a:stretch>
        </p:blipFill>
        <p:spPr>
          <a:xfrm>
            <a:off x="8913689" y="1274366"/>
            <a:ext cx="1668222" cy="1668264"/>
          </a:xfrm>
          <a:prstGeom prst="rect">
            <a:avLst/>
          </a:prstGeom>
        </p:spPr>
      </p:pic>
      <p:sp>
        <p:nvSpPr>
          <p:cNvPr id="11" name="Text 6"/>
          <p:cNvSpPr/>
          <p:nvPr/>
        </p:nvSpPr>
        <p:spPr>
          <a:xfrm>
            <a:off x="7965479" y="3029942"/>
            <a:ext cx="3564741" cy="167878"/>
          </a:xfrm>
          <a:prstGeom prst="rect">
            <a:avLst/>
          </a:prstGeom>
          <a:noFill/>
          <a:ln/>
        </p:spPr>
        <p:txBody>
          <a:bodyPr wrap="none" lIns="0" tIns="0" rIns="0" bIns="0" rtlCol="0" anchor="t"/>
          <a:lstStyle/>
          <a:p>
            <a:pPr marL="0" indent="0" algn="ctr">
              <a:lnSpc>
                <a:spcPct val="104000"/>
              </a:lnSpc>
              <a:buNone/>
            </a:pPr>
            <a:r>
              <a:rPr lang="en-US" sz="1200" b="1">
                <a:solidFill>
                  <a:srgbClr val="55575A"/>
                </a:solidFill>
                <a:latin typeface="Inter" pitchFamily="34" charset="0"/>
                <a:ea typeface="Inter" pitchFamily="34" charset="-122"/>
                <a:cs typeface="Inter" pitchFamily="34" charset="-120"/>
              </a:rPr>
              <a:t>Raibim Alam</a:t>
            </a:r>
            <a:endParaRPr lang="en-US" sz="1200" b="1"/>
          </a:p>
        </p:txBody>
      </p:sp>
      <p:sp>
        <p:nvSpPr>
          <p:cNvPr id="12" name="Text 7"/>
          <p:cNvSpPr/>
          <p:nvPr/>
        </p:nvSpPr>
        <p:spPr>
          <a:xfrm>
            <a:off x="7965479" y="3239691"/>
            <a:ext cx="3564741" cy="467519"/>
          </a:xfrm>
          <a:prstGeom prst="rect">
            <a:avLst/>
          </a:prstGeom>
          <a:noFill/>
          <a:ln/>
        </p:spPr>
        <p:txBody>
          <a:bodyPr wrap="square" lIns="0" tIns="0" rIns="0" bIns="0" rtlCol="0" anchor="t"/>
          <a:lstStyle/>
          <a:p>
            <a:pPr marL="0" indent="0" algn="ctr">
              <a:lnSpc>
                <a:spcPct val="110000"/>
              </a:lnSpc>
              <a:spcAft>
                <a:spcPts val="300"/>
              </a:spcAft>
              <a:buNone/>
            </a:pPr>
            <a:r>
              <a:rPr lang="en-US" sz="1100" b="1">
                <a:solidFill>
                  <a:srgbClr val="55575A"/>
                </a:solidFill>
                <a:latin typeface="Manrope Bold" pitchFamily="34" charset="0"/>
                <a:ea typeface="Manrope Bold" pitchFamily="34" charset="-122"/>
                <a:cs typeface="Manrope Bold" pitchFamily="34" charset="-120"/>
              </a:rPr>
              <a:t>Lead Designer </a:t>
            </a:r>
            <a:endParaRPr lang="en-US" sz="1100"/>
          </a:p>
          <a:p>
            <a:pPr marL="0" indent="0" algn="ctr">
              <a:lnSpc>
                <a:spcPct val="110000"/>
              </a:lnSpc>
              <a:buNone/>
            </a:pPr>
            <a:r>
              <a:rPr lang="en-US" sz="1100">
                <a:solidFill>
                  <a:srgbClr val="55575A"/>
                </a:solidFill>
                <a:latin typeface="Manrope" pitchFamily="34" charset="0"/>
                <a:ea typeface="Manrope" pitchFamily="34" charset="-122"/>
                <a:cs typeface="Manrope" pitchFamily="34" charset="-120"/>
              </a:rPr>
              <a:t>Manages the construction process, turning conceptual designs into a robust and race-ready box cart.</a:t>
            </a:r>
            <a:endParaRPr lang="en-US" sz="1100"/>
          </a:p>
        </p:txBody>
      </p:sp>
      <p:pic>
        <p:nvPicPr>
          <p:cNvPr id="13" name="Image 3" descr="preencoded.png"/>
          <p:cNvPicPr>
            <a:picLocks noChangeAspect="1"/>
          </p:cNvPicPr>
          <p:nvPr/>
        </p:nvPicPr>
        <p:blipFill>
          <a:blip r:embed="rId6"/>
          <a:stretch>
            <a:fillRect/>
          </a:stretch>
        </p:blipFill>
        <p:spPr>
          <a:xfrm>
            <a:off x="2985721" y="3832519"/>
            <a:ext cx="1668222" cy="1668264"/>
          </a:xfrm>
          <a:prstGeom prst="rect">
            <a:avLst/>
          </a:prstGeom>
        </p:spPr>
      </p:pic>
      <p:sp>
        <p:nvSpPr>
          <p:cNvPr id="14" name="Text 8"/>
          <p:cNvSpPr/>
          <p:nvPr/>
        </p:nvSpPr>
        <p:spPr>
          <a:xfrm>
            <a:off x="2444200" y="5567561"/>
            <a:ext cx="2817437" cy="167878"/>
          </a:xfrm>
          <a:prstGeom prst="rect">
            <a:avLst/>
          </a:prstGeom>
          <a:noFill/>
          <a:ln/>
        </p:spPr>
        <p:txBody>
          <a:bodyPr wrap="none" lIns="0" tIns="0" rIns="0" bIns="0" rtlCol="0" anchor="t"/>
          <a:lstStyle/>
          <a:p>
            <a:pPr marL="0" indent="0" algn="ctr">
              <a:lnSpc>
                <a:spcPct val="104000"/>
              </a:lnSpc>
              <a:buNone/>
            </a:pPr>
            <a:r>
              <a:rPr lang="en-US" sz="1050">
                <a:solidFill>
                  <a:srgbClr val="55575A"/>
                </a:solidFill>
                <a:latin typeface="Inter" pitchFamily="34" charset="0"/>
                <a:ea typeface="Inter" pitchFamily="34" charset="-122"/>
                <a:cs typeface="Inter" pitchFamily="34" charset="-120"/>
              </a:rPr>
              <a:t> </a:t>
            </a:r>
            <a:r>
              <a:rPr lang="en-US" sz="1200" b="1">
                <a:solidFill>
                  <a:srgbClr val="55575A"/>
                </a:solidFill>
                <a:latin typeface="Inter" pitchFamily="34" charset="0"/>
                <a:ea typeface="Inter" pitchFamily="34" charset="-122"/>
                <a:cs typeface="Inter" pitchFamily="34" charset="-120"/>
              </a:rPr>
              <a:t>Monde Jacobs  </a:t>
            </a:r>
            <a:endParaRPr lang="en-US" sz="1200" b="1"/>
          </a:p>
        </p:txBody>
      </p:sp>
      <p:sp>
        <p:nvSpPr>
          <p:cNvPr id="15" name="Text 9"/>
          <p:cNvSpPr/>
          <p:nvPr/>
        </p:nvSpPr>
        <p:spPr>
          <a:xfrm>
            <a:off x="2985720" y="5770283"/>
            <a:ext cx="1609139" cy="462338"/>
          </a:xfrm>
          <a:prstGeom prst="rect">
            <a:avLst/>
          </a:prstGeom>
          <a:noFill/>
          <a:ln/>
        </p:spPr>
        <p:txBody>
          <a:bodyPr wrap="square" lIns="0" tIns="0" rIns="0" bIns="0" rtlCol="0" anchor="t"/>
          <a:lstStyle/>
          <a:p>
            <a:pPr marL="0" indent="0" algn="ctr">
              <a:lnSpc>
                <a:spcPct val="110000"/>
              </a:lnSpc>
              <a:spcAft>
                <a:spcPts val="300"/>
              </a:spcAft>
              <a:buNone/>
            </a:pPr>
            <a:r>
              <a:rPr lang="en-US" sz="1100" b="1">
                <a:solidFill>
                  <a:srgbClr val="55575A"/>
                </a:solidFill>
                <a:latin typeface="Manrope Bold" pitchFamily="34" charset="0"/>
                <a:ea typeface="Manrope Bold" pitchFamily="34" charset="-122"/>
                <a:cs typeface="Manrope Bold" pitchFamily="34" charset="-120"/>
              </a:rPr>
              <a:t>Delivery man</a:t>
            </a:r>
            <a:endParaRPr lang="en-US" sz="1100"/>
          </a:p>
          <a:p>
            <a:pPr marL="0" indent="0" algn="ctr">
              <a:lnSpc>
                <a:spcPct val="110000"/>
              </a:lnSpc>
              <a:buNone/>
            </a:pPr>
            <a:r>
              <a:rPr lang="en-US" sz="1000">
                <a:solidFill>
                  <a:srgbClr val="55575A"/>
                </a:solidFill>
                <a:latin typeface="Manrope" pitchFamily="34" charset="0"/>
                <a:ea typeface="Manrope" pitchFamily="34" charset="-122"/>
                <a:cs typeface="Manrope" pitchFamily="34" charset="-120"/>
              </a:rPr>
              <a:t>Main driver for race day</a:t>
            </a:r>
            <a:endParaRPr lang="en-US" sz="1000"/>
          </a:p>
        </p:txBody>
      </p:sp>
      <p:pic>
        <p:nvPicPr>
          <p:cNvPr id="16" name="Image 4" descr="preencoded.png"/>
          <p:cNvPicPr>
            <a:picLocks noChangeAspect="1"/>
          </p:cNvPicPr>
          <p:nvPr/>
        </p:nvPicPr>
        <p:blipFill>
          <a:blip r:embed="rId7"/>
          <a:stretch>
            <a:fillRect/>
          </a:stretch>
        </p:blipFill>
        <p:spPr>
          <a:xfrm>
            <a:off x="7220639" y="3983236"/>
            <a:ext cx="1668222" cy="1668264"/>
          </a:xfrm>
          <a:prstGeom prst="rect">
            <a:avLst/>
          </a:prstGeom>
        </p:spPr>
      </p:pic>
      <p:sp>
        <p:nvSpPr>
          <p:cNvPr id="17" name="Text 10"/>
          <p:cNvSpPr/>
          <p:nvPr/>
        </p:nvSpPr>
        <p:spPr>
          <a:xfrm>
            <a:off x="5261637" y="5651500"/>
            <a:ext cx="5690615" cy="109141"/>
          </a:xfrm>
          <a:prstGeom prst="rect">
            <a:avLst/>
          </a:prstGeom>
          <a:noFill/>
          <a:ln/>
        </p:spPr>
        <p:txBody>
          <a:bodyPr wrap="none" lIns="0" tIns="0" rIns="0" bIns="0" rtlCol="0" anchor="t"/>
          <a:lstStyle/>
          <a:p>
            <a:pPr marL="0" indent="0" algn="ctr">
              <a:lnSpc>
                <a:spcPct val="104000"/>
              </a:lnSpc>
              <a:buNone/>
            </a:pPr>
            <a:r>
              <a:rPr lang="en-US" sz="1200" b="1">
                <a:solidFill>
                  <a:srgbClr val="55575A"/>
                </a:solidFill>
                <a:latin typeface="Inter" pitchFamily="34" charset="0"/>
                <a:ea typeface="Inter" pitchFamily="34" charset="-122"/>
                <a:cs typeface="Inter" pitchFamily="34" charset="-120"/>
              </a:rPr>
              <a:t>Nsuku Mareana</a:t>
            </a:r>
            <a:endParaRPr lang="en-US" sz="1200" b="1"/>
          </a:p>
        </p:txBody>
      </p:sp>
      <p:sp>
        <p:nvSpPr>
          <p:cNvPr id="18" name="Text 11"/>
          <p:cNvSpPr/>
          <p:nvPr/>
        </p:nvSpPr>
        <p:spPr>
          <a:xfrm>
            <a:off x="6737501" y="5812234"/>
            <a:ext cx="2724998" cy="467519"/>
          </a:xfrm>
          <a:prstGeom prst="rect">
            <a:avLst/>
          </a:prstGeom>
          <a:noFill/>
          <a:ln/>
        </p:spPr>
        <p:txBody>
          <a:bodyPr wrap="square" lIns="0" tIns="0" rIns="0" bIns="0" rtlCol="0" anchor="t"/>
          <a:lstStyle/>
          <a:p>
            <a:pPr marL="0" indent="0" algn="ctr">
              <a:lnSpc>
                <a:spcPct val="110000"/>
              </a:lnSpc>
              <a:spcAft>
                <a:spcPts val="300"/>
              </a:spcAft>
              <a:buNone/>
            </a:pPr>
            <a:r>
              <a:rPr lang="en-US" sz="1100" b="1">
                <a:solidFill>
                  <a:srgbClr val="55575A"/>
                </a:solidFill>
                <a:latin typeface="Manrope Bold" pitchFamily="34" charset="0"/>
                <a:ea typeface="Manrope Bold" pitchFamily="34" charset="-122"/>
                <a:cs typeface="Manrope Bold" pitchFamily="34" charset="-120"/>
              </a:rPr>
              <a:t>Mechanic </a:t>
            </a:r>
            <a:endParaRPr lang="en-US" sz="1100"/>
          </a:p>
          <a:p>
            <a:pPr marL="0" indent="0" algn="ctr">
              <a:lnSpc>
                <a:spcPct val="110000"/>
              </a:lnSpc>
              <a:buNone/>
            </a:pPr>
            <a:r>
              <a:rPr lang="en-US" sz="1000">
                <a:solidFill>
                  <a:srgbClr val="55575A"/>
                </a:solidFill>
                <a:latin typeface="Manrope" pitchFamily="34" charset="0"/>
                <a:ea typeface="Manrope" pitchFamily="34" charset="-122"/>
                <a:cs typeface="Manrope" pitchFamily="34" charset="-120"/>
              </a:rPr>
              <a:t>Optimizes the cart for speed and stability, applying principles of mechanical engineering and fluid dynamics.</a:t>
            </a:r>
            <a:endParaRPr lang="en-US"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1475" y="476448"/>
            <a:ext cx="869730" cy="251420"/>
          </a:xfrm>
          <a:prstGeom prst="roundRect">
            <a:avLst>
              <a:gd name="adj" fmla="val 47364"/>
            </a:avLst>
          </a:prstGeom>
          <a:noFill/>
          <a:ln w="6350">
            <a:solidFill>
              <a:srgbClr val="FF7047"/>
            </a:solidFill>
            <a:prstDash val="solid"/>
          </a:ln>
        </p:spPr>
        <p:txBody>
          <a:bodyPr/>
          <a:lstStyle/>
          <a:p>
            <a:endParaRPr lang="en-ZA"/>
          </a:p>
        </p:txBody>
      </p:sp>
      <p:sp>
        <p:nvSpPr>
          <p:cNvPr id="3" name="Text 1"/>
          <p:cNvSpPr/>
          <p:nvPr/>
        </p:nvSpPr>
        <p:spPr>
          <a:xfrm>
            <a:off x="760691" y="526058"/>
            <a:ext cx="1280882" cy="152202"/>
          </a:xfrm>
          <a:prstGeom prst="rect">
            <a:avLst/>
          </a:prstGeom>
          <a:noFill/>
          <a:ln/>
        </p:spPr>
        <p:txBody>
          <a:bodyPr wrap="none" lIns="0" tIns="0" rIns="0" bIns="0" rtlCol="0" anchor="t"/>
          <a:lstStyle/>
          <a:p>
            <a:pPr marL="0" indent="0" algn="l">
              <a:lnSpc>
                <a:spcPct val="96000"/>
              </a:lnSpc>
              <a:buNone/>
            </a:pPr>
            <a:r>
              <a:rPr lang="en-US" sz="1000">
                <a:solidFill>
                  <a:srgbClr val="FF7047"/>
                </a:solidFill>
                <a:latin typeface="Manrope" pitchFamily="34" charset="0"/>
                <a:ea typeface="Manrope" pitchFamily="34" charset="-122"/>
                <a:cs typeface="Manrope" pitchFamily="34" charset="-120"/>
              </a:rPr>
              <a:t>THE EVENT</a:t>
            </a:r>
            <a:endParaRPr lang="en-US" sz="1000"/>
          </a:p>
        </p:txBody>
      </p:sp>
      <p:sp>
        <p:nvSpPr>
          <p:cNvPr id="4" name="Text 2"/>
          <p:cNvSpPr/>
          <p:nvPr/>
        </p:nvSpPr>
        <p:spPr>
          <a:xfrm>
            <a:off x="661475" y="793948"/>
            <a:ext cx="10868745" cy="516731"/>
          </a:xfrm>
          <a:prstGeom prst="rect">
            <a:avLst/>
          </a:prstGeom>
          <a:noFill/>
          <a:ln/>
        </p:spPr>
        <p:txBody>
          <a:bodyPr wrap="none" lIns="0" tIns="0" rIns="0" bIns="0" rtlCol="0" anchor="t"/>
          <a:lstStyle/>
          <a:p>
            <a:pPr marL="0" indent="0" algn="l">
              <a:lnSpc>
                <a:spcPct val="104000"/>
              </a:lnSpc>
              <a:buNone/>
            </a:pPr>
            <a:r>
              <a:rPr lang="en-US" sz="3250">
                <a:solidFill>
                  <a:srgbClr val="0C0D0F"/>
                </a:solidFill>
                <a:latin typeface="Inter" pitchFamily="34" charset="0"/>
                <a:ea typeface="Inter" pitchFamily="34" charset="-122"/>
                <a:cs typeface="Inter" pitchFamily="34" charset="-120"/>
              </a:rPr>
              <a:t>About the Red Bull Box Cart Race</a:t>
            </a:r>
            <a:endParaRPr lang="en-US" sz="3250"/>
          </a:p>
        </p:txBody>
      </p:sp>
      <p:pic>
        <p:nvPicPr>
          <p:cNvPr id="5" name="Image 0" descr="preencoded.png"/>
          <p:cNvPicPr>
            <a:picLocks noChangeAspect="1"/>
          </p:cNvPicPr>
          <p:nvPr/>
        </p:nvPicPr>
        <p:blipFill>
          <a:blip r:embed="rId3"/>
          <a:stretch>
            <a:fillRect/>
          </a:stretch>
        </p:blipFill>
        <p:spPr>
          <a:xfrm>
            <a:off x="661475" y="1744762"/>
            <a:ext cx="3992661" cy="3106837"/>
          </a:xfrm>
          <a:prstGeom prst="rect">
            <a:avLst/>
          </a:prstGeom>
        </p:spPr>
      </p:pic>
      <p:sp>
        <p:nvSpPr>
          <p:cNvPr id="6" name="Text 3"/>
          <p:cNvSpPr/>
          <p:nvPr/>
        </p:nvSpPr>
        <p:spPr>
          <a:xfrm>
            <a:off x="5063899" y="1856085"/>
            <a:ext cx="6472572" cy="2464395"/>
          </a:xfrm>
          <a:prstGeom prst="rect">
            <a:avLst/>
          </a:prstGeom>
          <a:noFill/>
          <a:ln/>
        </p:spPr>
        <p:txBody>
          <a:bodyPr wrap="square" lIns="0" tIns="0" rIns="0" bIns="0" rtlCol="0" anchor="t">
            <a:normAutofit fontScale="92500"/>
          </a:bodyPr>
          <a:lstStyle/>
          <a:p>
            <a:pPr>
              <a:lnSpc>
                <a:spcPct val="133000"/>
              </a:lnSpc>
              <a:spcAft>
                <a:spcPts val="1150"/>
              </a:spcAft>
            </a:pPr>
            <a:r>
              <a:rPr lang="en-US" sz="1600">
                <a:solidFill>
                  <a:srgbClr val="55575A"/>
                </a:solidFill>
                <a:latin typeface="Manrope" pitchFamily="34" charset="0"/>
                <a:ea typeface="Manrope" pitchFamily="34" charset="-122"/>
                <a:cs typeface="Manrope" pitchFamily="34" charset="-120"/>
              </a:rPr>
              <a:t>The Red Bull Box Cart Race is an international spectacle — part engineering challenge, part performance art, part entertainment. Teams design and race gravity-powered carts down a steep urban course, judged on creativity, speed, and showmanship. Taking Place on the </a:t>
            </a:r>
            <a:r>
              <a:rPr lang="en-US" sz="1600" b="1">
                <a:solidFill>
                  <a:srgbClr val="55575A"/>
                </a:solidFill>
                <a:latin typeface="Manrope Bold" pitchFamily="34" charset="0"/>
                <a:ea typeface="Manrope Bold" pitchFamily="34" charset="-122"/>
                <a:cs typeface="Manrope Bold" pitchFamily="34" charset="-120"/>
              </a:rPr>
              <a:t>4th of October 2026 in Sandton, Johannesburg.  </a:t>
            </a:r>
            <a:r>
              <a:rPr lang="en-US" sz="1600">
                <a:solidFill>
                  <a:srgbClr val="55575A"/>
                </a:solidFill>
                <a:latin typeface="Manrope Bold" pitchFamily="34" charset="0"/>
                <a:ea typeface="Manrope Bold" pitchFamily="34" charset="-122"/>
                <a:cs typeface="Manrope Bold" pitchFamily="34" charset="-120"/>
              </a:rPr>
              <a:t>For more information: </a:t>
            </a:r>
            <a:r>
              <a:rPr lang="en-ZA" sz="1600">
                <a:hlinkClick r:id="rId4"/>
              </a:rPr>
              <a:t>Red Bull Box Cart Race 2026 - Joburg, South Africa | Event</a:t>
            </a:r>
            <a:endParaRPr lang="en-US" sz="1600"/>
          </a:p>
          <a:p>
            <a:pPr marL="0" indent="0" algn="l">
              <a:lnSpc>
                <a:spcPct val="133000"/>
              </a:lnSpc>
              <a:buNone/>
            </a:pPr>
            <a:r>
              <a:rPr lang="en-US" sz="1600">
                <a:solidFill>
                  <a:srgbClr val="55575A"/>
                </a:solidFill>
                <a:latin typeface="Manrope" pitchFamily="34" charset="0"/>
                <a:ea typeface="Manrope" pitchFamily="34" charset="-122"/>
                <a:cs typeface="Manrope" pitchFamily="34" charset="-120"/>
              </a:rPr>
              <a:t>Entry applications for the competition closed on the </a:t>
            </a:r>
            <a:r>
              <a:rPr lang="en-US" sz="1600" b="1">
                <a:solidFill>
                  <a:srgbClr val="55575A"/>
                </a:solidFill>
                <a:latin typeface="Manrope Bold" pitchFamily="34" charset="0"/>
                <a:ea typeface="Manrope Bold" pitchFamily="34" charset="-122"/>
                <a:cs typeface="Manrope Bold" pitchFamily="34" charset="-120"/>
              </a:rPr>
              <a:t>17th of July 2026.</a:t>
            </a:r>
            <a:endParaRPr lang="en-US" sz="1600"/>
          </a:p>
        </p:txBody>
      </p:sp>
      <p:sp>
        <p:nvSpPr>
          <p:cNvPr id="7" name="Text 4"/>
          <p:cNvSpPr/>
          <p:nvPr/>
        </p:nvSpPr>
        <p:spPr>
          <a:xfrm>
            <a:off x="5063899" y="4469309"/>
            <a:ext cx="7082156" cy="270966"/>
          </a:xfrm>
          <a:prstGeom prst="rect">
            <a:avLst/>
          </a:prstGeom>
          <a:noFill/>
          <a:ln/>
        </p:spPr>
        <p:txBody>
          <a:bodyPr wrap="none" lIns="0" tIns="0" rIns="0" bIns="0" rtlCol="0" anchor="t"/>
          <a:lstStyle/>
          <a:p>
            <a:pPr marL="0" indent="0" algn="l">
              <a:lnSpc>
                <a:spcPct val="133000"/>
              </a:lnSpc>
              <a:buNone/>
            </a:pPr>
            <a:r>
              <a:rPr lang="en-US" sz="1300">
                <a:solidFill>
                  <a:srgbClr val="55575A"/>
                </a:solidFill>
                <a:latin typeface="Manrope" pitchFamily="34" charset="0"/>
                <a:ea typeface="Manrope" pitchFamily="34" charset="-122"/>
                <a:cs typeface="Manrope" pitchFamily="34" charset="-120"/>
              </a:rPr>
              <a:t>Link: </a:t>
            </a:r>
            <a:r>
              <a:rPr lang="en-US" sz="1300" b="1" u="sng">
                <a:solidFill>
                  <a:srgbClr val="FF7047"/>
                </a:solidFill>
                <a:latin typeface="Manrope Bold" pitchFamily="34" charset="0"/>
                <a:ea typeface="Manrope Bold" pitchFamily="34" charset="-122"/>
                <a:cs typeface="Manrope Bold" pitchFamily="34" charset="-120"/>
                <a:hlinkClick r:id="rId5">
                  <a:extLst>
                    <a:ext uri="{A12FA001-AC4F-418D-AE19-62706E023703}">
                      <ahyp:hlinkClr xmlns:ahyp="http://schemas.microsoft.com/office/drawing/2018/hyperlinkcolor" val="tx"/>
                    </a:ext>
                  </a:extLst>
                </a:hlinkClick>
              </a:rPr>
              <a:t>(5) Hilarious Cart Racing! Red Bull Soapbox Race L.A. LIVE </a:t>
            </a:r>
            <a:r>
              <a:rPr lang="en-US" sz="1300">
                <a:solidFill>
                  <a:srgbClr val="000000"/>
                </a:solidFill>
                <a:latin typeface="Manrope" pitchFamily="34" charset="0"/>
                <a:ea typeface="Manrope" pitchFamily="34" charset="-122"/>
                <a:cs typeface="Manrope" pitchFamily="34" charset="-120"/>
              </a:rPr>
              <a:t>🇺🇸</a:t>
            </a:r>
            <a:r>
              <a:rPr lang="en-US" sz="1300" b="1" u="sng">
                <a:solidFill>
                  <a:srgbClr val="FF7047"/>
                </a:solidFill>
                <a:latin typeface="Manrope Bold" pitchFamily="34" charset="0"/>
                <a:ea typeface="Manrope Bold" pitchFamily="34" charset="-122"/>
                <a:cs typeface="Manrope Bold" pitchFamily="34" charset="-120"/>
                <a:hlinkClick r:id="rId5">
                  <a:extLst>
                    <a:ext uri="{A12FA001-AC4F-418D-AE19-62706E023703}">
                      <ahyp:hlinkClr xmlns:ahyp="http://schemas.microsoft.com/office/drawing/2018/hyperlinkcolor" val="tx"/>
                    </a:ext>
                  </a:extLst>
                </a:hlinkClick>
              </a:rPr>
              <a:t> - YouTube</a:t>
            </a:r>
            <a:endParaRPr lang="en-US" sz="1300"/>
          </a:p>
        </p:txBody>
      </p:sp>
      <p:pic>
        <p:nvPicPr>
          <p:cNvPr id="8" name="Image 1"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3485" y="5228729"/>
            <a:ext cx="248041" cy="248047"/>
          </a:xfrm>
          <a:prstGeom prst="rect">
            <a:avLst/>
          </a:prstGeom>
        </p:spPr>
      </p:pic>
      <p:sp>
        <p:nvSpPr>
          <p:cNvPr id="9" name="Text 5"/>
          <p:cNvSpPr/>
          <p:nvPr/>
        </p:nvSpPr>
        <p:spPr>
          <a:xfrm>
            <a:off x="1198830" y="5223669"/>
            <a:ext cx="2947715" cy="264815"/>
          </a:xfrm>
          <a:prstGeom prst="rect">
            <a:avLst/>
          </a:prstGeom>
          <a:noFill/>
          <a:ln/>
        </p:spPr>
        <p:txBody>
          <a:bodyPr wrap="none" lIns="0" tIns="0" rIns="0" bIns="0" rtlCol="0" anchor="t"/>
          <a:lstStyle/>
          <a:p>
            <a:pPr marL="0" indent="0" algn="l">
              <a:lnSpc>
                <a:spcPct val="104000"/>
              </a:lnSpc>
              <a:buNone/>
            </a:pPr>
            <a:r>
              <a:rPr lang="en-US" sz="1600">
                <a:solidFill>
                  <a:srgbClr val="000000"/>
                </a:solidFill>
                <a:latin typeface="Inter" pitchFamily="34" charset="0"/>
                <a:ea typeface="Inter" pitchFamily="34" charset="-122"/>
                <a:cs typeface="Inter" pitchFamily="34" charset="-120"/>
              </a:rPr>
              <a:t>🌍</a:t>
            </a:r>
            <a:r>
              <a:rPr lang="en-US" sz="1600">
                <a:solidFill>
                  <a:srgbClr val="55575A"/>
                </a:solidFill>
                <a:latin typeface="Inter" pitchFamily="34" charset="0"/>
                <a:ea typeface="Inter" pitchFamily="34" charset="-122"/>
                <a:cs typeface="Inter" pitchFamily="34" charset="-120"/>
              </a:rPr>
              <a:t> Global Reach</a:t>
            </a:r>
            <a:endParaRPr lang="en-US" sz="1600"/>
          </a:p>
        </p:txBody>
      </p:sp>
      <p:sp>
        <p:nvSpPr>
          <p:cNvPr id="10" name="Text 6"/>
          <p:cNvSpPr/>
          <p:nvPr/>
        </p:nvSpPr>
        <p:spPr>
          <a:xfrm>
            <a:off x="1198830" y="5587702"/>
            <a:ext cx="2947715" cy="529233"/>
          </a:xfrm>
          <a:prstGeom prst="rect">
            <a:avLst/>
          </a:prstGeom>
          <a:noFill/>
          <a:ln/>
        </p:spPr>
        <p:txBody>
          <a:bodyPr wrap="square" lIns="0" tIns="0" rIns="0" bIns="0" rtlCol="0" anchor="t">
            <a:normAutofit/>
          </a:bodyPr>
          <a:lstStyle/>
          <a:p>
            <a:pPr marL="0" indent="0" algn="l">
              <a:lnSpc>
                <a:spcPct val="133000"/>
              </a:lnSpc>
              <a:buNone/>
            </a:pPr>
            <a:r>
              <a:rPr lang="en-US" sz="1300">
                <a:solidFill>
                  <a:srgbClr val="55575A"/>
                </a:solidFill>
                <a:latin typeface="Manrope" pitchFamily="34" charset="0"/>
                <a:ea typeface="Manrope" pitchFamily="34" charset="-122"/>
                <a:cs typeface="Manrope" pitchFamily="34" charset="-120"/>
              </a:rPr>
              <a:t>Red Bull's international platform with millions of viewers worldwide.</a:t>
            </a:r>
            <a:endParaRPr lang="en-US" sz="1300"/>
          </a:p>
        </p:txBody>
      </p:sp>
      <p:pic>
        <p:nvPicPr>
          <p:cNvPr id="11" name="Image 2"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415223" y="5228729"/>
            <a:ext cx="248041" cy="248047"/>
          </a:xfrm>
          <a:prstGeom prst="rect">
            <a:avLst/>
          </a:prstGeom>
        </p:spPr>
      </p:pic>
      <p:sp>
        <p:nvSpPr>
          <p:cNvPr id="12" name="Text 7"/>
          <p:cNvSpPr/>
          <p:nvPr/>
        </p:nvSpPr>
        <p:spPr>
          <a:xfrm>
            <a:off x="4890568" y="5223669"/>
            <a:ext cx="2947815" cy="264815"/>
          </a:xfrm>
          <a:prstGeom prst="rect">
            <a:avLst/>
          </a:prstGeom>
          <a:noFill/>
          <a:ln/>
        </p:spPr>
        <p:txBody>
          <a:bodyPr wrap="none" lIns="0" tIns="0" rIns="0" bIns="0" rtlCol="0" anchor="t"/>
          <a:lstStyle/>
          <a:p>
            <a:pPr marL="0" indent="0" algn="l">
              <a:lnSpc>
                <a:spcPct val="104000"/>
              </a:lnSpc>
              <a:buNone/>
            </a:pPr>
            <a:r>
              <a:rPr lang="en-US" sz="1600">
                <a:solidFill>
                  <a:srgbClr val="000000"/>
                </a:solidFill>
                <a:latin typeface="Inter" pitchFamily="34" charset="0"/>
                <a:ea typeface="Inter" pitchFamily="34" charset="-122"/>
                <a:cs typeface="Inter" pitchFamily="34" charset="-120"/>
              </a:rPr>
              <a:t>📸</a:t>
            </a:r>
            <a:r>
              <a:rPr lang="en-US" sz="1600">
                <a:solidFill>
                  <a:srgbClr val="55575A"/>
                </a:solidFill>
                <a:latin typeface="Inter" pitchFamily="34" charset="0"/>
                <a:ea typeface="Inter" pitchFamily="34" charset="-122"/>
                <a:cs typeface="Inter" pitchFamily="34" charset="-120"/>
              </a:rPr>
              <a:t> Massive Exposure</a:t>
            </a:r>
            <a:endParaRPr lang="en-US" sz="1600"/>
          </a:p>
        </p:txBody>
      </p:sp>
      <p:sp>
        <p:nvSpPr>
          <p:cNvPr id="13" name="Text 8"/>
          <p:cNvSpPr/>
          <p:nvPr/>
        </p:nvSpPr>
        <p:spPr>
          <a:xfrm>
            <a:off x="4890568" y="5587702"/>
            <a:ext cx="2947815" cy="793849"/>
          </a:xfrm>
          <a:prstGeom prst="rect">
            <a:avLst/>
          </a:prstGeom>
          <a:noFill/>
          <a:ln/>
        </p:spPr>
        <p:txBody>
          <a:bodyPr wrap="square" lIns="0" tIns="0" rIns="0" bIns="0" rtlCol="0" anchor="t">
            <a:normAutofit/>
          </a:bodyPr>
          <a:lstStyle/>
          <a:p>
            <a:pPr marL="0" indent="0" algn="l">
              <a:lnSpc>
                <a:spcPct val="133000"/>
              </a:lnSpc>
              <a:buNone/>
            </a:pPr>
            <a:r>
              <a:rPr lang="en-US" sz="1300">
                <a:solidFill>
                  <a:srgbClr val="55575A"/>
                </a:solidFill>
                <a:latin typeface="Manrope" pitchFamily="34" charset="0"/>
                <a:ea typeface="Manrope" pitchFamily="34" charset="-122"/>
                <a:cs typeface="Manrope" pitchFamily="34" charset="-120"/>
              </a:rPr>
              <a:t>Professional media coverage, social media virality, and a large live audience.</a:t>
            </a:r>
            <a:endParaRPr lang="en-US" sz="1300"/>
          </a:p>
        </p:txBody>
      </p:sp>
      <p:pic>
        <p:nvPicPr>
          <p:cNvPr id="1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107060" y="5228729"/>
            <a:ext cx="248041" cy="248047"/>
          </a:xfrm>
          <a:prstGeom prst="rect">
            <a:avLst/>
          </a:prstGeom>
        </p:spPr>
      </p:pic>
      <p:sp>
        <p:nvSpPr>
          <p:cNvPr id="15" name="Text 9"/>
          <p:cNvSpPr/>
          <p:nvPr/>
        </p:nvSpPr>
        <p:spPr>
          <a:xfrm>
            <a:off x="8582406" y="5223669"/>
            <a:ext cx="2947815" cy="264815"/>
          </a:xfrm>
          <a:prstGeom prst="rect">
            <a:avLst/>
          </a:prstGeom>
          <a:noFill/>
          <a:ln/>
        </p:spPr>
        <p:txBody>
          <a:bodyPr wrap="none" lIns="0" tIns="0" rIns="0" bIns="0" rtlCol="0" anchor="t"/>
          <a:lstStyle/>
          <a:p>
            <a:pPr marL="0" indent="0" algn="l">
              <a:lnSpc>
                <a:spcPct val="104000"/>
              </a:lnSpc>
              <a:buNone/>
            </a:pPr>
            <a:r>
              <a:rPr lang="en-US" sz="1600">
                <a:solidFill>
                  <a:srgbClr val="000000"/>
                </a:solidFill>
                <a:latin typeface="Inter" pitchFamily="34" charset="0"/>
                <a:ea typeface="Inter" pitchFamily="34" charset="-122"/>
                <a:cs typeface="Inter" pitchFamily="34" charset="-120"/>
              </a:rPr>
              <a:t>🔬</a:t>
            </a:r>
            <a:r>
              <a:rPr lang="en-US" sz="1600">
                <a:solidFill>
                  <a:srgbClr val="55575A"/>
                </a:solidFill>
                <a:latin typeface="Inter" pitchFamily="34" charset="0"/>
                <a:ea typeface="Inter" pitchFamily="34" charset="-122"/>
                <a:cs typeface="Inter" pitchFamily="34" charset="-120"/>
              </a:rPr>
              <a:t> Engineering + Creativity</a:t>
            </a:r>
            <a:endParaRPr lang="en-US" sz="1600"/>
          </a:p>
        </p:txBody>
      </p:sp>
      <p:sp>
        <p:nvSpPr>
          <p:cNvPr id="16" name="Text 10"/>
          <p:cNvSpPr/>
          <p:nvPr/>
        </p:nvSpPr>
        <p:spPr>
          <a:xfrm>
            <a:off x="8582406" y="5587702"/>
            <a:ext cx="2947815" cy="529233"/>
          </a:xfrm>
          <a:prstGeom prst="rect">
            <a:avLst/>
          </a:prstGeom>
          <a:noFill/>
          <a:ln/>
        </p:spPr>
        <p:txBody>
          <a:bodyPr wrap="square" lIns="0" tIns="0" rIns="0" bIns="0" rtlCol="0" anchor="t">
            <a:normAutofit/>
          </a:bodyPr>
          <a:lstStyle/>
          <a:p>
            <a:pPr marL="0" indent="0" algn="l">
              <a:lnSpc>
                <a:spcPct val="133000"/>
              </a:lnSpc>
              <a:buNone/>
            </a:pPr>
            <a:r>
              <a:rPr lang="en-US" sz="1300">
                <a:solidFill>
                  <a:srgbClr val="55575A"/>
                </a:solidFill>
                <a:latin typeface="Manrope" pitchFamily="34" charset="0"/>
                <a:ea typeface="Manrope" pitchFamily="34" charset="-122"/>
                <a:cs typeface="Manrope" pitchFamily="34" charset="-120"/>
              </a:rPr>
              <a:t>A unique blend of technical design and theatrical performance.</a:t>
            </a:r>
            <a:endParaRPr lang="en-US" sz="13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Shape 0"/>
          <p:cNvSpPr/>
          <p:nvPr/>
        </p:nvSpPr>
        <p:spPr>
          <a:xfrm>
            <a:off x="661475" y="545505"/>
            <a:ext cx="862785" cy="238820"/>
          </a:xfrm>
          <a:prstGeom prst="roundRect">
            <a:avLst>
              <a:gd name="adj" fmla="val 47369"/>
            </a:avLst>
          </a:prstGeom>
          <a:solidFill>
            <a:srgbClr val="FFD7CC"/>
          </a:solidFill>
          <a:ln/>
        </p:spPr>
        <p:txBody>
          <a:bodyPr/>
          <a:lstStyle/>
          <a:p>
            <a:endParaRPr lang="en-ZA"/>
          </a:p>
        </p:txBody>
      </p:sp>
      <p:sp>
        <p:nvSpPr>
          <p:cNvPr id="4" name="Text 1"/>
          <p:cNvSpPr/>
          <p:nvPr/>
        </p:nvSpPr>
        <p:spPr>
          <a:xfrm>
            <a:off x="755730" y="592634"/>
            <a:ext cx="1283859" cy="144562"/>
          </a:xfrm>
          <a:prstGeom prst="rect">
            <a:avLst/>
          </a:prstGeom>
          <a:noFill/>
          <a:ln/>
        </p:spPr>
        <p:txBody>
          <a:bodyPr wrap="none" lIns="0" tIns="0" rIns="0" bIns="0" rtlCol="0" anchor="t"/>
          <a:lstStyle/>
          <a:p>
            <a:pPr marL="0" indent="0" algn="l">
              <a:lnSpc>
                <a:spcPct val="96000"/>
              </a:lnSpc>
              <a:buNone/>
            </a:pPr>
            <a:r>
              <a:rPr lang="en-US" sz="950">
                <a:solidFill>
                  <a:srgbClr val="55575A"/>
                </a:solidFill>
                <a:latin typeface="Manrope" pitchFamily="34" charset="0"/>
                <a:ea typeface="Manrope" pitchFamily="34" charset="-122"/>
                <a:cs typeface="Manrope" pitchFamily="34" charset="-120"/>
              </a:rPr>
              <a:t>OUR STORY</a:t>
            </a:r>
            <a:endParaRPr lang="en-US" sz="950"/>
          </a:p>
        </p:txBody>
      </p:sp>
      <p:sp>
        <p:nvSpPr>
          <p:cNvPr id="5" name="Text 2"/>
          <p:cNvSpPr/>
          <p:nvPr/>
        </p:nvSpPr>
        <p:spPr>
          <a:xfrm>
            <a:off x="661475" y="843955"/>
            <a:ext cx="6296860" cy="490934"/>
          </a:xfrm>
          <a:prstGeom prst="rect">
            <a:avLst/>
          </a:prstGeom>
          <a:noFill/>
          <a:ln/>
        </p:spPr>
        <p:txBody>
          <a:bodyPr wrap="none" lIns="0" tIns="0" rIns="0" bIns="0" rtlCol="0" anchor="t"/>
          <a:lstStyle/>
          <a:p>
            <a:pPr marL="0" indent="0" algn="l">
              <a:lnSpc>
                <a:spcPct val="104000"/>
              </a:lnSpc>
              <a:buNone/>
            </a:pPr>
            <a:r>
              <a:rPr lang="en-US" sz="3050">
                <a:solidFill>
                  <a:srgbClr val="0C0D0F"/>
                </a:solidFill>
                <a:latin typeface="Inter" pitchFamily="34" charset="0"/>
                <a:ea typeface="Inter" pitchFamily="34" charset="-122"/>
                <a:cs typeface="Inter" pitchFamily="34" charset="-120"/>
              </a:rPr>
              <a:t>Why "Kwik Kwik Nawu Nawu"?</a:t>
            </a:r>
            <a:endParaRPr lang="en-US" sz="3050"/>
          </a:p>
        </p:txBody>
      </p:sp>
      <p:sp>
        <p:nvSpPr>
          <p:cNvPr id="6" name="Text 3"/>
          <p:cNvSpPr/>
          <p:nvPr/>
        </p:nvSpPr>
        <p:spPr>
          <a:xfrm>
            <a:off x="661475" y="1558727"/>
            <a:ext cx="6296860" cy="1471017"/>
          </a:xfrm>
          <a:prstGeom prst="rect">
            <a:avLst/>
          </a:prstGeom>
          <a:noFill/>
          <a:ln/>
        </p:spPr>
        <p:txBody>
          <a:bodyPr wrap="square" lIns="0" tIns="0" rIns="0" bIns="0" rtlCol="0" anchor="t">
            <a:normAutofit/>
          </a:bodyPr>
          <a:lstStyle/>
          <a:p>
            <a:pPr marL="0" indent="0" algn="l">
              <a:lnSpc>
                <a:spcPct val="130000"/>
              </a:lnSpc>
              <a:buNone/>
            </a:pPr>
            <a:r>
              <a:rPr lang="en-US" sz="1200">
                <a:solidFill>
                  <a:srgbClr val="55575A"/>
                </a:solidFill>
                <a:latin typeface="Manrope" pitchFamily="34" charset="0"/>
                <a:ea typeface="Manrope" pitchFamily="34" charset="-122"/>
                <a:cs typeface="Manrope" pitchFamily="34" charset="-120"/>
              </a:rPr>
              <a:t>The name</a:t>
            </a:r>
            <a:r>
              <a:rPr lang="en-US" sz="1200" b="1">
                <a:solidFill>
                  <a:srgbClr val="55575A"/>
                </a:solidFill>
                <a:latin typeface="Manrope Bold" pitchFamily="34" charset="0"/>
                <a:ea typeface="Manrope Bold" pitchFamily="34" charset="-122"/>
                <a:cs typeface="Manrope Bold" pitchFamily="34" charset="-120"/>
              </a:rPr>
              <a:t> "Kwik Kwik Nawu Nawu</a:t>
            </a:r>
            <a:r>
              <a:rPr lang="en-US" sz="1200">
                <a:solidFill>
                  <a:srgbClr val="55575A"/>
                </a:solidFill>
                <a:latin typeface="Manrope" pitchFamily="34" charset="0"/>
                <a:ea typeface="Manrope" pitchFamily="34" charset="-122"/>
                <a:cs typeface="Manrope" pitchFamily="34" charset="-120"/>
              </a:rPr>
              <a:t>" was born from a playful South African phrase that people often say when something's happening quickly, like, </a:t>
            </a:r>
            <a:r>
              <a:rPr lang="en-US" sz="1200" b="1">
                <a:solidFill>
                  <a:srgbClr val="55575A"/>
                </a:solidFill>
                <a:latin typeface="Manrope Bold" pitchFamily="34" charset="0"/>
                <a:ea typeface="Manrope Bold" pitchFamily="34" charset="-122"/>
                <a:cs typeface="Manrope Bold" pitchFamily="34" charset="-120"/>
              </a:rPr>
              <a:t>"I'll be back now now."</a:t>
            </a:r>
            <a:r>
              <a:rPr lang="en-US" sz="1200">
                <a:solidFill>
                  <a:srgbClr val="55575A"/>
                </a:solidFill>
                <a:latin typeface="Manrope" pitchFamily="34" charset="0"/>
                <a:ea typeface="Manrope" pitchFamily="34" charset="-122"/>
                <a:cs typeface="Manrope" pitchFamily="34" charset="-120"/>
              </a:rPr>
              <a:t> It captures the sense of speed and urgency in everyday life. For our team, it perfectly reflects the excitement of racing against the clock, whether in deliveries or in the Red Bull Box Car Race. It also carries a uniquely South African humour that makes the name both familiar and memorable..</a:t>
            </a:r>
            <a:endParaRPr lang="en-US" sz="120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3197622"/>
            <a:ext cx="6296860" cy="938808"/>
          </a:xfrm>
          <a:prstGeom prst="rect">
            <a:avLst/>
          </a:prstGeom>
        </p:spPr>
      </p:pic>
      <p:sp>
        <p:nvSpPr>
          <p:cNvPr id="8" name="Text 4"/>
          <p:cNvSpPr/>
          <p:nvPr/>
        </p:nvSpPr>
        <p:spPr>
          <a:xfrm>
            <a:off x="913782" y="3373735"/>
            <a:ext cx="5868444" cy="251916"/>
          </a:xfrm>
          <a:prstGeom prst="rect">
            <a:avLst/>
          </a:prstGeom>
          <a:noFill/>
          <a:ln/>
        </p:spPr>
        <p:txBody>
          <a:bodyPr wrap="none" lIns="0" tIns="0" rIns="0" bIns="0" rtlCol="0" anchor="t"/>
          <a:lstStyle/>
          <a:p>
            <a:pPr marL="0" indent="0" algn="l">
              <a:lnSpc>
                <a:spcPct val="104000"/>
              </a:lnSpc>
              <a:buNone/>
            </a:pPr>
            <a:r>
              <a:rPr lang="en-US" sz="1500">
                <a:solidFill>
                  <a:srgbClr val="000000"/>
                </a:solidFill>
                <a:latin typeface="Inter" pitchFamily="34" charset="0"/>
                <a:ea typeface="Inter" pitchFamily="34" charset="-122"/>
                <a:cs typeface="Inter" pitchFamily="34" charset="-120"/>
              </a:rPr>
              <a:t>⚡</a:t>
            </a:r>
            <a:r>
              <a:rPr lang="en-US" sz="1500">
                <a:solidFill>
                  <a:srgbClr val="55575A"/>
                </a:solidFill>
                <a:latin typeface="Inter" pitchFamily="34" charset="0"/>
                <a:ea typeface="Inter" pitchFamily="34" charset="-122"/>
                <a:cs typeface="Inter" pitchFamily="34" charset="-120"/>
              </a:rPr>
              <a:t> Speed</a:t>
            </a:r>
            <a:endParaRPr lang="en-US" sz="1500"/>
          </a:p>
        </p:txBody>
      </p:sp>
      <p:sp>
        <p:nvSpPr>
          <p:cNvPr id="9" name="Text 5"/>
          <p:cNvSpPr/>
          <p:nvPr/>
        </p:nvSpPr>
        <p:spPr>
          <a:xfrm>
            <a:off x="913782" y="3715147"/>
            <a:ext cx="5868444" cy="245170"/>
          </a:xfrm>
          <a:prstGeom prst="rect">
            <a:avLst/>
          </a:prstGeom>
          <a:noFill/>
          <a:ln/>
        </p:spPr>
        <p:txBody>
          <a:bodyPr wrap="none" lIns="0" tIns="0" rIns="0" bIns="0" rtlCol="0" anchor="t"/>
          <a:lstStyle/>
          <a:p>
            <a:pPr marL="0" indent="0" algn="l">
              <a:lnSpc>
                <a:spcPct val="130000"/>
              </a:lnSpc>
              <a:buNone/>
            </a:pPr>
            <a:r>
              <a:rPr lang="en-US" sz="1200">
                <a:solidFill>
                  <a:srgbClr val="55575A"/>
                </a:solidFill>
                <a:latin typeface="Manrope" pitchFamily="34" charset="0"/>
                <a:ea typeface="Manrope" pitchFamily="34" charset="-122"/>
                <a:cs typeface="Manrope" pitchFamily="34" charset="-120"/>
              </a:rPr>
              <a:t>Inspired by the fast-paced world of on-demand delivery.</a:t>
            </a:r>
            <a:endParaRPr lang="en-US" sz="120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4285655"/>
            <a:ext cx="6296860" cy="938808"/>
          </a:xfrm>
          <a:prstGeom prst="rect">
            <a:avLst/>
          </a:prstGeom>
        </p:spPr>
      </p:pic>
      <p:sp>
        <p:nvSpPr>
          <p:cNvPr id="11" name="Text 6"/>
          <p:cNvSpPr/>
          <p:nvPr/>
        </p:nvSpPr>
        <p:spPr>
          <a:xfrm>
            <a:off x="913782" y="4461768"/>
            <a:ext cx="5868444" cy="251916"/>
          </a:xfrm>
          <a:prstGeom prst="rect">
            <a:avLst/>
          </a:prstGeom>
          <a:noFill/>
          <a:ln/>
        </p:spPr>
        <p:txBody>
          <a:bodyPr wrap="none" lIns="0" tIns="0" rIns="0" bIns="0" rtlCol="0" anchor="t"/>
          <a:lstStyle/>
          <a:p>
            <a:pPr marL="0" indent="0" algn="l">
              <a:lnSpc>
                <a:spcPct val="104000"/>
              </a:lnSpc>
              <a:buNone/>
            </a:pPr>
            <a:r>
              <a:rPr lang="en-US" sz="1500">
                <a:solidFill>
                  <a:srgbClr val="000000"/>
                </a:solidFill>
                <a:latin typeface="Inter" pitchFamily="34" charset="0"/>
                <a:ea typeface="Inter" pitchFamily="34" charset="-122"/>
                <a:cs typeface="Inter" pitchFamily="34" charset="-120"/>
              </a:rPr>
              <a:t>😄</a:t>
            </a:r>
            <a:r>
              <a:rPr lang="en-US" sz="1500">
                <a:solidFill>
                  <a:srgbClr val="55575A"/>
                </a:solidFill>
                <a:latin typeface="Inter" pitchFamily="34" charset="0"/>
                <a:ea typeface="Inter" pitchFamily="34" charset="-122"/>
                <a:cs typeface="Inter" pitchFamily="34" charset="-120"/>
              </a:rPr>
              <a:t> Humor</a:t>
            </a:r>
            <a:endParaRPr lang="en-US" sz="1500"/>
          </a:p>
        </p:txBody>
      </p:sp>
      <p:sp>
        <p:nvSpPr>
          <p:cNvPr id="12" name="Text 7"/>
          <p:cNvSpPr/>
          <p:nvPr/>
        </p:nvSpPr>
        <p:spPr>
          <a:xfrm>
            <a:off x="913782" y="4803180"/>
            <a:ext cx="5868444" cy="245170"/>
          </a:xfrm>
          <a:prstGeom prst="rect">
            <a:avLst/>
          </a:prstGeom>
          <a:noFill/>
          <a:ln/>
        </p:spPr>
        <p:txBody>
          <a:bodyPr wrap="none" lIns="0" tIns="0" rIns="0" bIns="0" rtlCol="0" anchor="t"/>
          <a:lstStyle/>
          <a:p>
            <a:pPr marL="0" indent="0" algn="l">
              <a:lnSpc>
                <a:spcPct val="130000"/>
              </a:lnSpc>
              <a:buNone/>
            </a:pPr>
            <a:r>
              <a:rPr lang="en-US" sz="1200">
                <a:solidFill>
                  <a:srgbClr val="55575A"/>
                </a:solidFill>
                <a:latin typeface="Manrope" pitchFamily="34" charset="0"/>
                <a:ea typeface="Manrope" pitchFamily="34" charset="-122"/>
                <a:cs typeface="Manrope" pitchFamily="34" charset="-120"/>
              </a:rPr>
              <a:t>A distinctly South African phrase that audiences instantly recognize and love.</a:t>
            </a:r>
            <a:endParaRPr lang="en-US" sz="1200"/>
          </a:p>
        </p:txBody>
      </p:sp>
      <p:pic>
        <p:nvPicPr>
          <p:cNvPr id="13"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5373688"/>
            <a:ext cx="6296860" cy="938808"/>
          </a:xfrm>
          <a:prstGeom prst="rect">
            <a:avLst/>
          </a:prstGeom>
        </p:spPr>
      </p:pic>
      <p:sp>
        <p:nvSpPr>
          <p:cNvPr id="14" name="Text 8"/>
          <p:cNvSpPr/>
          <p:nvPr/>
        </p:nvSpPr>
        <p:spPr>
          <a:xfrm>
            <a:off x="913782" y="5549801"/>
            <a:ext cx="5868444" cy="251916"/>
          </a:xfrm>
          <a:prstGeom prst="rect">
            <a:avLst/>
          </a:prstGeom>
          <a:noFill/>
          <a:ln/>
        </p:spPr>
        <p:txBody>
          <a:bodyPr wrap="none" lIns="0" tIns="0" rIns="0" bIns="0" rtlCol="0" anchor="t"/>
          <a:lstStyle/>
          <a:p>
            <a:pPr marL="0" indent="0" algn="l">
              <a:lnSpc>
                <a:spcPct val="104000"/>
              </a:lnSpc>
              <a:buNone/>
            </a:pPr>
            <a:r>
              <a:rPr lang="en-US" sz="1500">
                <a:solidFill>
                  <a:srgbClr val="000000"/>
                </a:solidFill>
                <a:latin typeface="Inter" pitchFamily="34" charset="0"/>
                <a:ea typeface="Inter" pitchFamily="34" charset="-122"/>
                <a:cs typeface="Inter" pitchFamily="34" charset="-120"/>
              </a:rPr>
              <a:t>🏁</a:t>
            </a:r>
            <a:r>
              <a:rPr lang="en-US" sz="1500">
                <a:solidFill>
                  <a:srgbClr val="55575A"/>
                </a:solidFill>
                <a:latin typeface="Inter" pitchFamily="34" charset="0"/>
                <a:ea typeface="Inter" pitchFamily="34" charset="-122"/>
                <a:cs typeface="Inter" pitchFamily="34" charset="-120"/>
              </a:rPr>
              <a:t> Urgency</a:t>
            </a:r>
            <a:endParaRPr lang="en-US" sz="1500"/>
          </a:p>
        </p:txBody>
      </p:sp>
      <p:sp>
        <p:nvSpPr>
          <p:cNvPr id="15" name="Text 9"/>
          <p:cNvSpPr/>
          <p:nvPr/>
        </p:nvSpPr>
        <p:spPr>
          <a:xfrm>
            <a:off x="913782" y="5891213"/>
            <a:ext cx="5868444" cy="245170"/>
          </a:xfrm>
          <a:prstGeom prst="rect">
            <a:avLst/>
          </a:prstGeom>
          <a:noFill/>
          <a:ln/>
        </p:spPr>
        <p:txBody>
          <a:bodyPr wrap="none" lIns="0" tIns="0" rIns="0" bIns="0" rtlCol="0" anchor="t"/>
          <a:lstStyle/>
          <a:p>
            <a:pPr marL="0" indent="0" algn="l">
              <a:lnSpc>
                <a:spcPct val="130000"/>
              </a:lnSpc>
              <a:buNone/>
            </a:pPr>
            <a:r>
              <a:rPr lang="en-US" sz="1200">
                <a:solidFill>
                  <a:srgbClr val="55575A"/>
                </a:solidFill>
                <a:latin typeface="Manrope" pitchFamily="34" charset="0"/>
                <a:ea typeface="Manrope" pitchFamily="34" charset="-122"/>
                <a:cs typeface="Manrope" pitchFamily="34" charset="-120"/>
              </a:rPr>
              <a:t>The thrill of racing against time — both on the road and on the track.</a:t>
            </a:r>
            <a:endParaRPr lang="en-US" sz="1200"/>
          </a:p>
        </p:txBody>
      </p:sp>
      <p:pic>
        <p:nvPicPr>
          <p:cNvPr id="19" name="Picture 18">
            <a:extLst>
              <a:ext uri="{FF2B5EF4-FFF2-40B4-BE49-F238E27FC236}">
                <a16:creationId xmlns:a16="http://schemas.microsoft.com/office/drawing/2014/main" id="{939C3695-7468-1DA8-CCA3-393F0E5EAD24}"/>
              </a:ext>
            </a:extLst>
          </p:cNvPr>
          <p:cNvPicPr>
            <a:picLocks noChangeAspect="1"/>
          </p:cNvPicPr>
          <p:nvPr/>
        </p:nvPicPr>
        <p:blipFill>
          <a:blip r:embed="rId4"/>
          <a:srcRect l="51943" r="7173" b="56018"/>
          <a:stretch>
            <a:fillRect/>
          </a:stretch>
        </p:blipFill>
        <p:spPr>
          <a:xfrm>
            <a:off x="7210642" y="1796157"/>
            <a:ext cx="4846480" cy="374173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803672"/>
            <a:ext cx="1079374" cy="251420"/>
          </a:xfrm>
          <a:prstGeom prst="roundRect">
            <a:avLst>
              <a:gd name="adj" fmla="val 47364"/>
            </a:avLst>
          </a:prstGeom>
          <a:noFill/>
          <a:ln w="6350">
            <a:solidFill>
              <a:srgbClr val="FF7047"/>
            </a:solidFill>
            <a:prstDash val="solid"/>
          </a:ln>
        </p:spPr>
        <p:txBody>
          <a:bodyPr/>
          <a:lstStyle/>
          <a:p>
            <a:endParaRPr lang="en-ZA"/>
          </a:p>
        </p:txBody>
      </p:sp>
      <p:sp>
        <p:nvSpPr>
          <p:cNvPr id="3" name="Text 1"/>
          <p:cNvSpPr/>
          <p:nvPr/>
        </p:nvSpPr>
        <p:spPr>
          <a:xfrm>
            <a:off x="760691" y="853281"/>
            <a:ext cx="1490526" cy="152202"/>
          </a:xfrm>
          <a:prstGeom prst="rect">
            <a:avLst/>
          </a:prstGeom>
          <a:noFill/>
          <a:ln/>
        </p:spPr>
        <p:txBody>
          <a:bodyPr wrap="none" lIns="0" tIns="0" rIns="0" bIns="0" rtlCol="0" anchor="t"/>
          <a:lstStyle/>
          <a:p>
            <a:pPr marL="0" indent="0" algn="l">
              <a:lnSpc>
                <a:spcPct val="96000"/>
              </a:lnSpc>
              <a:buNone/>
            </a:pPr>
            <a:r>
              <a:rPr lang="en-US" sz="1000">
                <a:solidFill>
                  <a:srgbClr val="FF7047"/>
                </a:solidFill>
                <a:latin typeface="Manrope" pitchFamily="34" charset="0"/>
                <a:ea typeface="Manrope" pitchFamily="34" charset="-122"/>
                <a:cs typeface="Manrope" pitchFamily="34" charset="-120"/>
              </a:rPr>
              <a:t>THE CONCEPT</a:t>
            </a:r>
            <a:endParaRPr lang="en-US" sz="1000"/>
          </a:p>
        </p:txBody>
      </p:sp>
      <p:sp>
        <p:nvSpPr>
          <p:cNvPr id="4" name="Text 2"/>
          <p:cNvSpPr/>
          <p:nvPr/>
        </p:nvSpPr>
        <p:spPr>
          <a:xfrm>
            <a:off x="661475" y="1121172"/>
            <a:ext cx="10868745" cy="516731"/>
          </a:xfrm>
          <a:prstGeom prst="rect">
            <a:avLst/>
          </a:prstGeom>
          <a:noFill/>
          <a:ln/>
        </p:spPr>
        <p:txBody>
          <a:bodyPr wrap="none" lIns="0" tIns="0" rIns="0" bIns="0" rtlCol="0" anchor="t"/>
          <a:lstStyle/>
          <a:p>
            <a:pPr marL="0" indent="0" algn="l">
              <a:lnSpc>
                <a:spcPct val="104000"/>
              </a:lnSpc>
              <a:buNone/>
            </a:pPr>
            <a:r>
              <a:rPr lang="en-US" sz="3250">
                <a:solidFill>
                  <a:srgbClr val="0C0D0F"/>
                </a:solidFill>
                <a:latin typeface="Inter" pitchFamily="34" charset="0"/>
                <a:ea typeface="Inter" pitchFamily="34" charset="-122"/>
                <a:cs typeface="Inter" pitchFamily="34" charset="-120"/>
              </a:rPr>
              <a:t>The Fastest Grocery Delivery in South Africa</a:t>
            </a:r>
            <a:endParaRPr lang="en-US" sz="3250"/>
          </a:p>
        </p:txBody>
      </p:sp>
      <p:sp>
        <p:nvSpPr>
          <p:cNvPr id="5" name="Text 3"/>
          <p:cNvSpPr/>
          <p:nvPr/>
        </p:nvSpPr>
        <p:spPr>
          <a:xfrm>
            <a:off x="661475" y="1885950"/>
            <a:ext cx="11478330" cy="264616"/>
          </a:xfrm>
          <a:prstGeom prst="rect">
            <a:avLst/>
          </a:prstGeom>
          <a:noFill/>
          <a:ln/>
        </p:spPr>
        <p:txBody>
          <a:bodyPr wrap="none" lIns="0" tIns="0" rIns="0" bIns="0" rtlCol="0" anchor="t"/>
          <a:lstStyle/>
          <a:p>
            <a:pPr marL="0" indent="0" algn="l">
              <a:lnSpc>
                <a:spcPct val="133000"/>
              </a:lnSpc>
              <a:buNone/>
            </a:pPr>
            <a:r>
              <a:rPr lang="en-US" sz="1300">
                <a:solidFill>
                  <a:srgbClr val="55575A"/>
                </a:solidFill>
                <a:latin typeface="Manrope" pitchFamily="34" charset="0"/>
                <a:ea typeface="Manrope" pitchFamily="34" charset="-122"/>
                <a:cs typeface="Manrope" pitchFamily="34" charset="-120"/>
              </a:rPr>
              <a:t>Our cart tells a story — from order to doorstep, every second counts. Each race obstacle becomes a delivery challenge.</a:t>
            </a:r>
            <a:endParaRPr lang="en-US" sz="1300"/>
          </a:p>
        </p:txBody>
      </p:sp>
      <p:sp>
        <p:nvSpPr>
          <p:cNvPr id="6" name="Text 4"/>
          <p:cNvSpPr/>
          <p:nvPr/>
        </p:nvSpPr>
        <p:spPr>
          <a:xfrm>
            <a:off x="661475" y="2336602"/>
            <a:ext cx="330688" cy="206673"/>
          </a:xfrm>
          <a:prstGeom prst="rect">
            <a:avLst/>
          </a:prstGeom>
          <a:noFill/>
          <a:ln/>
        </p:spPr>
        <p:txBody>
          <a:bodyPr wrap="none" lIns="0" tIns="0" rIns="0" bIns="0" rtlCol="0" anchor="ctr"/>
          <a:lstStyle/>
          <a:p>
            <a:pPr marL="0" indent="0" algn="l">
              <a:lnSpc>
                <a:spcPct val="100000"/>
              </a:lnSpc>
              <a:buNone/>
            </a:pPr>
            <a:r>
              <a:rPr lang="en-US" sz="1300">
                <a:solidFill>
                  <a:srgbClr val="55575A"/>
                </a:solidFill>
                <a:latin typeface="Inter Light" pitchFamily="34" charset="0"/>
                <a:ea typeface="Inter Light" pitchFamily="34" charset="-122"/>
                <a:cs typeface="Inter Light" pitchFamily="34" charset="-120"/>
              </a:rPr>
              <a:t>01</a:t>
            </a:r>
            <a:endParaRPr lang="en-US" sz="1300"/>
          </a:p>
        </p:txBody>
      </p:sp>
      <p:sp>
        <p:nvSpPr>
          <p:cNvPr id="7" name="Shape 5"/>
          <p:cNvSpPr/>
          <p:nvPr/>
        </p:nvSpPr>
        <p:spPr>
          <a:xfrm>
            <a:off x="661475" y="2598539"/>
            <a:ext cx="5351725" cy="19050"/>
          </a:xfrm>
          <a:prstGeom prst="rect">
            <a:avLst/>
          </a:prstGeom>
          <a:solidFill>
            <a:srgbClr val="FF7047"/>
          </a:solidFill>
          <a:ln/>
        </p:spPr>
        <p:txBody>
          <a:bodyPr/>
          <a:lstStyle/>
          <a:p>
            <a:endParaRPr lang="en-ZA"/>
          </a:p>
        </p:txBody>
      </p:sp>
      <p:sp>
        <p:nvSpPr>
          <p:cNvPr id="8" name="Text 6"/>
          <p:cNvSpPr/>
          <p:nvPr/>
        </p:nvSpPr>
        <p:spPr>
          <a:xfrm>
            <a:off x="661475" y="2719288"/>
            <a:ext cx="5351725" cy="258465"/>
          </a:xfrm>
          <a:prstGeom prst="rect">
            <a:avLst/>
          </a:prstGeom>
          <a:noFill/>
          <a:ln/>
        </p:spPr>
        <p:txBody>
          <a:bodyPr wrap="none" lIns="0" tIns="0" rIns="0" bIns="0" rtlCol="0" anchor="t"/>
          <a:lstStyle/>
          <a:p>
            <a:pPr marL="0" indent="0" algn="l">
              <a:lnSpc>
                <a:spcPct val="104000"/>
              </a:lnSpc>
              <a:buNone/>
            </a:pPr>
            <a:r>
              <a:rPr lang="en-US" sz="1600">
                <a:solidFill>
                  <a:srgbClr val="55575A"/>
                </a:solidFill>
                <a:latin typeface="Inter" pitchFamily="34" charset="0"/>
                <a:ea typeface="Inter" pitchFamily="34" charset="-122"/>
                <a:cs typeface="Inter" pitchFamily="34" charset="-120"/>
              </a:rPr>
              <a:t>Order Placed</a:t>
            </a:r>
            <a:endParaRPr lang="en-US" sz="1600"/>
          </a:p>
        </p:txBody>
      </p:sp>
      <p:sp>
        <p:nvSpPr>
          <p:cNvPr id="9" name="Text 7"/>
          <p:cNvSpPr/>
          <p:nvPr/>
        </p:nvSpPr>
        <p:spPr>
          <a:xfrm>
            <a:off x="661475" y="3076972"/>
            <a:ext cx="5351725" cy="264616"/>
          </a:xfrm>
          <a:prstGeom prst="rect">
            <a:avLst/>
          </a:prstGeom>
          <a:noFill/>
          <a:ln/>
        </p:spPr>
        <p:txBody>
          <a:bodyPr wrap="none" lIns="0" tIns="0" rIns="0" bIns="0" rtlCol="0" anchor="t"/>
          <a:lstStyle/>
          <a:p>
            <a:pPr marL="0" indent="0" algn="l">
              <a:lnSpc>
                <a:spcPct val="133000"/>
              </a:lnSpc>
              <a:buNone/>
            </a:pPr>
            <a:r>
              <a:rPr lang="en-US" sz="1300">
                <a:solidFill>
                  <a:srgbClr val="55575A"/>
                </a:solidFill>
                <a:latin typeface="Manrope" pitchFamily="34" charset="0"/>
                <a:ea typeface="Manrope" pitchFamily="34" charset="-122"/>
                <a:cs typeface="Manrope" pitchFamily="34" charset="-120"/>
              </a:rPr>
              <a:t>Customer taps "Buy Now."</a:t>
            </a:r>
            <a:endParaRPr lang="en-US" sz="1300"/>
          </a:p>
        </p:txBody>
      </p:sp>
      <p:sp>
        <p:nvSpPr>
          <p:cNvPr id="10" name="Text 8"/>
          <p:cNvSpPr/>
          <p:nvPr/>
        </p:nvSpPr>
        <p:spPr>
          <a:xfrm>
            <a:off x="6178495" y="2336602"/>
            <a:ext cx="330688" cy="206673"/>
          </a:xfrm>
          <a:prstGeom prst="rect">
            <a:avLst/>
          </a:prstGeom>
          <a:noFill/>
          <a:ln/>
        </p:spPr>
        <p:txBody>
          <a:bodyPr wrap="none" lIns="0" tIns="0" rIns="0" bIns="0" rtlCol="0" anchor="ctr"/>
          <a:lstStyle/>
          <a:p>
            <a:pPr marL="0" indent="0" algn="l">
              <a:lnSpc>
                <a:spcPct val="100000"/>
              </a:lnSpc>
              <a:buNone/>
            </a:pPr>
            <a:r>
              <a:rPr lang="en-US" sz="1300">
                <a:solidFill>
                  <a:srgbClr val="55575A"/>
                </a:solidFill>
                <a:latin typeface="Inter Light" pitchFamily="34" charset="0"/>
                <a:ea typeface="Inter Light" pitchFamily="34" charset="-122"/>
                <a:cs typeface="Inter Light" pitchFamily="34" charset="-120"/>
              </a:rPr>
              <a:t>02</a:t>
            </a:r>
            <a:endParaRPr lang="en-US" sz="1300"/>
          </a:p>
        </p:txBody>
      </p:sp>
      <p:sp>
        <p:nvSpPr>
          <p:cNvPr id="11" name="Shape 9"/>
          <p:cNvSpPr/>
          <p:nvPr/>
        </p:nvSpPr>
        <p:spPr>
          <a:xfrm>
            <a:off x="6178495" y="2598539"/>
            <a:ext cx="5351725" cy="19050"/>
          </a:xfrm>
          <a:prstGeom prst="rect">
            <a:avLst/>
          </a:prstGeom>
          <a:solidFill>
            <a:srgbClr val="FF7047"/>
          </a:solidFill>
          <a:ln/>
        </p:spPr>
        <p:txBody>
          <a:bodyPr/>
          <a:lstStyle/>
          <a:p>
            <a:endParaRPr lang="en-ZA"/>
          </a:p>
        </p:txBody>
      </p:sp>
      <p:sp>
        <p:nvSpPr>
          <p:cNvPr id="12" name="Text 10"/>
          <p:cNvSpPr/>
          <p:nvPr/>
        </p:nvSpPr>
        <p:spPr>
          <a:xfrm>
            <a:off x="6178495" y="2719288"/>
            <a:ext cx="5351725" cy="258465"/>
          </a:xfrm>
          <a:prstGeom prst="rect">
            <a:avLst/>
          </a:prstGeom>
          <a:noFill/>
          <a:ln/>
        </p:spPr>
        <p:txBody>
          <a:bodyPr wrap="none" lIns="0" tIns="0" rIns="0" bIns="0" rtlCol="0" anchor="t"/>
          <a:lstStyle/>
          <a:p>
            <a:pPr marL="0" indent="0" algn="l">
              <a:lnSpc>
                <a:spcPct val="104000"/>
              </a:lnSpc>
              <a:buNone/>
            </a:pPr>
            <a:r>
              <a:rPr lang="en-US" sz="1600">
                <a:solidFill>
                  <a:srgbClr val="55575A"/>
                </a:solidFill>
                <a:latin typeface="Inter" pitchFamily="34" charset="0"/>
                <a:ea typeface="Inter" pitchFamily="34" charset="-122"/>
                <a:cs typeface="Inter" pitchFamily="34" charset="-120"/>
              </a:rPr>
              <a:t>Shop picks</a:t>
            </a:r>
            <a:endParaRPr lang="en-US" sz="1600"/>
          </a:p>
        </p:txBody>
      </p:sp>
      <p:sp>
        <p:nvSpPr>
          <p:cNvPr id="13" name="Text 11"/>
          <p:cNvSpPr/>
          <p:nvPr/>
        </p:nvSpPr>
        <p:spPr>
          <a:xfrm>
            <a:off x="6178495" y="3076972"/>
            <a:ext cx="5351725" cy="264616"/>
          </a:xfrm>
          <a:prstGeom prst="rect">
            <a:avLst/>
          </a:prstGeom>
          <a:noFill/>
          <a:ln/>
        </p:spPr>
        <p:txBody>
          <a:bodyPr wrap="none" lIns="0" tIns="0" rIns="0" bIns="0" rtlCol="0" anchor="t"/>
          <a:lstStyle/>
          <a:p>
            <a:pPr marL="0" indent="0" algn="l">
              <a:lnSpc>
                <a:spcPct val="133000"/>
              </a:lnSpc>
              <a:buNone/>
            </a:pPr>
            <a:r>
              <a:rPr lang="en-US" sz="1300">
                <a:solidFill>
                  <a:srgbClr val="55575A"/>
                </a:solidFill>
                <a:latin typeface="Manrope" pitchFamily="34" charset="0"/>
                <a:ea typeface="Manrope" pitchFamily="34" charset="-122"/>
                <a:cs typeface="Manrope" pitchFamily="34" charset="-120"/>
              </a:rPr>
              <a:t>Order pulled from shelves.</a:t>
            </a:r>
            <a:endParaRPr lang="en-US" sz="1300"/>
          </a:p>
        </p:txBody>
      </p:sp>
      <p:sp>
        <p:nvSpPr>
          <p:cNvPr id="14" name="Text 12"/>
          <p:cNvSpPr/>
          <p:nvPr/>
        </p:nvSpPr>
        <p:spPr>
          <a:xfrm>
            <a:off x="661475" y="3630910"/>
            <a:ext cx="330688" cy="206673"/>
          </a:xfrm>
          <a:prstGeom prst="rect">
            <a:avLst/>
          </a:prstGeom>
          <a:noFill/>
          <a:ln/>
        </p:spPr>
        <p:txBody>
          <a:bodyPr wrap="none" lIns="0" tIns="0" rIns="0" bIns="0" rtlCol="0" anchor="ctr"/>
          <a:lstStyle/>
          <a:p>
            <a:pPr marL="0" indent="0" algn="l">
              <a:lnSpc>
                <a:spcPct val="100000"/>
              </a:lnSpc>
              <a:buNone/>
            </a:pPr>
            <a:r>
              <a:rPr lang="en-US" sz="1300">
                <a:solidFill>
                  <a:srgbClr val="55575A"/>
                </a:solidFill>
                <a:latin typeface="Inter Light" pitchFamily="34" charset="0"/>
                <a:ea typeface="Inter Light" pitchFamily="34" charset="-122"/>
                <a:cs typeface="Inter Light" pitchFamily="34" charset="-120"/>
              </a:rPr>
              <a:t>03</a:t>
            </a:r>
            <a:endParaRPr lang="en-US" sz="1300"/>
          </a:p>
        </p:txBody>
      </p:sp>
      <p:sp>
        <p:nvSpPr>
          <p:cNvPr id="15" name="Shape 13"/>
          <p:cNvSpPr/>
          <p:nvPr/>
        </p:nvSpPr>
        <p:spPr>
          <a:xfrm>
            <a:off x="661475" y="3892848"/>
            <a:ext cx="5351725" cy="19050"/>
          </a:xfrm>
          <a:prstGeom prst="rect">
            <a:avLst/>
          </a:prstGeom>
          <a:solidFill>
            <a:srgbClr val="FF7047"/>
          </a:solidFill>
          <a:ln/>
        </p:spPr>
        <p:txBody>
          <a:bodyPr/>
          <a:lstStyle/>
          <a:p>
            <a:endParaRPr lang="en-ZA"/>
          </a:p>
        </p:txBody>
      </p:sp>
      <p:sp>
        <p:nvSpPr>
          <p:cNvPr id="16" name="Text 14"/>
          <p:cNvSpPr/>
          <p:nvPr/>
        </p:nvSpPr>
        <p:spPr>
          <a:xfrm>
            <a:off x="661475" y="4013597"/>
            <a:ext cx="5351725" cy="258465"/>
          </a:xfrm>
          <a:prstGeom prst="rect">
            <a:avLst/>
          </a:prstGeom>
          <a:noFill/>
          <a:ln/>
        </p:spPr>
        <p:txBody>
          <a:bodyPr wrap="none" lIns="0" tIns="0" rIns="0" bIns="0" rtlCol="0" anchor="t"/>
          <a:lstStyle/>
          <a:p>
            <a:pPr marL="0" indent="0" algn="l">
              <a:lnSpc>
                <a:spcPct val="104000"/>
              </a:lnSpc>
              <a:buNone/>
            </a:pPr>
            <a:r>
              <a:rPr lang="en-US" sz="1600">
                <a:solidFill>
                  <a:srgbClr val="55575A"/>
                </a:solidFill>
                <a:latin typeface="Inter" pitchFamily="34" charset="0"/>
                <a:ea typeface="Inter" pitchFamily="34" charset="-122"/>
                <a:cs typeface="Inter" pitchFamily="34" charset="-120"/>
              </a:rPr>
              <a:t>Pack &amp; Load</a:t>
            </a:r>
            <a:endParaRPr lang="en-US" sz="1600"/>
          </a:p>
        </p:txBody>
      </p:sp>
      <p:sp>
        <p:nvSpPr>
          <p:cNvPr id="17" name="Text 15"/>
          <p:cNvSpPr/>
          <p:nvPr/>
        </p:nvSpPr>
        <p:spPr>
          <a:xfrm>
            <a:off x="661475" y="4371280"/>
            <a:ext cx="5351725" cy="264616"/>
          </a:xfrm>
          <a:prstGeom prst="rect">
            <a:avLst/>
          </a:prstGeom>
          <a:noFill/>
          <a:ln/>
        </p:spPr>
        <p:txBody>
          <a:bodyPr wrap="none" lIns="0" tIns="0" rIns="0" bIns="0" rtlCol="0" anchor="t"/>
          <a:lstStyle/>
          <a:p>
            <a:pPr marL="0" indent="0" algn="l">
              <a:lnSpc>
                <a:spcPct val="133000"/>
              </a:lnSpc>
              <a:buNone/>
            </a:pPr>
            <a:r>
              <a:rPr lang="en-US" sz="1300">
                <a:solidFill>
                  <a:srgbClr val="55575A"/>
                </a:solidFill>
                <a:latin typeface="Manrope" pitchFamily="34" charset="0"/>
                <a:ea typeface="Manrope" pitchFamily="34" charset="-122"/>
                <a:cs typeface="Manrope" pitchFamily="34" charset="-120"/>
              </a:rPr>
              <a:t>Groceries boxed, cart loaded.</a:t>
            </a:r>
            <a:endParaRPr lang="en-US" sz="1300"/>
          </a:p>
        </p:txBody>
      </p:sp>
      <p:sp>
        <p:nvSpPr>
          <p:cNvPr id="18" name="Text 16"/>
          <p:cNvSpPr/>
          <p:nvPr/>
        </p:nvSpPr>
        <p:spPr>
          <a:xfrm>
            <a:off x="6178495" y="3630910"/>
            <a:ext cx="330688" cy="206673"/>
          </a:xfrm>
          <a:prstGeom prst="rect">
            <a:avLst/>
          </a:prstGeom>
          <a:noFill/>
          <a:ln/>
        </p:spPr>
        <p:txBody>
          <a:bodyPr wrap="none" lIns="0" tIns="0" rIns="0" bIns="0" rtlCol="0" anchor="ctr"/>
          <a:lstStyle/>
          <a:p>
            <a:pPr marL="0" indent="0" algn="l">
              <a:lnSpc>
                <a:spcPct val="100000"/>
              </a:lnSpc>
              <a:buNone/>
            </a:pPr>
            <a:r>
              <a:rPr lang="en-US" sz="1300">
                <a:solidFill>
                  <a:srgbClr val="55575A"/>
                </a:solidFill>
                <a:latin typeface="Inter Light" pitchFamily="34" charset="0"/>
                <a:ea typeface="Inter Light" pitchFamily="34" charset="-122"/>
                <a:cs typeface="Inter Light" pitchFamily="34" charset="-120"/>
              </a:rPr>
              <a:t>04</a:t>
            </a:r>
            <a:endParaRPr lang="en-US" sz="1300"/>
          </a:p>
        </p:txBody>
      </p:sp>
      <p:sp>
        <p:nvSpPr>
          <p:cNvPr id="19" name="Shape 17"/>
          <p:cNvSpPr/>
          <p:nvPr/>
        </p:nvSpPr>
        <p:spPr>
          <a:xfrm>
            <a:off x="6178495" y="3892848"/>
            <a:ext cx="5351725" cy="19050"/>
          </a:xfrm>
          <a:prstGeom prst="rect">
            <a:avLst/>
          </a:prstGeom>
          <a:solidFill>
            <a:srgbClr val="FF7047"/>
          </a:solidFill>
          <a:ln/>
        </p:spPr>
        <p:txBody>
          <a:bodyPr/>
          <a:lstStyle/>
          <a:p>
            <a:endParaRPr lang="en-ZA"/>
          </a:p>
        </p:txBody>
      </p:sp>
      <p:sp>
        <p:nvSpPr>
          <p:cNvPr id="20" name="Text 18"/>
          <p:cNvSpPr/>
          <p:nvPr/>
        </p:nvSpPr>
        <p:spPr>
          <a:xfrm>
            <a:off x="6178495" y="4013597"/>
            <a:ext cx="5351725" cy="258465"/>
          </a:xfrm>
          <a:prstGeom prst="rect">
            <a:avLst/>
          </a:prstGeom>
          <a:noFill/>
          <a:ln/>
        </p:spPr>
        <p:txBody>
          <a:bodyPr wrap="none" lIns="0" tIns="0" rIns="0" bIns="0" rtlCol="0" anchor="t"/>
          <a:lstStyle/>
          <a:p>
            <a:pPr marL="0" indent="0" algn="l">
              <a:lnSpc>
                <a:spcPct val="104000"/>
              </a:lnSpc>
              <a:buNone/>
            </a:pPr>
            <a:r>
              <a:rPr lang="en-US" sz="1600">
                <a:solidFill>
                  <a:srgbClr val="55575A"/>
                </a:solidFill>
                <a:latin typeface="Inter" pitchFamily="34" charset="0"/>
                <a:ea typeface="Inter" pitchFamily="34" charset="-122"/>
                <a:cs typeface="Inter" pitchFamily="34" charset="-120"/>
              </a:rPr>
              <a:t>Race Begins</a:t>
            </a:r>
            <a:endParaRPr lang="en-US" sz="1600"/>
          </a:p>
        </p:txBody>
      </p:sp>
      <p:sp>
        <p:nvSpPr>
          <p:cNvPr id="21" name="Text 19"/>
          <p:cNvSpPr/>
          <p:nvPr/>
        </p:nvSpPr>
        <p:spPr>
          <a:xfrm>
            <a:off x="6178495" y="4371280"/>
            <a:ext cx="5351725" cy="264616"/>
          </a:xfrm>
          <a:prstGeom prst="rect">
            <a:avLst/>
          </a:prstGeom>
          <a:noFill/>
          <a:ln/>
        </p:spPr>
        <p:txBody>
          <a:bodyPr wrap="none" lIns="0" tIns="0" rIns="0" bIns="0" rtlCol="0" anchor="t"/>
          <a:lstStyle/>
          <a:p>
            <a:pPr marL="0" indent="0" algn="l">
              <a:lnSpc>
                <a:spcPct val="133000"/>
              </a:lnSpc>
              <a:buNone/>
            </a:pPr>
            <a:r>
              <a:rPr lang="en-US" sz="1300">
                <a:solidFill>
                  <a:srgbClr val="55575A"/>
                </a:solidFill>
                <a:latin typeface="Manrope" pitchFamily="34" charset="0"/>
                <a:ea typeface="Manrope" pitchFamily="34" charset="-122"/>
                <a:cs typeface="Manrope" pitchFamily="34" charset="-120"/>
              </a:rPr>
              <a:t>Cart launches — traffic awaits.</a:t>
            </a:r>
            <a:endParaRPr lang="en-US" sz="1300"/>
          </a:p>
        </p:txBody>
      </p:sp>
      <p:sp>
        <p:nvSpPr>
          <p:cNvPr id="22" name="Text 20"/>
          <p:cNvSpPr/>
          <p:nvPr/>
        </p:nvSpPr>
        <p:spPr>
          <a:xfrm>
            <a:off x="661475" y="4925219"/>
            <a:ext cx="330688" cy="206673"/>
          </a:xfrm>
          <a:prstGeom prst="rect">
            <a:avLst/>
          </a:prstGeom>
          <a:noFill/>
          <a:ln/>
        </p:spPr>
        <p:txBody>
          <a:bodyPr wrap="none" lIns="0" tIns="0" rIns="0" bIns="0" rtlCol="0" anchor="ctr"/>
          <a:lstStyle/>
          <a:p>
            <a:pPr marL="0" indent="0" algn="l">
              <a:lnSpc>
                <a:spcPct val="100000"/>
              </a:lnSpc>
              <a:buNone/>
            </a:pPr>
            <a:r>
              <a:rPr lang="en-US" sz="1300">
                <a:solidFill>
                  <a:srgbClr val="55575A"/>
                </a:solidFill>
                <a:latin typeface="Inter Light" pitchFamily="34" charset="0"/>
                <a:ea typeface="Inter Light" pitchFamily="34" charset="-122"/>
                <a:cs typeface="Inter Light" pitchFamily="34" charset="-120"/>
              </a:rPr>
              <a:t>05</a:t>
            </a:r>
            <a:endParaRPr lang="en-US" sz="1300"/>
          </a:p>
        </p:txBody>
      </p:sp>
      <p:sp>
        <p:nvSpPr>
          <p:cNvPr id="23" name="Shape 21"/>
          <p:cNvSpPr/>
          <p:nvPr/>
        </p:nvSpPr>
        <p:spPr>
          <a:xfrm>
            <a:off x="661475" y="5187156"/>
            <a:ext cx="5351725" cy="19050"/>
          </a:xfrm>
          <a:prstGeom prst="rect">
            <a:avLst/>
          </a:prstGeom>
          <a:solidFill>
            <a:srgbClr val="FF7047"/>
          </a:solidFill>
          <a:ln/>
        </p:spPr>
        <p:txBody>
          <a:bodyPr/>
          <a:lstStyle/>
          <a:p>
            <a:endParaRPr lang="en-ZA"/>
          </a:p>
        </p:txBody>
      </p:sp>
      <p:sp>
        <p:nvSpPr>
          <p:cNvPr id="24" name="Text 22"/>
          <p:cNvSpPr/>
          <p:nvPr/>
        </p:nvSpPr>
        <p:spPr>
          <a:xfrm>
            <a:off x="661475" y="5307905"/>
            <a:ext cx="5351725" cy="258465"/>
          </a:xfrm>
          <a:prstGeom prst="rect">
            <a:avLst/>
          </a:prstGeom>
          <a:noFill/>
          <a:ln/>
        </p:spPr>
        <p:txBody>
          <a:bodyPr wrap="none" lIns="0" tIns="0" rIns="0" bIns="0" rtlCol="0" anchor="t"/>
          <a:lstStyle/>
          <a:p>
            <a:pPr marL="0" indent="0" algn="l">
              <a:lnSpc>
                <a:spcPct val="104000"/>
              </a:lnSpc>
              <a:buNone/>
            </a:pPr>
            <a:r>
              <a:rPr lang="en-US" sz="1600">
                <a:solidFill>
                  <a:srgbClr val="55575A"/>
                </a:solidFill>
                <a:latin typeface="Inter" pitchFamily="34" charset="0"/>
                <a:ea typeface="Inter" pitchFamily="34" charset="-122"/>
                <a:cs typeface="Inter" pitchFamily="34" charset="-120"/>
              </a:rPr>
              <a:t>Obstacles = Traffic</a:t>
            </a:r>
            <a:endParaRPr lang="en-US" sz="1600"/>
          </a:p>
        </p:txBody>
      </p:sp>
      <p:sp>
        <p:nvSpPr>
          <p:cNvPr id="25" name="Text 23"/>
          <p:cNvSpPr/>
          <p:nvPr/>
        </p:nvSpPr>
        <p:spPr>
          <a:xfrm>
            <a:off x="661475" y="5665589"/>
            <a:ext cx="5351725" cy="264616"/>
          </a:xfrm>
          <a:prstGeom prst="rect">
            <a:avLst/>
          </a:prstGeom>
          <a:noFill/>
          <a:ln/>
        </p:spPr>
        <p:txBody>
          <a:bodyPr wrap="none" lIns="0" tIns="0" rIns="0" bIns="0" rtlCol="0" anchor="t"/>
          <a:lstStyle/>
          <a:p>
            <a:pPr marL="0" indent="0" algn="l">
              <a:lnSpc>
                <a:spcPct val="133000"/>
              </a:lnSpc>
              <a:buNone/>
            </a:pPr>
            <a:r>
              <a:rPr lang="en-US" sz="1300">
                <a:solidFill>
                  <a:srgbClr val="55575A"/>
                </a:solidFill>
                <a:latin typeface="Manrope" pitchFamily="34" charset="0"/>
                <a:ea typeface="Manrope" pitchFamily="34" charset="-122"/>
                <a:cs typeface="Manrope" pitchFamily="34" charset="-120"/>
              </a:rPr>
              <a:t>Each hurdle is a delivery delay.</a:t>
            </a:r>
            <a:endParaRPr lang="en-US" sz="1300"/>
          </a:p>
        </p:txBody>
      </p:sp>
      <p:sp>
        <p:nvSpPr>
          <p:cNvPr id="26" name="Text 24"/>
          <p:cNvSpPr/>
          <p:nvPr/>
        </p:nvSpPr>
        <p:spPr>
          <a:xfrm>
            <a:off x="6178495" y="4925219"/>
            <a:ext cx="330688" cy="206673"/>
          </a:xfrm>
          <a:prstGeom prst="rect">
            <a:avLst/>
          </a:prstGeom>
          <a:noFill/>
          <a:ln/>
        </p:spPr>
        <p:txBody>
          <a:bodyPr wrap="none" lIns="0" tIns="0" rIns="0" bIns="0" rtlCol="0" anchor="ctr"/>
          <a:lstStyle/>
          <a:p>
            <a:pPr marL="0" indent="0" algn="l">
              <a:lnSpc>
                <a:spcPct val="100000"/>
              </a:lnSpc>
              <a:buNone/>
            </a:pPr>
            <a:r>
              <a:rPr lang="en-US" sz="1300">
                <a:solidFill>
                  <a:srgbClr val="55575A"/>
                </a:solidFill>
                <a:latin typeface="Inter Light" pitchFamily="34" charset="0"/>
                <a:ea typeface="Inter Light" pitchFamily="34" charset="-122"/>
                <a:cs typeface="Inter Light" pitchFamily="34" charset="-120"/>
              </a:rPr>
              <a:t>06</a:t>
            </a:r>
            <a:endParaRPr lang="en-US" sz="1300"/>
          </a:p>
        </p:txBody>
      </p:sp>
      <p:sp>
        <p:nvSpPr>
          <p:cNvPr id="27" name="Shape 25"/>
          <p:cNvSpPr/>
          <p:nvPr/>
        </p:nvSpPr>
        <p:spPr>
          <a:xfrm>
            <a:off x="6178495" y="5187156"/>
            <a:ext cx="5351725" cy="19050"/>
          </a:xfrm>
          <a:prstGeom prst="rect">
            <a:avLst/>
          </a:prstGeom>
          <a:solidFill>
            <a:srgbClr val="FF7047"/>
          </a:solidFill>
          <a:ln/>
        </p:spPr>
        <p:txBody>
          <a:bodyPr/>
          <a:lstStyle/>
          <a:p>
            <a:endParaRPr lang="en-ZA"/>
          </a:p>
        </p:txBody>
      </p:sp>
      <p:sp>
        <p:nvSpPr>
          <p:cNvPr id="28" name="Text 26"/>
          <p:cNvSpPr/>
          <p:nvPr/>
        </p:nvSpPr>
        <p:spPr>
          <a:xfrm>
            <a:off x="6178495" y="5307905"/>
            <a:ext cx="5351725" cy="258465"/>
          </a:xfrm>
          <a:prstGeom prst="rect">
            <a:avLst/>
          </a:prstGeom>
          <a:noFill/>
          <a:ln/>
        </p:spPr>
        <p:txBody>
          <a:bodyPr wrap="none" lIns="0" tIns="0" rIns="0" bIns="0" rtlCol="0" anchor="t"/>
          <a:lstStyle/>
          <a:p>
            <a:pPr marL="0" indent="0" algn="l">
              <a:lnSpc>
                <a:spcPct val="104000"/>
              </a:lnSpc>
              <a:buNone/>
            </a:pPr>
            <a:r>
              <a:rPr lang="en-US" sz="1600">
                <a:solidFill>
                  <a:srgbClr val="55575A"/>
                </a:solidFill>
                <a:latin typeface="Inter" pitchFamily="34" charset="0"/>
                <a:ea typeface="Inter" pitchFamily="34" charset="-122"/>
                <a:cs typeface="Inter" pitchFamily="34" charset="-120"/>
              </a:rPr>
              <a:t>Finish Line = Delivered</a:t>
            </a:r>
            <a:endParaRPr lang="en-US" sz="1600"/>
          </a:p>
        </p:txBody>
      </p:sp>
      <p:sp>
        <p:nvSpPr>
          <p:cNvPr id="29" name="Text 27"/>
          <p:cNvSpPr/>
          <p:nvPr/>
        </p:nvSpPr>
        <p:spPr>
          <a:xfrm>
            <a:off x="6178495" y="5665589"/>
            <a:ext cx="5351725" cy="264616"/>
          </a:xfrm>
          <a:prstGeom prst="rect">
            <a:avLst/>
          </a:prstGeom>
          <a:noFill/>
          <a:ln/>
        </p:spPr>
        <p:txBody>
          <a:bodyPr wrap="none" lIns="0" tIns="0" rIns="0" bIns="0" rtlCol="0" anchor="t"/>
          <a:lstStyle/>
          <a:p>
            <a:pPr marL="0" indent="0" algn="l">
              <a:lnSpc>
                <a:spcPct val="133000"/>
              </a:lnSpc>
              <a:buNone/>
            </a:pPr>
            <a:r>
              <a:rPr lang="en-US" sz="1300">
                <a:solidFill>
                  <a:srgbClr val="55575A"/>
                </a:solidFill>
                <a:latin typeface="Manrope" pitchFamily="34" charset="0"/>
                <a:ea typeface="Manrope" pitchFamily="34" charset="-122"/>
                <a:cs typeface="Manrope" pitchFamily="34" charset="-120"/>
              </a:rPr>
              <a:t>Order complete. Customer happy.</a:t>
            </a:r>
            <a:endParaRPr lang="en-US" sz="13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pic>
        <p:nvPicPr>
          <p:cNvPr id="3" name="Image 1" descr="preencoded.png"/>
          <p:cNvPicPr>
            <a:picLocks noChangeAspect="1"/>
          </p:cNvPicPr>
          <p:nvPr/>
        </p:nvPicPr>
        <p:blipFill>
          <a:blip r:embed="rId4"/>
          <a:stretch>
            <a:fillRect/>
          </a:stretch>
        </p:blipFill>
        <p:spPr>
          <a:xfrm>
            <a:off x="66078" y="2181027"/>
            <a:ext cx="4439630" cy="2495848"/>
          </a:xfrm>
          <a:prstGeom prst="rect">
            <a:avLst/>
          </a:prstGeom>
        </p:spPr>
      </p:pic>
      <p:sp>
        <p:nvSpPr>
          <p:cNvPr id="4" name="Shape 0"/>
          <p:cNvSpPr/>
          <p:nvPr/>
        </p:nvSpPr>
        <p:spPr>
          <a:xfrm>
            <a:off x="5233360" y="606425"/>
            <a:ext cx="1001886" cy="201116"/>
          </a:xfrm>
          <a:prstGeom prst="roundRect">
            <a:avLst>
              <a:gd name="adj" fmla="val 47368"/>
            </a:avLst>
          </a:prstGeom>
          <a:noFill/>
          <a:ln w="6350">
            <a:solidFill>
              <a:srgbClr val="FF7047"/>
            </a:solidFill>
            <a:prstDash val="solid"/>
          </a:ln>
        </p:spPr>
        <p:txBody>
          <a:bodyPr/>
          <a:lstStyle/>
          <a:p>
            <a:endParaRPr lang="en-ZA"/>
          </a:p>
        </p:txBody>
      </p:sp>
      <p:sp>
        <p:nvSpPr>
          <p:cNvPr id="5" name="Text 1"/>
          <p:cNvSpPr/>
          <p:nvPr/>
        </p:nvSpPr>
        <p:spPr>
          <a:xfrm>
            <a:off x="5312733" y="646113"/>
            <a:ext cx="1452725" cy="121741"/>
          </a:xfrm>
          <a:prstGeom prst="rect">
            <a:avLst/>
          </a:prstGeom>
          <a:noFill/>
          <a:ln/>
        </p:spPr>
        <p:txBody>
          <a:bodyPr wrap="none" lIns="0" tIns="0" rIns="0" bIns="0" rtlCol="0" anchor="t"/>
          <a:lstStyle/>
          <a:p>
            <a:pPr marL="0" indent="0" algn="l">
              <a:lnSpc>
                <a:spcPct val="96000"/>
              </a:lnSpc>
              <a:buNone/>
            </a:pPr>
            <a:r>
              <a:rPr lang="en-US" sz="800">
                <a:solidFill>
                  <a:srgbClr val="FF7047"/>
                </a:solidFill>
                <a:latin typeface="Manrope" pitchFamily="34" charset="0"/>
                <a:ea typeface="Manrope" pitchFamily="34" charset="-122"/>
                <a:cs typeface="Manrope" pitchFamily="34" charset="-120"/>
              </a:rPr>
              <a:t>PARTNERSHIP FIT</a:t>
            </a:r>
            <a:endParaRPr lang="en-US" sz="800"/>
          </a:p>
        </p:txBody>
      </p:sp>
      <p:sp>
        <p:nvSpPr>
          <p:cNvPr id="6" name="Text 2"/>
          <p:cNvSpPr/>
          <p:nvPr/>
        </p:nvSpPr>
        <p:spPr>
          <a:xfrm>
            <a:off x="5233360" y="849809"/>
            <a:ext cx="6296860" cy="413445"/>
          </a:xfrm>
          <a:prstGeom prst="rect">
            <a:avLst/>
          </a:prstGeom>
          <a:noFill/>
          <a:ln/>
        </p:spPr>
        <p:txBody>
          <a:bodyPr wrap="none" lIns="0" tIns="0" rIns="0" bIns="0" rtlCol="0" anchor="t"/>
          <a:lstStyle/>
          <a:p>
            <a:pPr marL="0" indent="0" algn="l">
              <a:lnSpc>
                <a:spcPct val="104000"/>
              </a:lnSpc>
              <a:buNone/>
            </a:pPr>
            <a:r>
              <a:rPr lang="en-US" sz="2600">
                <a:solidFill>
                  <a:srgbClr val="0C0D0F"/>
                </a:solidFill>
                <a:latin typeface="Inter" pitchFamily="34" charset="0"/>
                <a:ea typeface="Inter" pitchFamily="34" charset="-122"/>
                <a:cs typeface="Inter" pitchFamily="34" charset="-120"/>
              </a:rPr>
              <a:t>Why Pick N Pay asap!?</a:t>
            </a:r>
            <a:endParaRPr lang="en-US" sz="2600"/>
          </a:p>
        </p:txBody>
      </p:sp>
      <p:sp>
        <p:nvSpPr>
          <p:cNvPr id="7" name="Text 3"/>
          <p:cNvSpPr/>
          <p:nvPr/>
        </p:nvSpPr>
        <p:spPr>
          <a:xfrm>
            <a:off x="5233360" y="1422003"/>
            <a:ext cx="6296860" cy="381000"/>
          </a:xfrm>
          <a:prstGeom prst="rect">
            <a:avLst/>
          </a:prstGeom>
          <a:noFill/>
          <a:ln/>
        </p:spPr>
        <p:txBody>
          <a:bodyPr wrap="square" lIns="0" tIns="0" rIns="0" bIns="0" rtlCol="0" anchor="t">
            <a:normAutofit/>
          </a:bodyPr>
          <a:lstStyle/>
          <a:p>
            <a:pPr marL="0" indent="0" algn="l">
              <a:lnSpc>
                <a:spcPct val="120000"/>
              </a:lnSpc>
              <a:buNone/>
            </a:pPr>
            <a:r>
              <a:rPr lang="en-US" sz="1000">
                <a:solidFill>
                  <a:srgbClr val="55575A"/>
                </a:solidFill>
                <a:latin typeface="Manrope" pitchFamily="34" charset="0"/>
                <a:ea typeface="Manrope" pitchFamily="34" charset="-122"/>
                <a:cs typeface="Manrope" pitchFamily="34" charset="-120"/>
              </a:rPr>
              <a:t>Pick n Pay  isn't just a retailer — it's a </a:t>
            </a:r>
            <a:r>
              <a:rPr lang="en-US" sz="1000" b="1">
                <a:solidFill>
                  <a:srgbClr val="55575A"/>
                </a:solidFill>
                <a:latin typeface="Manrope Bold" pitchFamily="34" charset="0"/>
                <a:ea typeface="Manrope Bold" pitchFamily="34" charset="-122"/>
                <a:cs typeface="Manrope Bold" pitchFamily="34" charset="-120"/>
              </a:rPr>
              <a:t>national institution built on speed, innovation, and customer obsession</a:t>
            </a:r>
            <a:r>
              <a:rPr lang="en-US" sz="1000">
                <a:solidFill>
                  <a:srgbClr val="55575A"/>
                </a:solidFill>
                <a:latin typeface="Manrope" pitchFamily="34" charset="0"/>
                <a:ea typeface="Manrope" pitchFamily="34" charset="-122"/>
                <a:cs typeface="Manrope" pitchFamily="34" charset="-120"/>
              </a:rPr>
              <a:t>. These are the exact values that drive our team.</a:t>
            </a:r>
            <a:endParaRPr lang="en-US" sz="1000"/>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33360" y="1922066"/>
            <a:ext cx="330688" cy="330696"/>
          </a:xfrm>
          <a:prstGeom prst="rect">
            <a:avLst/>
          </a:prstGeom>
        </p:spPr>
      </p:pic>
      <p:sp>
        <p:nvSpPr>
          <p:cNvPr id="9" name="Text 4"/>
          <p:cNvSpPr/>
          <p:nvPr/>
        </p:nvSpPr>
        <p:spPr>
          <a:xfrm>
            <a:off x="5233360" y="2385020"/>
            <a:ext cx="6296860" cy="206673"/>
          </a:xfrm>
          <a:prstGeom prst="rect">
            <a:avLst/>
          </a:prstGeom>
          <a:noFill/>
          <a:ln/>
        </p:spPr>
        <p:txBody>
          <a:bodyPr wrap="none" lIns="0" tIns="0" rIns="0" bIns="0" rtlCol="0" anchor="t"/>
          <a:lstStyle/>
          <a:p>
            <a:pPr marL="0" indent="0" algn="l">
              <a:lnSpc>
                <a:spcPct val="104000"/>
              </a:lnSpc>
              <a:buNone/>
            </a:pPr>
            <a:r>
              <a:rPr lang="en-US" sz="1300">
                <a:solidFill>
                  <a:srgbClr val="55575A"/>
                </a:solidFill>
                <a:latin typeface="Inter" pitchFamily="34" charset="0"/>
                <a:ea typeface="Inter" pitchFamily="34" charset="-122"/>
                <a:cs typeface="Inter" pitchFamily="34" charset="-120"/>
              </a:rPr>
              <a:t>SA's Largest Retailer</a:t>
            </a:r>
            <a:endParaRPr lang="en-US" sz="1300"/>
          </a:p>
        </p:txBody>
      </p:sp>
      <p:sp>
        <p:nvSpPr>
          <p:cNvPr id="10" name="Text 5"/>
          <p:cNvSpPr/>
          <p:nvPr/>
        </p:nvSpPr>
        <p:spPr>
          <a:xfrm>
            <a:off x="5233360" y="2655193"/>
            <a:ext cx="6296860" cy="190500"/>
          </a:xfrm>
          <a:prstGeom prst="rect">
            <a:avLst/>
          </a:prstGeom>
          <a:noFill/>
          <a:ln/>
        </p:spPr>
        <p:txBody>
          <a:bodyPr wrap="none" lIns="0" tIns="0" rIns="0" bIns="0" rtlCol="0" anchor="t"/>
          <a:lstStyle/>
          <a:p>
            <a:pPr marL="0" indent="0" algn="l">
              <a:lnSpc>
                <a:spcPct val="120000"/>
              </a:lnSpc>
              <a:buNone/>
            </a:pPr>
            <a:r>
              <a:rPr lang="en-US" sz="1000">
                <a:solidFill>
                  <a:srgbClr val="55575A"/>
                </a:solidFill>
                <a:latin typeface="Manrope" pitchFamily="34" charset="0"/>
                <a:ea typeface="Manrope" pitchFamily="34" charset="-122"/>
                <a:cs typeface="Manrope" pitchFamily="34" charset="-120"/>
              </a:rPr>
              <a:t>Unmatched national brand recognition and customer trust.</a:t>
            </a:r>
            <a:endParaRPr lang="en-US" sz="1000"/>
          </a:p>
        </p:txBody>
      </p:sp>
      <p:pic>
        <p:nvPicPr>
          <p:cNvPr id="1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33360" y="3057327"/>
            <a:ext cx="330688" cy="330696"/>
          </a:xfrm>
          <a:prstGeom prst="rect">
            <a:avLst/>
          </a:prstGeom>
        </p:spPr>
      </p:pic>
      <p:sp>
        <p:nvSpPr>
          <p:cNvPr id="12" name="Text 6"/>
          <p:cNvSpPr/>
          <p:nvPr/>
        </p:nvSpPr>
        <p:spPr>
          <a:xfrm>
            <a:off x="5233360" y="3520281"/>
            <a:ext cx="6296860" cy="206673"/>
          </a:xfrm>
          <a:prstGeom prst="rect">
            <a:avLst/>
          </a:prstGeom>
          <a:noFill/>
          <a:ln/>
        </p:spPr>
        <p:txBody>
          <a:bodyPr wrap="none" lIns="0" tIns="0" rIns="0" bIns="0" rtlCol="0" anchor="t"/>
          <a:lstStyle/>
          <a:p>
            <a:pPr marL="0" indent="0" algn="l">
              <a:lnSpc>
                <a:spcPct val="104000"/>
              </a:lnSpc>
              <a:buNone/>
            </a:pPr>
            <a:r>
              <a:rPr lang="en-US" sz="1300">
                <a:solidFill>
                  <a:srgbClr val="55575A"/>
                </a:solidFill>
                <a:latin typeface="Inter" pitchFamily="34" charset="0"/>
                <a:ea typeface="Inter" pitchFamily="34" charset="-122"/>
                <a:cs typeface="Inter" pitchFamily="34" charset="-120"/>
              </a:rPr>
              <a:t>Innovation &amp; Technology</a:t>
            </a:r>
            <a:endParaRPr lang="en-US" sz="1300"/>
          </a:p>
        </p:txBody>
      </p:sp>
      <p:sp>
        <p:nvSpPr>
          <p:cNvPr id="13" name="Text 7"/>
          <p:cNvSpPr/>
          <p:nvPr/>
        </p:nvSpPr>
        <p:spPr>
          <a:xfrm>
            <a:off x="5233360" y="3790454"/>
            <a:ext cx="6296860" cy="190500"/>
          </a:xfrm>
          <a:prstGeom prst="rect">
            <a:avLst/>
          </a:prstGeom>
          <a:noFill/>
          <a:ln/>
        </p:spPr>
        <p:txBody>
          <a:bodyPr wrap="none" lIns="0" tIns="0" rIns="0" bIns="0" rtlCol="0" anchor="t"/>
          <a:lstStyle/>
          <a:p>
            <a:pPr marL="0" indent="0" algn="l">
              <a:lnSpc>
                <a:spcPct val="120000"/>
              </a:lnSpc>
              <a:buNone/>
            </a:pPr>
            <a:r>
              <a:rPr lang="en-US" sz="1000">
                <a:solidFill>
                  <a:srgbClr val="55575A"/>
                </a:solidFill>
                <a:latin typeface="Manrope" pitchFamily="34" charset="0"/>
                <a:ea typeface="Manrope" pitchFamily="34" charset="-122"/>
                <a:cs typeface="Manrope" pitchFamily="34" charset="-120"/>
              </a:rPr>
              <a:t>A brand that invests in tech-forward solutions — just like engineering students.</a:t>
            </a:r>
            <a:endParaRPr lang="en-US" sz="1000"/>
          </a:p>
        </p:txBody>
      </p:sp>
      <p:pic>
        <p:nvPicPr>
          <p:cNvPr id="14"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233360" y="4192588"/>
            <a:ext cx="330688" cy="330696"/>
          </a:xfrm>
          <a:prstGeom prst="rect">
            <a:avLst/>
          </a:prstGeom>
        </p:spPr>
      </p:pic>
      <p:sp>
        <p:nvSpPr>
          <p:cNvPr id="15" name="Text 8"/>
          <p:cNvSpPr/>
          <p:nvPr/>
        </p:nvSpPr>
        <p:spPr>
          <a:xfrm>
            <a:off x="5233360" y="4655542"/>
            <a:ext cx="6296860" cy="206673"/>
          </a:xfrm>
          <a:prstGeom prst="rect">
            <a:avLst/>
          </a:prstGeom>
          <a:noFill/>
          <a:ln/>
        </p:spPr>
        <p:txBody>
          <a:bodyPr wrap="none" lIns="0" tIns="0" rIns="0" bIns="0" rtlCol="0" anchor="t"/>
          <a:lstStyle/>
          <a:p>
            <a:pPr marL="0" indent="0" algn="l">
              <a:lnSpc>
                <a:spcPct val="104000"/>
              </a:lnSpc>
              <a:buNone/>
            </a:pPr>
            <a:r>
              <a:rPr lang="en-US" sz="1300">
                <a:solidFill>
                  <a:srgbClr val="55575A"/>
                </a:solidFill>
                <a:latin typeface="Inter" pitchFamily="34" charset="0"/>
                <a:ea typeface="Inter" pitchFamily="34" charset="-122"/>
                <a:cs typeface="Inter" pitchFamily="34" charset="-120"/>
              </a:rPr>
              <a:t>Fast Delivery Promise</a:t>
            </a:r>
            <a:endParaRPr lang="en-US" sz="1300"/>
          </a:p>
        </p:txBody>
      </p:sp>
      <p:sp>
        <p:nvSpPr>
          <p:cNvPr id="16" name="Text 9"/>
          <p:cNvSpPr/>
          <p:nvPr/>
        </p:nvSpPr>
        <p:spPr>
          <a:xfrm>
            <a:off x="5233360" y="4925715"/>
            <a:ext cx="6296860" cy="190500"/>
          </a:xfrm>
          <a:prstGeom prst="rect">
            <a:avLst/>
          </a:prstGeom>
          <a:noFill/>
          <a:ln/>
        </p:spPr>
        <p:txBody>
          <a:bodyPr wrap="none" lIns="0" tIns="0" rIns="0" bIns="0" rtlCol="0" anchor="t"/>
          <a:lstStyle/>
          <a:p>
            <a:pPr marL="0" indent="0" algn="l">
              <a:lnSpc>
                <a:spcPct val="120000"/>
              </a:lnSpc>
              <a:buNone/>
            </a:pPr>
            <a:r>
              <a:rPr lang="en-US" sz="1000">
                <a:solidFill>
                  <a:srgbClr val="55575A"/>
                </a:solidFill>
                <a:latin typeface="Manrope" pitchFamily="34" charset="0"/>
                <a:ea typeface="Manrope" pitchFamily="34" charset="-122"/>
                <a:cs typeface="Manrope" pitchFamily="34" charset="-120"/>
              </a:rPr>
              <a:t>Speed is your brand. Speed is our race. The alignment is perfect.</a:t>
            </a:r>
            <a:endParaRPr lang="en-US" sz="1000"/>
          </a:p>
        </p:txBody>
      </p:sp>
      <p:pic>
        <p:nvPicPr>
          <p:cNvPr id="17"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233360" y="5327848"/>
            <a:ext cx="330688" cy="330696"/>
          </a:xfrm>
          <a:prstGeom prst="rect">
            <a:avLst/>
          </a:prstGeom>
        </p:spPr>
      </p:pic>
      <p:sp>
        <p:nvSpPr>
          <p:cNvPr id="18" name="Text 10"/>
          <p:cNvSpPr/>
          <p:nvPr/>
        </p:nvSpPr>
        <p:spPr>
          <a:xfrm>
            <a:off x="5233360" y="5790803"/>
            <a:ext cx="6296860" cy="206673"/>
          </a:xfrm>
          <a:prstGeom prst="rect">
            <a:avLst/>
          </a:prstGeom>
          <a:noFill/>
          <a:ln/>
        </p:spPr>
        <p:txBody>
          <a:bodyPr wrap="none" lIns="0" tIns="0" rIns="0" bIns="0" rtlCol="0" anchor="t"/>
          <a:lstStyle/>
          <a:p>
            <a:pPr marL="0" indent="0" algn="l">
              <a:lnSpc>
                <a:spcPct val="104000"/>
              </a:lnSpc>
              <a:buNone/>
            </a:pPr>
            <a:r>
              <a:rPr lang="en-US" sz="1300">
                <a:solidFill>
                  <a:srgbClr val="55575A"/>
                </a:solidFill>
                <a:latin typeface="Inter" pitchFamily="34" charset="0"/>
                <a:ea typeface="Inter" pitchFamily="34" charset="-122"/>
                <a:cs typeface="Inter" pitchFamily="34" charset="-120"/>
              </a:rPr>
              <a:t>National Reach</a:t>
            </a:r>
            <a:endParaRPr lang="en-US" sz="1300"/>
          </a:p>
        </p:txBody>
      </p:sp>
      <p:sp>
        <p:nvSpPr>
          <p:cNvPr id="19" name="Text 11"/>
          <p:cNvSpPr/>
          <p:nvPr/>
        </p:nvSpPr>
        <p:spPr>
          <a:xfrm>
            <a:off x="5233360" y="6060976"/>
            <a:ext cx="6296860" cy="190500"/>
          </a:xfrm>
          <a:prstGeom prst="rect">
            <a:avLst/>
          </a:prstGeom>
          <a:noFill/>
          <a:ln/>
        </p:spPr>
        <p:txBody>
          <a:bodyPr wrap="none" lIns="0" tIns="0" rIns="0" bIns="0" rtlCol="0" anchor="t"/>
          <a:lstStyle/>
          <a:p>
            <a:pPr marL="0" indent="0" algn="l">
              <a:lnSpc>
                <a:spcPct val="120000"/>
              </a:lnSpc>
              <a:buNone/>
            </a:pPr>
            <a:r>
              <a:rPr lang="en-US" sz="1000">
                <a:solidFill>
                  <a:srgbClr val="55575A"/>
                </a:solidFill>
                <a:latin typeface="Manrope" pitchFamily="34" charset="0"/>
                <a:ea typeface="Manrope" pitchFamily="34" charset="-122"/>
                <a:cs typeface="Manrope" pitchFamily="34" charset="-120"/>
              </a:rPr>
              <a:t>From Cape Town to Johannesburg — Pick n Pay is everywhere South Africans are.</a:t>
            </a:r>
            <a:endParaRPr lang="en-US" sz="1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61475" y="530920"/>
            <a:ext cx="524160" cy="201116"/>
          </a:xfrm>
          <a:prstGeom prst="roundRect">
            <a:avLst>
              <a:gd name="adj" fmla="val 47368"/>
            </a:avLst>
          </a:prstGeom>
          <a:noFill/>
          <a:ln w="6350">
            <a:solidFill>
              <a:srgbClr val="FF7047"/>
            </a:solidFill>
            <a:prstDash val="solid"/>
          </a:ln>
        </p:spPr>
        <p:txBody>
          <a:bodyPr/>
          <a:lstStyle/>
          <a:p>
            <a:endParaRPr lang="en-ZA"/>
          </a:p>
        </p:txBody>
      </p:sp>
      <p:sp>
        <p:nvSpPr>
          <p:cNvPr id="3" name="Text 1"/>
          <p:cNvSpPr/>
          <p:nvPr/>
        </p:nvSpPr>
        <p:spPr>
          <a:xfrm>
            <a:off x="740848" y="570607"/>
            <a:ext cx="974998" cy="121741"/>
          </a:xfrm>
          <a:prstGeom prst="rect">
            <a:avLst/>
          </a:prstGeom>
          <a:noFill/>
          <a:ln/>
        </p:spPr>
        <p:txBody>
          <a:bodyPr wrap="none" lIns="0" tIns="0" rIns="0" bIns="0" rtlCol="0" anchor="t"/>
          <a:lstStyle/>
          <a:p>
            <a:pPr marL="0" indent="0" algn="l">
              <a:lnSpc>
                <a:spcPct val="96000"/>
              </a:lnSpc>
              <a:buNone/>
            </a:pPr>
            <a:r>
              <a:rPr lang="en-US" sz="800">
                <a:solidFill>
                  <a:srgbClr val="FF7047"/>
                </a:solidFill>
                <a:latin typeface="Manrope" pitchFamily="34" charset="0"/>
                <a:ea typeface="Manrope" pitchFamily="34" charset="-122"/>
                <a:cs typeface="Manrope" pitchFamily="34" charset="-120"/>
              </a:rPr>
              <a:t>DESIGN</a:t>
            </a:r>
            <a:endParaRPr lang="en-US" sz="800"/>
          </a:p>
        </p:txBody>
      </p:sp>
      <p:sp>
        <p:nvSpPr>
          <p:cNvPr id="4" name="Text 2"/>
          <p:cNvSpPr/>
          <p:nvPr/>
        </p:nvSpPr>
        <p:spPr>
          <a:xfrm>
            <a:off x="661475" y="774303"/>
            <a:ext cx="10868745" cy="413445"/>
          </a:xfrm>
          <a:prstGeom prst="rect">
            <a:avLst/>
          </a:prstGeom>
          <a:noFill/>
          <a:ln/>
        </p:spPr>
        <p:txBody>
          <a:bodyPr wrap="none" lIns="0" tIns="0" rIns="0" bIns="0" rtlCol="0" anchor="t"/>
          <a:lstStyle/>
          <a:p>
            <a:pPr marL="0" indent="0" algn="l">
              <a:lnSpc>
                <a:spcPct val="104000"/>
              </a:lnSpc>
              <a:buNone/>
            </a:pPr>
            <a:r>
              <a:rPr lang="en-US" sz="2600" b="1">
                <a:solidFill>
                  <a:srgbClr val="0C0D0F"/>
                </a:solidFill>
                <a:latin typeface="Inter" pitchFamily="34" charset="0"/>
                <a:ea typeface="Inter" pitchFamily="34" charset="-122"/>
                <a:cs typeface="Inter" pitchFamily="34" charset="-120"/>
              </a:rPr>
              <a:t>The Cart: Engineering Meets Brand Story</a:t>
            </a:r>
          </a:p>
          <a:p>
            <a:pPr marL="0" indent="0" algn="l">
              <a:lnSpc>
                <a:spcPct val="104000"/>
              </a:lnSpc>
              <a:buNone/>
            </a:pPr>
            <a:r>
              <a:rPr lang="en-US" sz="2600" b="1"/>
              <a:t>Proposed  Cart Design </a:t>
            </a:r>
          </a:p>
        </p:txBody>
      </p:sp>
      <p:sp>
        <p:nvSpPr>
          <p:cNvPr id="7" name="Text 3"/>
          <p:cNvSpPr/>
          <p:nvPr/>
        </p:nvSpPr>
        <p:spPr>
          <a:xfrm>
            <a:off x="6039691" y="4479032"/>
            <a:ext cx="6106364" cy="190500"/>
          </a:xfrm>
          <a:prstGeom prst="rect">
            <a:avLst/>
          </a:prstGeom>
          <a:noFill/>
          <a:ln/>
        </p:spPr>
        <p:txBody>
          <a:bodyPr wrap="none" lIns="0" tIns="0" rIns="0" bIns="0" rtlCol="0" anchor="t"/>
          <a:lstStyle/>
          <a:p>
            <a:pPr marL="0" indent="0" algn="l">
              <a:lnSpc>
                <a:spcPct val="120000"/>
              </a:lnSpc>
              <a:buNone/>
            </a:pPr>
            <a:endParaRPr lang="en-US" sz="1000"/>
          </a:p>
        </p:txBody>
      </p:sp>
      <p:sp>
        <p:nvSpPr>
          <p:cNvPr id="8" name="Text 4"/>
          <p:cNvSpPr/>
          <p:nvPr/>
        </p:nvSpPr>
        <p:spPr>
          <a:xfrm>
            <a:off x="661475" y="4883845"/>
            <a:ext cx="11478330" cy="190500"/>
          </a:xfrm>
          <a:prstGeom prst="rect">
            <a:avLst/>
          </a:prstGeom>
          <a:noFill/>
          <a:ln/>
        </p:spPr>
        <p:txBody>
          <a:bodyPr wrap="none" lIns="0" tIns="0" rIns="0" bIns="0" rtlCol="0" anchor="t"/>
          <a:lstStyle/>
          <a:p>
            <a:pPr marL="0" indent="0" algn="l">
              <a:lnSpc>
                <a:spcPct val="120000"/>
              </a:lnSpc>
              <a:buNone/>
            </a:pPr>
            <a:endParaRPr lang="en-US" sz="1000"/>
          </a:p>
        </p:txBody>
      </p:sp>
      <p:pic>
        <p:nvPicPr>
          <p:cNvPr id="22" name="Picture 21">
            <a:extLst>
              <a:ext uri="{FF2B5EF4-FFF2-40B4-BE49-F238E27FC236}">
                <a16:creationId xmlns:a16="http://schemas.microsoft.com/office/drawing/2014/main" id="{05060623-250D-65D4-F9B0-3968E6D1594B}"/>
              </a:ext>
            </a:extLst>
          </p:cNvPr>
          <p:cNvPicPr>
            <a:picLocks noChangeAspect="1"/>
          </p:cNvPicPr>
          <p:nvPr/>
        </p:nvPicPr>
        <p:blipFill>
          <a:blip r:embed="rId3"/>
          <a:stretch>
            <a:fillRect/>
          </a:stretch>
        </p:blipFill>
        <p:spPr>
          <a:xfrm>
            <a:off x="1797977" y="1637163"/>
            <a:ext cx="7469313" cy="46725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E50ED6A-DF76-6AF7-614A-5B67F3E3485F}"/>
              </a:ext>
            </a:extLst>
          </p:cNvPr>
          <p:cNvSpPr txBox="1"/>
          <p:nvPr/>
        </p:nvSpPr>
        <p:spPr>
          <a:xfrm>
            <a:off x="606175" y="462337"/>
            <a:ext cx="9791272" cy="908582"/>
          </a:xfrm>
          <a:prstGeom prst="rect">
            <a:avLst/>
          </a:prstGeom>
          <a:noFill/>
        </p:spPr>
        <p:txBody>
          <a:bodyPr wrap="square">
            <a:spAutoFit/>
          </a:bodyPr>
          <a:lstStyle/>
          <a:p>
            <a:pPr marL="0" indent="0" algn="l">
              <a:lnSpc>
                <a:spcPct val="104000"/>
              </a:lnSpc>
              <a:buNone/>
            </a:pPr>
            <a:r>
              <a:rPr lang="en-US" sz="2600" b="1">
                <a:solidFill>
                  <a:srgbClr val="0C0D0F"/>
                </a:solidFill>
                <a:latin typeface="Inter" pitchFamily="34" charset="0"/>
                <a:ea typeface="Inter" pitchFamily="34" charset="-122"/>
                <a:cs typeface="Inter" pitchFamily="34" charset="-120"/>
              </a:rPr>
              <a:t>The Cart: Engineering Meets Brand Story</a:t>
            </a:r>
          </a:p>
          <a:p>
            <a:pPr marL="0" indent="0" algn="l">
              <a:lnSpc>
                <a:spcPct val="104000"/>
              </a:lnSpc>
              <a:buNone/>
            </a:pPr>
            <a:r>
              <a:rPr lang="en-US" sz="2600" b="1"/>
              <a:t>Costumes and Exploded view</a:t>
            </a:r>
          </a:p>
        </p:txBody>
      </p:sp>
      <p:pic>
        <p:nvPicPr>
          <p:cNvPr id="7" name="Picture 6">
            <a:extLst>
              <a:ext uri="{FF2B5EF4-FFF2-40B4-BE49-F238E27FC236}">
                <a16:creationId xmlns:a16="http://schemas.microsoft.com/office/drawing/2014/main" id="{4936ABAD-BDCF-F671-1376-C8C581F10CE6}"/>
              </a:ext>
            </a:extLst>
          </p:cNvPr>
          <p:cNvPicPr>
            <a:picLocks noChangeAspect="1"/>
          </p:cNvPicPr>
          <p:nvPr/>
        </p:nvPicPr>
        <p:blipFill>
          <a:blip r:embed="rId2"/>
          <a:stretch>
            <a:fillRect/>
          </a:stretch>
        </p:blipFill>
        <p:spPr>
          <a:xfrm>
            <a:off x="1428301" y="1370919"/>
            <a:ext cx="8704566" cy="5407346"/>
          </a:xfrm>
          <a:prstGeom prst="rect">
            <a:avLst/>
          </a:prstGeom>
        </p:spPr>
      </p:pic>
    </p:spTree>
    <p:extLst>
      <p:ext uri="{BB962C8B-B14F-4D97-AF65-F5344CB8AC3E}">
        <p14:creationId xmlns:p14="http://schemas.microsoft.com/office/powerpoint/2010/main" val="669580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61475" y="488851"/>
            <a:ext cx="938586" cy="226219"/>
          </a:xfrm>
          <a:prstGeom prst="roundRect">
            <a:avLst>
              <a:gd name="adj" fmla="val 47376"/>
            </a:avLst>
          </a:prstGeom>
          <a:noFill/>
          <a:ln w="6350">
            <a:solidFill>
              <a:srgbClr val="FF7047"/>
            </a:solidFill>
            <a:prstDash val="solid"/>
          </a:ln>
        </p:spPr>
        <p:txBody>
          <a:bodyPr/>
          <a:lstStyle/>
          <a:p>
            <a:endParaRPr lang="en-ZA"/>
          </a:p>
        </p:txBody>
      </p:sp>
      <p:sp>
        <p:nvSpPr>
          <p:cNvPr id="3" name="Text 1"/>
          <p:cNvSpPr/>
          <p:nvPr/>
        </p:nvSpPr>
        <p:spPr>
          <a:xfrm>
            <a:off x="750769" y="533499"/>
            <a:ext cx="1369581" cy="136922"/>
          </a:xfrm>
          <a:prstGeom prst="rect">
            <a:avLst/>
          </a:prstGeom>
          <a:noFill/>
          <a:ln/>
        </p:spPr>
        <p:txBody>
          <a:bodyPr wrap="none" lIns="0" tIns="0" rIns="0" bIns="0" rtlCol="0" anchor="t"/>
          <a:lstStyle/>
          <a:p>
            <a:pPr marL="0" indent="0" algn="l">
              <a:lnSpc>
                <a:spcPct val="96000"/>
              </a:lnSpc>
              <a:buNone/>
            </a:pPr>
            <a:r>
              <a:rPr lang="en-US" sz="900">
                <a:solidFill>
                  <a:srgbClr val="FF7047"/>
                </a:solidFill>
                <a:latin typeface="Manrope" pitchFamily="34" charset="0"/>
                <a:ea typeface="Manrope" pitchFamily="34" charset="-122"/>
                <a:cs typeface="Manrope" pitchFamily="34" charset="-120"/>
              </a:rPr>
              <a:t>BRAND VALUE</a:t>
            </a:r>
            <a:endParaRPr lang="en-US" sz="900"/>
          </a:p>
        </p:txBody>
      </p:sp>
      <p:sp>
        <p:nvSpPr>
          <p:cNvPr id="4" name="Text 2"/>
          <p:cNvSpPr/>
          <p:nvPr/>
        </p:nvSpPr>
        <p:spPr>
          <a:xfrm>
            <a:off x="661475" y="768648"/>
            <a:ext cx="10868745" cy="465138"/>
          </a:xfrm>
          <a:prstGeom prst="rect">
            <a:avLst/>
          </a:prstGeom>
          <a:noFill/>
          <a:ln/>
        </p:spPr>
        <p:txBody>
          <a:bodyPr wrap="none" lIns="0" tIns="0" rIns="0" bIns="0" rtlCol="0" anchor="t"/>
          <a:lstStyle/>
          <a:p>
            <a:pPr marL="0" indent="0" algn="l">
              <a:lnSpc>
                <a:spcPct val="104000"/>
              </a:lnSpc>
              <a:buNone/>
            </a:pPr>
            <a:r>
              <a:rPr lang="en-US" sz="2900">
                <a:solidFill>
                  <a:srgbClr val="0C0D0F"/>
                </a:solidFill>
                <a:latin typeface="Inter" pitchFamily="34" charset="0"/>
                <a:ea typeface="Inter" pitchFamily="34" charset="-122"/>
                <a:cs typeface="Inter" pitchFamily="34" charset="-120"/>
              </a:rPr>
              <a:t>Brand Visibility &amp; What We Offer</a:t>
            </a:r>
            <a:endParaRPr lang="en-US" sz="2900"/>
          </a:p>
        </p:txBody>
      </p:sp>
      <p:sp>
        <p:nvSpPr>
          <p:cNvPr id="5" name="Text 3"/>
          <p:cNvSpPr/>
          <p:nvPr/>
        </p:nvSpPr>
        <p:spPr>
          <a:xfrm>
            <a:off x="661475" y="1434703"/>
            <a:ext cx="11478330" cy="226219"/>
          </a:xfrm>
          <a:prstGeom prst="rect">
            <a:avLst/>
          </a:prstGeom>
          <a:noFill/>
          <a:ln/>
        </p:spPr>
        <p:txBody>
          <a:bodyPr wrap="none" lIns="0" tIns="0" rIns="0" bIns="0" rtlCol="0" anchor="t"/>
          <a:lstStyle/>
          <a:p>
            <a:pPr>
              <a:lnSpc>
                <a:spcPct val="127000"/>
              </a:lnSpc>
            </a:pPr>
            <a:r>
              <a:rPr lang="en-US" sz="1150">
                <a:solidFill>
                  <a:srgbClr val="55575A"/>
                </a:solidFill>
                <a:latin typeface="Manrope"/>
                <a:ea typeface="Manrope" pitchFamily="34" charset="-122"/>
                <a:cs typeface="Manrope" pitchFamily="34" charset="-120"/>
              </a:rPr>
              <a:t>Pick n pay brand will be seen, shared, and celebrated — on track, online, and in the media.</a:t>
            </a:r>
            <a:endParaRPr lang="en-US" sz="1150">
              <a:latin typeface="Manrope"/>
            </a:endParaRPr>
          </a:p>
        </p:txBody>
      </p:sp>
      <p:sp>
        <p:nvSpPr>
          <p:cNvPr id="6" name="Shape 4"/>
          <p:cNvSpPr/>
          <p:nvPr/>
        </p:nvSpPr>
        <p:spPr>
          <a:xfrm>
            <a:off x="661475" y="1811635"/>
            <a:ext cx="5367402" cy="1429841"/>
          </a:xfrm>
          <a:prstGeom prst="roundRect">
            <a:avLst>
              <a:gd name="adj" fmla="val 9369"/>
            </a:avLst>
          </a:prstGeom>
          <a:solidFill>
            <a:srgbClr val="FFFFFF"/>
          </a:solidFill>
          <a:ln w="6350">
            <a:solidFill>
              <a:srgbClr val="FF7047"/>
            </a:solidFill>
            <a:prstDash val="solid"/>
          </a:ln>
        </p:spPr>
        <p:txBody>
          <a:bodyPr/>
          <a:lstStyle/>
          <a:p>
            <a:endParaRPr lang="en-ZA"/>
          </a:p>
        </p:txBody>
      </p:sp>
      <p:sp>
        <p:nvSpPr>
          <p:cNvPr id="7" name="Shape 5"/>
          <p:cNvSpPr/>
          <p:nvPr/>
        </p:nvSpPr>
        <p:spPr>
          <a:xfrm>
            <a:off x="816649" y="1966813"/>
            <a:ext cx="446473" cy="446484"/>
          </a:xfrm>
          <a:prstGeom prst="ellipse">
            <a:avLst/>
          </a:prstGeom>
          <a:solidFill>
            <a:srgbClr val="FF7047"/>
          </a:solidFill>
          <a:ln/>
        </p:spPr>
        <p:txBody>
          <a:bodyPr/>
          <a:lstStyle/>
          <a:p>
            <a:endParaRPr lang="en-ZA"/>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9380" y="2089547"/>
            <a:ext cx="200913" cy="200918"/>
          </a:xfrm>
          <a:prstGeom prst="rect">
            <a:avLst/>
          </a:prstGeom>
        </p:spPr>
      </p:pic>
      <p:sp>
        <p:nvSpPr>
          <p:cNvPr id="9" name="Text 6"/>
          <p:cNvSpPr/>
          <p:nvPr/>
        </p:nvSpPr>
        <p:spPr>
          <a:xfrm>
            <a:off x="816649" y="2547243"/>
            <a:ext cx="5057053" cy="232470"/>
          </a:xfrm>
          <a:prstGeom prst="rect">
            <a:avLst/>
          </a:prstGeom>
          <a:noFill/>
          <a:ln/>
        </p:spPr>
        <p:txBody>
          <a:bodyPr wrap="none" lIns="0" tIns="0" rIns="0" bIns="0" rtlCol="0" anchor="t"/>
          <a:lstStyle/>
          <a:p>
            <a:pPr marL="0" indent="0" algn="l">
              <a:lnSpc>
                <a:spcPct val="104000"/>
              </a:lnSpc>
              <a:buNone/>
            </a:pPr>
            <a:r>
              <a:rPr lang="en-US" sz="1450">
                <a:solidFill>
                  <a:srgbClr val="55575A"/>
                </a:solidFill>
                <a:latin typeface="Inter" pitchFamily="34" charset="0"/>
                <a:ea typeface="Inter" pitchFamily="34" charset="-122"/>
                <a:cs typeface="Inter" pitchFamily="34" charset="-120"/>
              </a:rPr>
              <a:t>Vehicle Branding</a:t>
            </a:r>
            <a:endParaRPr lang="en-US" sz="1450"/>
          </a:p>
        </p:txBody>
      </p:sp>
      <p:sp>
        <p:nvSpPr>
          <p:cNvPr id="10" name="Text 7"/>
          <p:cNvSpPr/>
          <p:nvPr/>
        </p:nvSpPr>
        <p:spPr>
          <a:xfrm>
            <a:off x="816649" y="2860080"/>
            <a:ext cx="5057053" cy="226219"/>
          </a:xfrm>
          <a:prstGeom prst="rect">
            <a:avLst/>
          </a:prstGeom>
          <a:noFill/>
          <a:ln/>
        </p:spPr>
        <p:txBody>
          <a:bodyPr wrap="none" lIns="0" tIns="0" rIns="0" bIns="0" rtlCol="0" anchor="t"/>
          <a:lstStyle/>
          <a:p>
            <a:pPr marL="0" indent="0" algn="l">
              <a:lnSpc>
                <a:spcPct val="127000"/>
              </a:lnSpc>
              <a:buNone/>
            </a:pPr>
            <a:r>
              <a:rPr lang="en-US" sz="1150">
                <a:solidFill>
                  <a:srgbClr val="55575A"/>
                </a:solidFill>
                <a:latin typeface="Manrope" pitchFamily="34" charset="0"/>
                <a:ea typeface="Manrope" pitchFamily="34" charset="-122"/>
                <a:cs typeface="Manrope" pitchFamily="34" charset="-120"/>
              </a:rPr>
              <a:t>Full Pick n Pay delivery on the race cart.</a:t>
            </a:r>
            <a:endParaRPr lang="en-US" sz="1150"/>
          </a:p>
        </p:txBody>
      </p:sp>
      <p:sp>
        <p:nvSpPr>
          <p:cNvPr id="11" name="Shape 8"/>
          <p:cNvSpPr/>
          <p:nvPr/>
        </p:nvSpPr>
        <p:spPr>
          <a:xfrm>
            <a:off x="6162818" y="1811635"/>
            <a:ext cx="5367402" cy="1429841"/>
          </a:xfrm>
          <a:prstGeom prst="roundRect">
            <a:avLst>
              <a:gd name="adj" fmla="val 9369"/>
            </a:avLst>
          </a:prstGeom>
          <a:solidFill>
            <a:srgbClr val="FFFFFF"/>
          </a:solidFill>
          <a:ln w="6350">
            <a:solidFill>
              <a:srgbClr val="FF7047"/>
            </a:solidFill>
            <a:prstDash val="solid"/>
          </a:ln>
        </p:spPr>
        <p:txBody>
          <a:bodyPr/>
          <a:lstStyle/>
          <a:p>
            <a:endParaRPr lang="en-ZA"/>
          </a:p>
        </p:txBody>
      </p:sp>
      <p:sp>
        <p:nvSpPr>
          <p:cNvPr id="12" name="Shape 9"/>
          <p:cNvSpPr/>
          <p:nvPr/>
        </p:nvSpPr>
        <p:spPr>
          <a:xfrm>
            <a:off x="6317993" y="1966813"/>
            <a:ext cx="446473" cy="446484"/>
          </a:xfrm>
          <a:prstGeom prst="ellipse">
            <a:avLst/>
          </a:prstGeom>
          <a:solidFill>
            <a:srgbClr val="FF7047"/>
          </a:solidFill>
          <a:ln/>
        </p:spPr>
        <p:txBody>
          <a:bodyPr/>
          <a:lstStyle/>
          <a:p>
            <a:endParaRPr lang="en-ZA"/>
          </a:p>
        </p:txBody>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40723" y="2089547"/>
            <a:ext cx="200913" cy="200918"/>
          </a:xfrm>
          <a:prstGeom prst="rect">
            <a:avLst/>
          </a:prstGeom>
        </p:spPr>
      </p:pic>
      <p:sp>
        <p:nvSpPr>
          <p:cNvPr id="14" name="Text 10"/>
          <p:cNvSpPr/>
          <p:nvPr/>
        </p:nvSpPr>
        <p:spPr>
          <a:xfrm>
            <a:off x="6317993" y="2547243"/>
            <a:ext cx="5057053" cy="232470"/>
          </a:xfrm>
          <a:prstGeom prst="rect">
            <a:avLst/>
          </a:prstGeom>
          <a:noFill/>
          <a:ln/>
        </p:spPr>
        <p:txBody>
          <a:bodyPr wrap="none" lIns="0" tIns="0" rIns="0" bIns="0" rtlCol="0" anchor="t"/>
          <a:lstStyle/>
          <a:p>
            <a:pPr marL="0" indent="0" algn="l">
              <a:lnSpc>
                <a:spcPct val="104000"/>
              </a:lnSpc>
              <a:buNone/>
            </a:pPr>
            <a:r>
              <a:rPr lang="en-US" sz="1450">
                <a:solidFill>
                  <a:srgbClr val="55575A"/>
                </a:solidFill>
                <a:latin typeface="Inter" pitchFamily="34" charset="0"/>
                <a:ea typeface="Inter" pitchFamily="34" charset="-122"/>
                <a:cs typeface="Inter" pitchFamily="34" charset="-120"/>
              </a:rPr>
              <a:t>Team Uniforms</a:t>
            </a:r>
            <a:endParaRPr lang="en-US" sz="1450"/>
          </a:p>
        </p:txBody>
      </p:sp>
      <p:sp>
        <p:nvSpPr>
          <p:cNvPr id="15" name="Text 11"/>
          <p:cNvSpPr/>
          <p:nvPr/>
        </p:nvSpPr>
        <p:spPr>
          <a:xfrm>
            <a:off x="6317993" y="2860080"/>
            <a:ext cx="5057053" cy="226219"/>
          </a:xfrm>
          <a:prstGeom prst="rect">
            <a:avLst/>
          </a:prstGeom>
          <a:noFill/>
          <a:ln/>
        </p:spPr>
        <p:txBody>
          <a:bodyPr wrap="none" lIns="0" tIns="0" rIns="0" bIns="0" rtlCol="0" anchor="t"/>
          <a:lstStyle/>
          <a:p>
            <a:pPr marL="0" indent="0" algn="l">
              <a:lnSpc>
                <a:spcPct val="127000"/>
              </a:lnSpc>
              <a:buNone/>
            </a:pPr>
            <a:r>
              <a:rPr lang="en-US" sz="1150">
                <a:solidFill>
                  <a:srgbClr val="55575A"/>
                </a:solidFill>
                <a:latin typeface="Manrope" pitchFamily="34" charset="0"/>
                <a:ea typeface="Manrope" pitchFamily="34" charset="-122"/>
                <a:cs typeface="Manrope" pitchFamily="34" charset="-120"/>
              </a:rPr>
              <a:t>Branded apparel at every public appearance.</a:t>
            </a:r>
            <a:endParaRPr lang="en-US" sz="1150"/>
          </a:p>
        </p:txBody>
      </p:sp>
      <p:sp>
        <p:nvSpPr>
          <p:cNvPr id="16" name="Shape 12"/>
          <p:cNvSpPr/>
          <p:nvPr/>
        </p:nvSpPr>
        <p:spPr>
          <a:xfrm>
            <a:off x="661475" y="3375422"/>
            <a:ext cx="5367402" cy="1429841"/>
          </a:xfrm>
          <a:prstGeom prst="roundRect">
            <a:avLst>
              <a:gd name="adj" fmla="val 9369"/>
            </a:avLst>
          </a:prstGeom>
          <a:solidFill>
            <a:srgbClr val="FFFFFF"/>
          </a:solidFill>
          <a:ln w="6350">
            <a:solidFill>
              <a:srgbClr val="FF7047"/>
            </a:solidFill>
            <a:prstDash val="solid"/>
          </a:ln>
        </p:spPr>
        <p:txBody>
          <a:bodyPr/>
          <a:lstStyle/>
          <a:p>
            <a:endParaRPr lang="en-ZA"/>
          </a:p>
        </p:txBody>
      </p:sp>
      <p:sp>
        <p:nvSpPr>
          <p:cNvPr id="17" name="Shape 13"/>
          <p:cNvSpPr/>
          <p:nvPr/>
        </p:nvSpPr>
        <p:spPr>
          <a:xfrm>
            <a:off x="816649" y="3530600"/>
            <a:ext cx="446473" cy="446484"/>
          </a:xfrm>
          <a:prstGeom prst="ellipse">
            <a:avLst/>
          </a:prstGeom>
          <a:solidFill>
            <a:srgbClr val="FF7047"/>
          </a:solidFill>
          <a:ln/>
        </p:spPr>
        <p:txBody>
          <a:bodyPr/>
          <a:lstStyle/>
          <a:p>
            <a:endParaRPr lang="en-ZA"/>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9380" y="3653334"/>
            <a:ext cx="200913" cy="200918"/>
          </a:xfrm>
          <a:prstGeom prst="rect">
            <a:avLst/>
          </a:prstGeom>
        </p:spPr>
      </p:pic>
      <p:sp>
        <p:nvSpPr>
          <p:cNvPr id="19" name="Text 14"/>
          <p:cNvSpPr/>
          <p:nvPr/>
        </p:nvSpPr>
        <p:spPr>
          <a:xfrm>
            <a:off x="816649" y="4111030"/>
            <a:ext cx="5057053" cy="232470"/>
          </a:xfrm>
          <a:prstGeom prst="rect">
            <a:avLst/>
          </a:prstGeom>
          <a:noFill/>
          <a:ln/>
        </p:spPr>
        <p:txBody>
          <a:bodyPr wrap="none" lIns="0" tIns="0" rIns="0" bIns="0" rtlCol="0" anchor="t"/>
          <a:lstStyle/>
          <a:p>
            <a:pPr marL="0" indent="0" algn="l">
              <a:lnSpc>
                <a:spcPct val="104000"/>
              </a:lnSpc>
              <a:buNone/>
            </a:pPr>
            <a:r>
              <a:rPr lang="en-US" sz="1450">
                <a:solidFill>
                  <a:srgbClr val="55575A"/>
                </a:solidFill>
                <a:latin typeface="Inter" pitchFamily="34" charset="0"/>
                <a:ea typeface="Inter" pitchFamily="34" charset="-122"/>
                <a:cs typeface="Inter" pitchFamily="34" charset="-120"/>
              </a:rPr>
              <a:t>Social Media</a:t>
            </a:r>
            <a:endParaRPr lang="en-US" sz="1450"/>
          </a:p>
        </p:txBody>
      </p:sp>
      <p:sp>
        <p:nvSpPr>
          <p:cNvPr id="20" name="Text 15"/>
          <p:cNvSpPr/>
          <p:nvPr/>
        </p:nvSpPr>
        <p:spPr>
          <a:xfrm>
            <a:off x="816649" y="4423866"/>
            <a:ext cx="5057053" cy="226219"/>
          </a:xfrm>
          <a:prstGeom prst="rect">
            <a:avLst/>
          </a:prstGeom>
          <a:noFill/>
          <a:ln/>
        </p:spPr>
        <p:txBody>
          <a:bodyPr wrap="none" lIns="0" tIns="0" rIns="0" bIns="0" rtlCol="0" anchor="t"/>
          <a:lstStyle/>
          <a:p>
            <a:pPr marL="0" indent="0" algn="l">
              <a:lnSpc>
                <a:spcPct val="127000"/>
              </a:lnSpc>
              <a:buNone/>
            </a:pPr>
            <a:r>
              <a:rPr lang="en-US" sz="1150">
                <a:solidFill>
                  <a:srgbClr val="55575A"/>
                </a:solidFill>
                <a:latin typeface="Manrope" pitchFamily="34" charset="0"/>
                <a:ea typeface="Manrope" pitchFamily="34" charset="-122"/>
                <a:cs typeface="Manrope" pitchFamily="34" charset="-120"/>
              </a:rPr>
              <a:t>Build-up content, race-day reels, and behind-the-scenes footage.</a:t>
            </a:r>
            <a:endParaRPr lang="en-US" sz="1150"/>
          </a:p>
        </p:txBody>
      </p:sp>
      <p:sp>
        <p:nvSpPr>
          <p:cNvPr id="21" name="Shape 16"/>
          <p:cNvSpPr/>
          <p:nvPr/>
        </p:nvSpPr>
        <p:spPr>
          <a:xfrm>
            <a:off x="6162818" y="3375422"/>
            <a:ext cx="5367402" cy="1429841"/>
          </a:xfrm>
          <a:prstGeom prst="roundRect">
            <a:avLst>
              <a:gd name="adj" fmla="val 9369"/>
            </a:avLst>
          </a:prstGeom>
          <a:solidFill>
            <a:srgbClr val="FFFFFF"/>
          </a:solidFill>
          <a:ln w="6350">
            <a:solidFill>
              <a:srgbClr val="FF7047"/>
            </a:solidFill>
            <a:prstDash val="solid"/>
          </a:ln>
        </p:spPr>
        <p:txBody>
          <a:bodyPr/>
          <a:lstStyle/>
          <a:p>
            <a:endParaRPr lang="en-ZA"/>
          </a:p>
        </p:txBody>
      </p:sp>
      <p:sp>
        <p:nvSpPr>
          <p:cNvPr id="22" name="Shape 17"/>
          <p:cNvSpPr/>
          <p:nvPr/>
        </p:nvSpPr>
        <p:spPr>
          <a:xfrm>
            <a:off x="6317993" y="3530600"/>
            <a:ext cx="446473" cy="446484"/>
          </a:xfrm>
          <a:prstGeom prst="ellipse">
            <a:avLst/>
          </a:prstGeom>
          <a:solidFill>
            <a:srgbClr val="FF7047"/>
          </a:solidFill>
          <a:ln/>
        </p:spPr>
        <p:txBody>
          <a:bodyPr/>
          <a:lstStyle/>
          <a:p>
            <a:endParaRPr lang="en-ZA"/>
          </a:p>
        </p:txBody>
      </p:sp>
      <p:pic>
        <p:nvPicPr>
          <p:cNvPr id="2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440723" y="3653334"/>
            <a:ext cx="200913" cy="200918"/>
          </a:xfrm>
          <a:prstGeom prst="rect">
            <a:avLst/>
          </a:prstGeom>
        </p:spPr>
      </p:pic>
      <p:sp>
        <p:nvSpPr>
          <p:cNvPr id="24" name="Text 18"/>
          <p:cNvSpPr/>
          <p:nvPr/>
        </p:nvSpPr>
        <p:spPr>
          <a:xfrm>
            <a:off x="6317993" y="4111030"/>
            <a:ext cx="5057053" cy="232470"/>
          </a:xfrm>
          <a:prstGeom prst="rect">
            <a:avLst/>
          </a:prstGeom>
          <a:noFill/>
          <a:ln/>
        </p:spPr>
        <p:txBody>
          <a:bodyPr wrap="none" lIns="0" tIns="0" rIns="0" bIns="0" rtlCol="0" anchor="t"/>
          <a:lstStyle/>
          <a:p>
            <a:pPr marL="0" indent="0" algn="l">
              <a:lnSpc>
                <a:spcPct val="104000"/>
              </a:lnSpc>
              <a:buNone/>
            </a:pPr>
            <a:r>
              <a:rPr lang="en-US" sz="1450">
                <a:solidFill>
                  <a:srgbClr val="55575A"/>
                </a:solidFill>
                <a:latin typeface="Inter" pitchFamily="34" charset="0"/>
                <a:ea typeface="Inter" pitchFamily="34" charset="-122"/>
                <a:cs typeface="Inter" pitchFamily="34" charset="-120"/>
              </a:rPr>
              <a:t>Photography &amp; Media</a:t>
            </a:r>
            <a:endParaRPr lang="en-US" sz="1450"/>
          </a:p>
        </p:txBody>
      </p:sp>
      <p:sp>
        <p:nvSpPr>
          <p:cNvPr id="25" name="Text 19"/>
          <p:cNvSpPr/>
          <p:nvPr/>
        </p:nvSpPr>
        <p:spPr>
          <a:xfrm>
            <a:off x="6317993" y="4423866"/>
            <a:ext cx="5057053" cy="226219"/>
          </a:xfrm>
          <a:prstGeom prst="rect">
            <a:avLst/>
          </a:prstGeom>
          <a:noFill/>
          <a:ln/>
        </p:spPr>
        <p:txBody>
          <a:bodyPr wrap="none" lIns="0" tIns="0" rIns="0" bIns="0" rtlCol="0" anchor="t"/>
          <a:lstStyle/>
          <a:p>
            <a:pPr marL="0" indent="0" algn="l">
              <a:lnSpc>
                <a:spcPct val="127000"/>
              </a:lnSpc>
              <a:buNone/>
            </a:pPr>
            <a:r>
              <a:rPr lang="en-US" sz="1150">
                <a:solidFill>
                  <a:srgbClr val="55575A"/>
                </a:solidFill>
                <a:latin typeface="Manrope" pitchFamily="34" charset="0"/>
                <a:ea typeface="Manrope" pitchFamily="34" charset="-122"/>
                <a:cs typeface="Manrope" pitchFamily="34" charset="-120"/>
              </a:rPr>
              <a:t>Professional photo and video assets for Pick n Pay's channels.</a:t>
            </a:r>
            <a:endParaRPr lang="en-US" sz="1150"/>
          </a:p>
        </p:txBody>
      </p:sp>
      <p:sp>
        <p:nvSpPr>
          <p:cNvPr id="26" name="Shape 20"/>
          <p:cNvSpPr/>
          <p:nvPr/>
        </p:nvSpPr>
        <p:spPr>
          <a:xfrm>
            <a:off x="661475" y="4939209"/>
            <a:ext cx="5367402" cy="1429841"/>
          </a:xfrm>
          <a:prstGeom prst="roundRect">
            <a:avLst>
              <a:gd name="adj" fmla="val 9369"/>
            </a:avLst>
          </a:prstGeom>
          <a:solidFill>
            <a:srgbClr val="FFFFFF"/>
          </a:solidFill>
          <a:ln w="6350">
            <a:solidFill>
              <a:srgbClr val="FF7047"/>
            </a:solidFill>
            <a:prstDash val="solid"/>
          </a:ln>
        </p:spPr>
        <p:txBody>
          <a:bodyPr/>
          <a:lstStyle/>
          <a:p>
            <a:endParaRPr lang="en-ZA"/>
          </a:p>
        </p:txBody>
      </p:sp>
      <p:sp>
        <p:nvSpPr>
          <p:cNvPr id="27" name="Shape 21"/>
          <p:cNvSpPr/>
          <p:nvPr/>
        </p:nvSpPr>
        <p:spPr>
          <a:xfrm>
            <a:off x="816649" y="5094387"/>
            <a:ext cx="446473" cy="446484"/>
          </a:xfrm>
          <a:prstGeom prst="ellipse">
            <a:avLst/>
          </a:prstGeom>
          <a:solidFill>
            <a:srgbClr val="FF7047"/>
          </a:solidFill>
          <a:ln/>
        </p:spPr>
        <p:txBody>
          <a:bodyPr/>
          <a:lstStyle/>
          <a:p>
            <a:endParaRPr lang="en-ZA"/>
          </a:p>
        </p:txBody>
      </p:sp>
      <p:pic>
        <p:nvPicPr>
          <p:cNvPr id="28"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39380" y="5217120"/>
            <a:ext cx="200913" cy="200918"/>
          </a:xfrm>
          <a:prstGeom prst="rect">
            <a:avLst/>
          </a:prstGeom>
        </p:spPr>
      </p:pic>
      <p:sp>
        <p:nvSpPr>
          <p:cNvPr id="29" name="Text 22"/>
          <p:cNvSpPr/>
          <p:nvPr/>
        </p:nvSpPr>
        <p:spPr>
          <a:xfrm>
            <a:off x="816649" y="5674816"/>
            <a:ext cx="5057053" cy="232470"/>
          </a:xfrm>
          <a:prstGeom prst="rect">
            <a:avLst/>
          </a:prstGeom>
          <a:noFill/>
          <a:ln/>
        </p:spPr>
        <p:txBody>
          <a:bodyPr wrap="none" lIns="0" tIns="0" rIns="0" bIns="0" rtlCol="0" anchor="t"/>
          <a:lstStyle/>
          <a:p>
            <a:pPr marL="0" indent="0" algn="l">
              <a:lnSpc>
                <a:spcPct val="104000"/>
              </a:lnSpc>
              <a:buNone/>
            </a:pPr>
            <a:r>
              <a:rPr lang="en-US" sz="1450">
                <a:solidFill>
                  <a:srgbClr val="55575A"/>
                </a:solidFill>
                <a:latin typeface="Inter" pitchFamily="34" charset="0"/>
                <a:ea typeface="Inter" pitchFamily="34" charset="-122"/>
                <a:cs typeface="Inter" pitchFamily="34" charset="-120"/>
              </a:rPr>
              <a:t>Media Interviews</a:t>
            </a:r>
            <a:endParaRPr lang="en-US" sz="1450"/>
          </a:p>
        </p:txBody>
      </p:sp>
      <p:sp>
        <p:nvSpPr>
          <p:cNvPr id="30" name="Text 23"/>
          <p:cNvSpPr/>
          <p:nvPr/>
        </p:nvSpPr>
        <p:spPr>
          <a:xfrm>
            <a:off x="816649" y="5987653"/>
            <a:ext cx="5057053" cy="226219"/>
          </a:xfrm>
          <a:prstGeom prst="rect">
            <a:avLst/>
          </a:prstGeom>
          <a:noFill/>
          <a:ln/>
        </p:spPr>
        <p:txBody>
          <a:bodyPr wrap="none" lIns="0" tIns="0" rIns="0" bIns="0" rtlCol="0" anchor="t"/>
          <a:lstStyle/>
          <a:p>
            <a:pPr marL="0" indent="0" algn="l">
              <a:lnSpc>
                <a:spcPct val="127000"/>
              </a:lnSpc>
              <a:buNone/>
            </a:pPr>
            <a:r>
              <a:rPr lang="en-US" sz="1150">
                <a:solidFill>
                  <a:srgbClr val="55575A"/>
                </a:solidFill>
                <a:latin typeface="Manrope" pitchFamily="34" charset="0"/>
                <a:ea typeface="Manrope" pitchFamily="34" charset="-122"/>
                <a:cs typeface="Manrope" pitchFamily="34" charset="-120"/>
              </a:rPr>
              <a:t>Red Bull event coverage with Pick n Pay mentions.</a:t>
            </a:r>
            <a:endParaRPr lang="en-US" sz="1150"/>
          </a:p>
        </p:txBody>
      </p:sp>
      <p:sp>
        <p:nvSpPr>
          <p:cNvPr id="31" name="Shape 24"/>
          <p:cNvSpPr/>
          <p:nvPr/>
        </p:nvSpPr>
        <p:spPr>
          <a:xfrm>
            <a:off x="6162818" y="4939209"/>
            <a:ext cx="5367402" cy="1429841"/>
          </a:xfrm>
          <a:prstGeom prst="roundRect">
            <a:avLst>
              <a:gd name="adj" fmla="val 9369"/>
            </a:avLst>
          </a:prstGeom>
          <a:solidFill>
            <a:srgbClr val="FFFFFF"/>
          </a:solidFill>
          <a:ln w="6350">
            <a:solidFill>
              <a:srgbClr val="FF7047"/>
            </a:solidFill>
            <a:prstDash val="solid"/>
          </a:ln>
        </p:spPr>
        <p:txBody>
          <a:bodyPr/>
          <a:lstStyle/>
          <a:p>
            <a:endParaRPr lang="en-ZA"/>
          </a:p>
        </p:txBody>
      </p:sp>
      <p:sp>
        <p:nvSpPr>
          <p:cNvPr id="32" name="Shape 25"/>
          <p:cNvSpPr/>
          <p:nvPr/>
        </p:nvSpPr>
        <p:spPr>
          <a:xfrm>
            <a:off x="6317993" y="5094387"/>
            <a:ext cx="446473" cy="446484"/>
          </a:xfrm>
          <a:prstGeom prst="ellipse">
            <a:avLst/>
          </a:prstGeom>
          <a:solidFill>
            <a:srgbClr val="FF7047"/>
          </a:solidFill>
          <a:ln/>
        </p:spPr>
        <p:txBody>
          <a:bodyPr/>
          <a:lstStyle/>
          <a:p>
            <a:endParaRPr lang="en-ZA"/>
          </a:p>
        </p:txBody>
      </p:sp>
      <p:pic>
        <p:nvPicPr>
          <p:cNvPr id="33"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440723" y="5217120"/>
            <a:ext cx="200913" cy="200918"/>
          </a:xfrm>
          <a:prstGeom prst="rect">
            <a:avLst/>
          </a:prstGeom>
        </p:spPr>
      </p:pic>
      <p:sp>
        <p:nvSpPr>
          <p:cNvPr id="34" name="Text 26"/>
          <p:cNvSpPr/>
          <p:nvPr/>
        </p:nvSpPr>
        <p:spPr>
          <a:xfrm>
            <a:off x="6317993" y="5674816"/>
            <a:ext cx="5057053" cy="232470"/>
          </a:xfrm>
          <a:prstGeom prst="rect">
            <a:avLst/>
          </a:prstGeom>
          <a:noFill/>
          <a:ln/>
        </p:spPr>
        <p:txBody>
          <a:bodyPr wrap="none" lIns="0" tIns="0" rIns="0" bIns="0" rtlCol="0" anchor="t"/>
          <a:lstStyle/>
          <a:p>
            <a:pPr marL="0" indent="0" algn="l">
              <a:lnSpc>
                <a:spcPct val="104000"/>
              </a:lnSpc>
              <a:buNone/>
            </a:pPr>
            <a:r>
              <a:rPr lang="en-US" sz="1450">
                <a:solidFill>
                  <a:srgbClr val="55575A"/>
                </a:solidFill>
                <a:latin typeface="Inter" pitchFamily="34" charset="0"/>
                <a:ea typeface="Inter" pitchFamily="34" charset="-122"/>
                <a:cs typeface="Inter" pitchFamily="34" charset="-120"/>
              </a:rPr>
              <a:t>Red Bull Exposure</a:t>
            </a:r>
            <a:endParaRPr lang="en-US" sz="1450"/>
          </a:p>
        </p:txBody>
      </p:sp>
      <p:sp>
        <p:nvSpPr>
          <p:cNvPr id="35" name="Text 27"/>
          <p:cNvSpPr/>
          <p:nvPr/>
        </p:nvSpPr>
        <p:spPr>
          <a:xfrm>
            <a:off x="6317993" y="5987653"/>
            <a:ext cx="5057053" cy="226219"/>
          </a:xfrm>
          <a:prstGeom prst="rect">
            <a:avLst/>
          </a:prstGeom>
          <a:noFill/>
          <a:ln/>
        </p:spPr>
        <p:txBody>
          <a:bodyPr wrap="none" lIns="0" tIns="0" rIns="0" bIns="0" rtlCol="0" anchor="t"/>
          <a:lstStyle/>
          <a:p>
            <a:pPr marL="0" indent="0" algn="l">
              <a:lnSpc>
                <a:spcPct val="127000"/>
              </a:lnSpc>
              <a:buNone/>
            </a:pPr>
            <a:r>
              <a:rPr lang="en-US" sz="1150">
                <a:solidFill>
                  <a:srgbClr val="55575A"/>
                </a:solidFill>
                <a:latin typeface="Manrope" pitchFamily="34" charset="0"/>
                <a:ea typeface="Manrope" pitchFamily="34" charset="-122"/>
                <a:cs typeface="Manrope" pitchFamily="34" charset="-120"/>
              </a:rPr>
              <a:t>Live audience, broadcast, and digital reach.</a:t>
            </a:r>
            <a:endParaRPr lang="en-US" sz="115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64592" cy="164592"/>
          </a:xfrm>
          <a:prstGeom prst="rect">
            <a:avLst/>
          </a:prstGeom>
          <a:solidFill>
            <a:srgbClr val="12274D"/>
          </a:solidFill>
          <a:ln/>
        </p:spPr>
        <p:txBody>
          <a:bodyPr/>
          <a:lstStyle/>
          <a:p>
            <a:endParaRPr lang="en-US"/>
          </a:p>
        </p:txBody>
      </p:sp>
      <p:sp>
        <p:nvSpPr>
          <p:cNvPr id="3" name="Shape 1"/>
          <p:cNvSpPr/>
          <p:nvPr/>
        </p:nvSpPr>
        <p:spPr>
          <a:xfrm>
            <a:off x="164592" y="0"/>
            <a:ext cx="164592" cy="164592"/>
          </a:xfrm>
          <a:prstGeom prst="rect">
            <a:avLst/>
          </a:prstGeom>
          <a:solidFill>
            <a:srgbClr val="E42C58"/>
          </a:solidFill>
          <a:ln/>
        </p:spPr>
        <p:txBody>
          <a:bodyPr/>
          <a:lstStyle/>
          <a:p>
            <a:endParaRPr lang="en-US"/>
          </a:p>
        </p:txBody>
      </p:sp>
      <p:sp>
        <p:nvSpPr>
          <p:cNvPr id="4" name="Shape 2"/>
          <p:cNvSpPr/>
          <p:nvPr/>
        </p:nvSpPr>
        <p:spPr>
          <a:xfrm>
            <a:off x="329184" y="0"/>
            <a:ext cx="164592" cy="164592"/>
          </a:xfrm>
          <a:prstGeom prst="rect">
            <a:avLst/>
          </a:prstGeom>
          <a:solidFill>
            <a:srgbClr val="12274D"/>
          </a:solidFill>
          <a:ln/>
        </p:spPr>
        <p:txBody>
          <a:bodyPr/>
          <a:lstStyle/>
          <a:p>
            <a:endParaRPr lang="en-US"/>
          </a:p>
        </p:txBody>
      </p:sp>
      <p:sp>
        <p:nvSpPr>
          <p:cNvPr id="5" name="Shape 3"/>
          <p:cNvSpPr/>
          <p:nvPr/>
        </p:nvSpPr>
        <p:spPr>
          <a:xfrm>
            <a:off x="493776" y="0"/>
            <a:ext cx="164592" cy="164592"/>
          </a:xfrm>
          <a:prstGeom prst="rect">
            <a:avLst/>
          </a:prstGeom>
          <a:solidFill>
            <a:srgbClr val="E42C58"/>
          </a:solidFill>
          <a:ln/>
        </p:spPr>
        <p:txBody>
          <a:bodyPr/>
          <a:lstStyle/>
          <a:p>
            <a:endParaRPr lang="en-US"/>
          </a:p>
        </p:txBody>
      </p:sp>
      <p:sp>
        <p:nvSpPr>
          <p:cNvPr id="6" name="Shape 4"/>
          <p:cNvSpPr/>
          <p:nvPr/>
        </p:nvSpPr>
        <p:spPr>
          <a:xfrm>
            <a:off x="658368" y="0"/>
            <a:ext cx="164592" cy="164592"/>
          </a:xfrm>
          <a:prstGeom prst="rect">
            <a:avLst/>
          </a:prstGeom>
          <a:solidFill>
            <a:srgbClr val="12274D"/>
          </a:solidFill>
          <a:ln/>
        </p:spPr>
        <p:txBody>
          <a:bodyPr/>
          <a:lstStyle/>
          <a:p>
            <a:endParaRPr lang="en-US"/>
          </a:p>
        </p:txBody>
      </p:sp>
      <p:sp>
        <p:nvSpPr>
          <p:cNvPr id="7" name="Shape 5"/>
          <p:cNvSpPr/>
          <p:nvPr/>
        </p:nvSpPr>
        <p:spPr>
          <a:xfrm>
            <a:off x="822960" y="0"/>
            <a:ext cx="164592" cy="164592"/>
          </a:xfrm>
          <a:prstGeom prst="rect">
            <a:avLst/>
          </a:prstGeom>
          <a:solidFill>
            <a:srgbClr val="E42C58"/>
          </a:solidFill>
          <a:ln/>
        </p:spPr>
        <p:txBody>
          <a:bodyPr/>
          <a:lstStyle/>
          <a:p>
            <a:endParaRPr lang="en-US"/>
          </a:p>
        </p:txBody>
      </p:sp>
      <p:sp>
        <p:nvSpPr>
          <p:cNvPr id="8" name="Shape 6"/>
          <p:cNvSpPr/>
          <p:nvPr/>
        </p:nvSpPr>
        <p:spPr>
          <a:xfrm>
            <a:off x="987552" y="0"/>
            <a:ext cx="164592" cy="164592"/>
          </a:xfrm>
          <a:prstGeom prst="rect">
            <a:avLst/>
          </a:prstGeom>
          <a:solidFill>
            <a:srgbClr val="12274D"/>
          </a:solidFill>
          <a:ln/>
        </p:spPr>
        <p:txBody>
          <a:bodyPr/>
          <a:lstStyle/>
          <a:p>
            <a:endParaRPr lang="en-US"/>
          </a:p>
        </p:txBody>
      </p:sp>
      <p:sp>
        <p:nvSpPr>
          <p:cNvPr id="9" name="Shape 7"/>
          <p:cNvSpPr/>
          <p:nvPr/>
        </p:nvSpPr>
        <p:spPr>
          <a:xfrm>
            <a:off x="1152144" y="0"/>
            <a:ext cx="164592" cy="164592"/>
          </a:xfrm>
          <a:prstGeom prst="rect">
            <a:avLst/>
          </a:prstGeom>
          <a:solidFill>
            <a:srgbClr val="E42C58"/>
          </a:solidFill>
          <a:ln/>
        </p:spPr>
        <p:txBody>
          <a:bodyPr/>
          <a:lstStyle/>
          <a:p>
            <a:endParaRPr lang="en-US"/>
          </a:p>
        </p:txBody>
      </p:sp>
      <p:sp>
        <p:nvSpPr>
          <p:cNvPr id="10" name="Shape 8"/>
          <p:cNvSpPr/>
          <p:nvPr/>
        </p:nvSpPr>
        <p:spPr>
          <a:xfrm>
            <a:off x="1316736" y="0"/>
            <a:ext cx="164592" cy="164592"/>
          </a:xfrm>
          <a:prstGeom prst="rect">
            <a:avLst/>
          </a:prstGeom>
          <a:solidFill>
            <a:srgbClr val="12274D"/>
          </a:solidFill>
          <a:ln/>
        </p:spPr>
        <p:txBody>
          <a:bodyPr/>
          <a:lstStyle/>
          <a:p>
            <a:endParaRPr lang="en-US"/>
          </a:p>
        </p:txBody>
      </p:sp>
      <p:sp>
        <p:nvSpPr>
          <p:cNvPr id="11" name="Shape 9"/>
          <p:cNvSpPr/>
          <p:nvPr/>
        </p:nvSpPr>
        <p:spPr>
          <a:xfrm>
            <a:off x="1481328" y="0"/>
            <a:ext cx="164592" cy="164592"/>
          </a:xfrm>
          <a:prstGeom prst="rect">
            <a:avLst/>
          </a:prstGeom>
          <a:solidFill>
            <a:srgbClr val="E42C58"/>
          </a:solidFill>
          <a:ln/>
        </p:spPr>
        <p:txBody>
          <a:bodyPr/>
          <a:lstStyle/>
          <a:p>
            <a:endParaRPr lang="en-US"/>
          </a:p>
        </p:txBody>
      </p:sp>
      <p:sp>
        <p:nvSpPr>
          <p:cNvPr id="12" name="Shape 10"/>
          <p:cNvSpPr/>
          <p:nvPr/>
        </p:nvSpPr>
        <p:spPr>
          <a:xfrm>
            <a:off x="1645920" y="0"/>
            <a:ext cx="164592" cy="164592"/>
          </a:xfrm>
          <a:prstGeom prst="rect">
            <a:avLst/>
          </a:prstGeom>
          <a:solidFill>
            <a:srgbClr val="12274D"/>
          </a:solidFill>
          <a:ln/>
        </p:spPr>
        <p:txBody>
          <a:bodyPr/>
          <a:lstStyle/>
          <a:p>
            <a:endParaRPr lang="en-US"/>
          </a:p>
        </p:txBody>
      </p:sp>
      <p:sp>
        <p:nvSpPr>
          <p:cNvPr id="13" name="Shape 11"/>
          <p:cNvSpPr/>
          <p:nvPr/>
        </p:nvSpPr>
        <p:spPr>
          <a:xfrm>
            <a:off x="1810512" y="0"/>
            <a:ext cx="164592" cy="164592"/>
          </a:xfrm>
          <a:prstGeom prst="rect">
            <a:avLst/>
          </a:prstGeom>
          <a:solidFill>
            <a:srgbClr val="E42C58"/>
          </a:solidFill>
          <a:ln/>
        </p:spPr>
        <p:txBody>
          <a:bodyPr/>
          <a:lstStyle/>
          <a:p>
            <a:endParaRPr lang="en-US"/>
          </a:p>
        </p:txBody>
      </p:sp>
      <p:sp>
        <p:nvSpPr>
          <p:cNvPr id="14" name="Shape 12"/>
          <p:cNvSpPr/>
          <p:nvPr/>
        </p:nvSpPr>
        <p:spPr>
          <a:xfrm>
            <a:off x="1975104" y="0"/>
            <a:ext cx="164592" cy="164592"/>
          </a:xfrm>
          <a:prstGeom prst="rect">
            <a:avLst/>
          </a:prstGeom>
          <a:solidFill>
            <a:srgbClr val="12274D"/>
          </a:solidFill>
          <a:ln/>
        </p:spPr>
        <p:txBody>
          <a:bodyPr/>
          <a:lstStyle/>
          <a:p>
            <a:endParaRPr lang="en-US"/>
          </a:p>
        </p:txBody>
      </p:sp>
      <p:sp>
        <p:nvSpPr>
          <p:cNvPr id="15" name="Shape 13"/>
          <p:cNvSpPr/>
          <p:nvPr/>
        </p:nvSpPr>
        <p:spPr>
          <a:xfrm>
            <a:off x="2139696" y="0"/>
            <a:ext cx="164592" cy="164592"/>
          </a:xfrm>
          <a:prstGeom prst="rect">
            <a:avLst/>
          </a:prstGeom>
          <a:solidFill>
            <a:srgbClr val="E42C58"/>
          </a:solidFill>
          <a:ln/>
        </p:spPr>
        <p:txBody>
          <a:bodyPr/>
          <a:lstStyle/>
          <a:p>
            <a:endParaRPr lang="en-US"/>
          </a:p>
        </p:txBody>
      </p:sp>
      <p:sp>
        <p:nvSpPr>
          <p:cNvPr id="16" name="Shape 14"/>
          <p:cNvSpPr/>
          <p:nvPr/>
        </p:nvSpPr>
        <p:spPr>
          <a:xfrm>
            <a:off x="2304288" y="0"/>
            <a:ext cx="164592" cy="164592"/>
          </a:xfrm>
          <a:prstGeom prst="rect">
            <a:avLst/>
          </a:prstGeom>
          <a:solidFill>
            <a:srgbClr val="12274D"/>
          </a:solidFill>
          <a:ln/>
        </p:spPr>
        <p:txBody>
          <a:bodyPr/>
          <a:lstStyle/>
          <a:p>
            <a:endParaRPr lang="en-US"/>
          </a:p>
        </p:txBody>
      </p:sp>
      <p:sp>
        <p:nvSpPr>
          <p:cNvPr id="17" name="Shape 15"/>
          <p:cNvSpPr/>
          <p:nvPr/>
        </p:nvSpPr>
        <p:spPr>
          <a:xfrm>
            <a:off x="2468880" y="0"/>
            <a:ext cx="164592" cy="164592"/>
          </a:xfrm>
          <a:prstGeom prst="rect">
            <a:avLst/>
          </a:prstGeom>
          <a:solidFill>
            <a:srgbClr val="E42C58"/>
          </a:solidFill>
          <a:ln/>
        </p:spPr>
        <p:txBody>
          <a:bodyPr/>
          <a:lstStyle/>
          <a:p>
            <a:endParaRPr lang="en-US"/>
          </a:p>
        </p:txBody>
      </p:sp>
      <p:sp>
        <p:nvSpPr>
          <p:cNvPr id="18" name="Shape 16"/>
          <p:cNvSpPr/>
          <p:nvPr/>
        </p:nvSpPr>
        <p:spPr>
          <a:xfrm>
            <a:off x="2633472" y="0"/>
            <a:ext cx="164592" cy="164592"/>
          </a:xfrm>
          <a:prstGeom prst="rect">
            <a:avLst/>
          </a:prstGeom>
          <a:solidFill>
            <a:srgbClr val="12274D"/>
          </a:solidFill>
          <a:ln/>
        </p:spPr>
        <p:txBody>
          <a:bodyPr/>
          <a:lstStyle/>
          <a:p>
            <a:endParaRPr lang="en-US"/>
          </a:p>
        </p:txBody>
      </p:sp>
      <p:sp>
        <p:nvSpPr>
          <p:cNvPr id="19" name="Shape 17"/>
          <p:cNvSpPr/>
          <p:nvPr/>
        </p:nvSpPr>
        <p:spPr>
          <a:xfrm>
            <a:off x="2798064" y="0"/>
            <a:ext cx="164592" cy="164592"/>
          </a:xfrm>
          <a:prstGeom prst="rect">
            <a:avLst/>
          </a:prstGeom>
          <a:solidFill>
            <a:srgbClr val="E42C58"/>
          </a:solidFill>
          <a:ln/>
        </p:spPr>
        <p:txBody>
          <a:bodyPr/>
          <a:lstStyle/>
          <a:p>
            <a:endParaRPr lang="en-US"/>
          </a:p>
        </p:txBody>
      </p:sp>
      <p:sp>
        <p:nvSpPr>
          <p:cNvPr id="20" name="Shape 18"/>
          <p:cNvSpPr/>
          <p:nvPr/>
        </p:nvSpPr>
        <p:spPr>
          <a:xfrm>
            <a:off x="2962656" y="0"/>
            <a:ext cx="164592" cy="164592"/>
          </a:xfrm>
          <a:prstGeom prst="rect">
            <a:avLst/>
          </a:prstGeom>
          <a:solidFill>
            <a:srgbClr val="12274D"/>
          </a:solidFill>
          <a:ln/>
        </p:spPr>
        <p:txBody>
          <a:bodyPr/>
          <a:lstStyle/>
          <a:p>
            <a:endParaRPr lang="en-US"/>
          </a:p>
        </p:txBody>
      </p:sp>
      <p:sp>
        <p:nvSpPr>
          <p:cNvPr id="21" name="Shape 19"/>
          <p:cNvSpPr/>
          <p:nvPr/>
        </p:nvSpPr>
        <p:spPr>
          <a:xfrm>
            <a:off x="3127248" y="0"/>
            <a:ext cx="164592" cy="164592"/>
          </a:xfrm>
          <a:prstGeom prst="rect">
            <a:avLst/>
          </a:prstGeom>
          <a:solidFill>
            <a:srgbClr val="E42C58"/>
          </a:solidFill>
          <a:ln/>
        </p:spPr>
        <p:txBody>
          <a:bodyPr/>
          <a:lstStyle/>
          <a:p>
            <a:endParaRPr lang="en-US"/>
          </a:p>
        </p:txBody>
      </p:sp>
      <p:sp>
        <p:nvSpPr>
          <p:cNvPr id="22" name="Shape 20"/>
          <p:cNvSpPr/>
          <p:nvPr/>
        </p:nvSpPr>
        <p:spPr>
          <a:xfrm>
            <a:off x="3291840" y="0"/>
            <a:ext cx="164592" cy="164592"/>
          </a:xfrm>
          <a:prstGeom prst="rect">
            <a:avLst/>
          </a:prstGeom>
          <a:solidFill>
            <a:srgbClr val="12274D"/>
          </a:solidFill>
          <a:ln/>
        </p:spPr>
        <p:txBody>
          <a:bodyPr/>
          <a:lstStyle/>
          <a:p>
            <a:endParaRPr lang="en-US"/>
          </a:p>
        </p:txBody>
      </p:sp>
      <p:sp>
        <p:nvSpPr>
          <p:cNvPr id="23" name="Shape 21"/>
          <p:cNvSpPr/>
          <p:nvPr/>
        </p:nvSpPr>
        <p:spPr>
          <a:xfrm>
            <a:off x="3456432" y="0"/>
            <a:ext cx="164592" cy="164592"/>
          </a:xfrm>
          <a:prstGeom prst="rect">
            <a:avLst/>
          </a:prstGeom>
          <a:solidFill>
            <a:srgbClr val="E42C58"/>
          </a:solidFill>
          <a:ln/>
        </p:spPr>
        <p:txBody>
          <a:bodyPr/>
          <a:lstStyle/>
          <a:p>
            <a:endParaRPr lang="en-US"/>
          </a:p>
        </p:txBody>
      </p:sp>
      <p:sp>
        <p:nvSpPr>
          <p:cNvPr id="24" name="Shape 22"/>
          <p:cNvSpPr/>
          <p:nvPr/>
        </p:nvSpPr>
        <p:spPr>
          <a:xfrm>
            <a:off x="3621024" y="0"/>
            <a:ext cx="164592" cy="164592"/>
          </a:xfrm>
          <a:prstGeom prst="rect">
            <a:avLst/>
          </a:prstGeom>
          <a:solidFill>
            <a:srgbClr val="12274D"/>
          </a:solidFill>
          <a:ln/>
        </p:spPr>
        <p:txBody>
          <a:bodyPr/>
          <a:lstStyle/>
          <a:p>
            <a:endParaRPr lang="en-US"/>
          </a:p>
        </p:txBody>
      </p:sp>
      <p:sp>
        <p:nvSpPr>
          <p:cNvPr id="25" name="Shape 23"/>
          <p:cNvSpPr/>
          <p:nvPr/>
        </p:nvSpPr>
        <p:spPr>
          <a:xfrm>
            <a:off x="3785616" y="0"/>
            <a:ext cx="164592" cy="164592"/>
          </a:xfrm>
          <a:prstGeom prst="rect">
            <a:avLst/>
          </a:prstGeom>
          <a:solidFill>
            <a:srgbClr val="E42C58"/>
          </a:solidFill>
          <a:ln/>
        </p:spPr>
        <p:txBody>
          <a:bodyPr/>
          <a:lstStyle/>
          <a:p>
            <a:endParaRPr lang="en-US"/>
          </a:p>
        </p:txBody>
      </p:sp>
      <p:sp>
        <p:nvSpPr>
          <p:cNvPr id="26" name="Shape 24"/>
          <p:cNvSpPr/>
          <p:nvPr/>
        </p:nvSpPr>
        <p:spPr>
          <a:xfrm>
            <a:off x="3950208" y="0"/>
            <a:ext cx="164592" cy="164592"/>
          </a:xfrm>
          <a:prstGeom prst="rect">
            <a:avLst/>
          </a:prstGeom>
          <a:solidFill>
            <a:srgbClr val="12274D"/>
          </a:solidFill>
          <a:ln/>
        </p:spPr>
        <p:txBody>
          <a:bodyPr/>
          <a:lstStyle/>
          <a:p>
            <a:endParaRPr lang="en-US"/>
          </a:p>
        </p:txBody>
      </p:sp>
      <p:sp>
        <p:nvSpPr>
          <p:cNvPr id="27" name="Shape 25"/>
          <p:cNvSpPr/>
          <p:nvPr/>
        </p:nvSpPr>
        <p:spPr>
          <a:xfrm>
            <a:off x="4114800" y="0"/>
            <a:ext cx="164592" cy="164592"/>
          </a:xfrm>
          <a:prstGeom prst="rect">
            <a:avLst/>
          </a:prstGeom>
          <a:solidFill>
            <a:srgbClr val="E42C58"/>
          </a:solidFill>
          <a:ln/>
        </p:spPr>
        <p:txBody>
          <a:bodyPr/>
          <a:lstStyle/>
          <a:p>
            <a:endParaRPr lang="en-US"/>
          </a:p>
        </p:txBody>
      </p:sp>
      <p:sp>
        <p:nvSpPr>
          <p:cNvPr id="28" name="Shape 26"/>
          <p:cNvSpPr/>
          <p:nvPr/>
        </p:nvSpPr>
        <p:spPr>
          <a:xfrm>
            <a:off x="4279392" y="0"/>
            <a:ext cx="164592" cy="164592"/>
          </a:xfrm>
          <a:prstGeom prst="rect">
            <a:avLst/>
          </a:prstGeom>
          <a:solidFill>
            <a:srgbClr val="12274D"/>
          </a:solidFill>
          <a:ln/>
        </p:spPr>
        <p:txBody>
          <a:bodyPr/>
          <a:lstStyle/>
          <a:p>
            <a:endParaRPr lang="en-US"/>
          </a:p>
        </p:txBody>
      </p:sp>
      <p:sp>
        <p:nvSpPr>
          <p:cNvPr id="29" name="Shape 27"/>
          <p:cNvSpPr/>
          <p:nvPr/>
        </p:nvSpPr>
        <p:spPr>
          <a:xfrm>
            <a:off x="4443984" y="0"/>
            <a:ext cx="164592" cy="164592"/>
          </a:xfrm>
          <a:prstGeom prst="rect">
            <a:avLst/>
          </a:prstGeom>
          <a:solidFill>
            <a:srgbClr val="E42C58"/>
          </a:solidFill>
          <a:ln/>
        </p:spPr>
        <p:txBody>
          <a:bodyPr/>
          <a:lstStyle/>
          <a:p>
            <a:endParaRPr lang="en-US"/>
          </a:p>
        </p:txBody>
      </p:sp>
      <p:sp>
        <p:nvSpPr>
          <p:cNvPr id="30" name="Shape 28"/>
          <p:cNvSpPr/>
          <p:nvPr/>
        </p:nvSpPr>
        <p:spPr>
          <a:xfrm>
            <a:off x="4608576" y="0"/>
            <a:ext cx="164592" cy="164592"/>
          </a:xfrm>
          <a:prstGeom prst="rect">
            <a:avLst/>
          </a:prstGeom>
          <a:solidFill>
            <a:srgbClr val="12274D"/>
          </a:solidFill>
          <a:ln/>
        </p:spPr>
        <p:txBody>
          <a:bodyPr/>
          <a:lstStyle/>
          <a:p>
            <a:endParaRPr lang="en-US"/>
          </a:p>
        </p:txBody>
      </p:sp>
      <p:sp>
        <p:nvSpPr>
          <p:cNvPr id="31" name="Shape 29"/>
          <p:cNvSpPr/>
          <p:nvPr/>
        </p:nvSpPr>
        <p:spPr>
          <a:xfrm>
            <a:off x="4773168" y="0"/>
            <a:ext cx="164592" cy="164592"/>
          </a:xfrm>
          <a:prstGeom prst="rect">
            <a:avLst/>
          </a:prstGeom>
          <a:solidFill>
            <a:srgbClr val="E42C58"/>
          </a:solidFill>
          <a:ln/>
        </p:spPr>
        <p:txBody>
          <a:bodyPr/>
          <a:lstStyle/>
          <a:p>
            <a:endParaRPr lang="en-US"/>
          </a:p>
        </p:txBody>
      </p:sp>
      <p:sp>
        <p:nvSpPr>
          <p:cNvPr id="32" name="Shape 30"/>
          <p:cNvSpPr/>
          <p:nvPr/>
        </p:nvSpPr>
        <p:spPr>
          <a:xfrm>
            <a:off x="4937760" y="0"/>
            <a:ext cx="164592" cy="164592"/>
          </a:xfrm>
          <a:prstGeom prst="rect">
            <a:avLst/>
          </a:prstGeom>
          <a:solidFill>
            <a:srgbClr val="12274D"/>
          </a:solidFill>
          <a:ln/>
        </p:spPr>
        <p:txBody>
          <a:bodyPr/>
          <a:lstStyle/>
          <a:p>
            <a:endParaRPr lang="en-US"/>
          </a:p>
        </p:txBody>
      </p:sp>
      <p:sp>
        <p:nvSpPr>
          <p:cNvPr id="33" name="Shape 31"/>
          <p:cNvSpPr/>
          <p:nvPr/>
        </p:nvSpPr>
        <p:spPr>
          <a:xfrm>
            <a:off x="5102352" y="0"/>
            <a:ext cx="164592" cy="164592"/>
          </a:xfrm>
          <a:prstGeom prst="rect">
            <a:avLst/>
          </a:prstGeom>
          <a:solidFill>
            <a:srgbClr val="E42C58"/>
          </a:solidFill>
          <a:ln/>
        </p:spPr>
        <p:txBody>
          <a:bodyPr/>
          <a:lstStyle/>
          <a:p>
            <a:endParaRPr lang="en-US"/>
          </a:p>
        </p:txBody>
      </p:sp>
      <p:sp>
        <p:nvSpPr>
          <p:cNvPr id="34" name="Shape 32"/>
          <p:cNvSpPr/>
          <p:nvPr/>
        </p:nvSpPr>
        <p:spPr>
          <a:xfrm>
            <a:off x="5266944" y="0"/>
            <a:ext cx="164592" cy="164592"/>
          </a:xfrm>
          <a:prstGeom prst="rect">
            <a:avLst/>
          </a:prstGeom>
          <a:solidFill>
            <a:srgbClr val="12274D"/>
          </a:solidFill>
          <a:ln/>
        </p:spPr>
        <p:txBody>
          <a:bodyPr/>
          <a:lstStyle/>
          <a:p>
            <a:endParaRPr lang="en-US"/>
          </a:p>
        </p:txBody>
      </p:sp>
      <p:sp>
        <p:nvSpPr>
          <p:cNvPr id="35" name="Shape 33"/>
          <p:cNvSpPr/>
          <p:nvPr/>
        </p:nvSpPr>
        <p:spPr>
          <a:xfrm>
            <a:off x="5431536" y="0"/>
            <a:ext cx="164592" cy="164592"/>
          </a:xfrm>
          <a:prstGeom prst="rect">
            <a:avLst/>
          </a:prstGeom>
          <a:solidFill>
            <a:srgbClr val="E42C58"/>
          </a:solidFill>
          <a:ln/>
        </p:spPr>
        <p:txBody>
          <a:bodyPr/>
          <a:lstStyle/>
          <a:p>
            <a:endParaRPr lang="en-US"/>
          </a:p>
        </p:txBody>
      </p:sp>
      <p:sp>
        <p:nvSpPr>
          <p:cNvPr id="36" name="Shape 34"/>
          <p:cNvSpPr/>
          <p:nvPr/>
        </p:nvSpPr>
        <p:spPr>
          <a:xfrm>
            <a:off x="5596128" y="0"/>
            <a:ext cx="164592" cy="164592"/>
          </a:xfrm>
          <a:prstGeom prst="rect">
            <a:avLst/>
          </a:prstGeom>
          <a:solidFill>
            <a:srgbClr val="12274D"/>
          </a:solidFill>
          <a:ln/>
        </p:spPr>
        <p:txBody>
          <a:bodyPr/>
          <a:lstStyle/>
          <a:p>
            <a:endParaRPr lang="en-US"/>
          </a:p>
        </p:txBody>
      </p:sp>
      <p:sp>
        <p:nvSpPr>
          <p:cNvPr id="37" name="Shape 35"/>
          <p:cNvSpPr/>
          <p:nvPr/>
        </p:nvSpPr>
        <p:spPr>
          <a:xfrm>
            <a:off x="5760720" y="0"/>
            <a:ext cx="164592" cy="164592"/>
          </a:xfrm>
          <a:prstGeom prst="rect">
            <a:avLst/>
          </a:prstGeom>
          <a:solidFill>
            <a:srgbClr val="E42C58"/>
          </a:solidFill>
          <a:ln/>
        </p:spPr>
        <p:txBody>
          <a:bodyPr/>
          <a:lstStyle/>
          <a:p>
            <a:endParaRPr lang="en-US"/>
          </a:p>
        </p:txBody>
      </p:sp>
      <p:sp>
        <p:nvSpPr>
          <p:cNvPr id="38" name="Shape 36"/>
          <p:cNvSpPr/>
          <p:nvPr/>
        </p:nvSpPr>
        <p:spPr>
          <a:xfrm>
            <a:off x="5925312" y="0"/>
            <a:ext cx="164592" cy="164592"/>
          </a:xfrm>
          <a:prstGeom prst="rect">
            <a:avLst/>
          </a:prstGeom>
          <a:solidFill>
            <a:srgbClr val="12274D"/>
          </a:solidFill>
          <a:ln/>
        </p:spPr>
        <p:txBody>
          <a:bodyPr/>
          <a:lstStyle/>
          <a:p>
            <a:endParaRPr lang="en-US"/>
          </a:p>
        </p:txBody>
      </p:sp>
      <p:sp>
        <p:nvSpPr>
          <p:cNvPr id="39" name="Shape 37"/>
          <p:cNvSpPr/>
          <p:nvPr/>
        </p:nvSpPr>
        <p:spPr>
          <a:xfrm>
            <a:off x="6089904" y="0"/>
            <a:ext cx="164592" cy="164592"/>
          </a:xfrm>
          <a:prstGeom prst="rect">
            <a:avLst/>
          </a:prstGeom>
          <a:solidFill>
            <a:srgbClr val="E42C58"/>
          </a:solidFill>
          <a:ln/>
        </p:spPr>
        <p:txBody>
          <a:bodyPr/>
          <a:lstStyle/>
          <a:p>
            <a:endParaRPr lang="en-US"/>
          </a:p>
        </p:txBody>
      </p:sp>
      <p:sp>
        <p:nvSpPr>
          <p:cNvPr id="40" name="Shape 38"/>
          <p:cNvSpPr/>
          <p:nvPr/>
        </p:nvSpPr>
        <p:spPr>
          <a:xfrm>
            <a:off x="6254496" y="0"/>
            <a:ext cx="164592" cy="164592"/>
          </a:xfrm>
          <a:prstGeom prst="rect">
            <a:avLst/>
          </a:prstGeom>
          <a:solidFill>
            <a:srgbClr val="12274D"/>
          </a:solidFill>
          <a:ln/>
        </p:spPr>
        <p:txBody>
          <a:bodyPr/>
          <a:lstStyle/>
          <a:p>
            <a:endParaRPr lang="en-US"/>
          </a:p>
        </p:txBody>
      </p:sp>
      <p:sp>
        <p:nvSpPr>
          <p:cNvPr id="41" name="Shape 39"/>
          <p:cNvSpPr/>
          <p:nvPr/>
        </p:nvSpPr>
        <p:spPr>
          <a:xfrm>
            <a:off x="6419088" y="0"/>
            <a:ext cx="164592" cy="164592"/>
          </a:xfrm>
          <a:prstGeom prst="rect">
            <a:avLst/>
          </a:prstGeom>
          <a:solidFill>
            <a:srgbClr val="E42C58"/>
          </a:solidFill>
          <a:ln/>
        </p:spPr>
        <p:txBody>
          <a:bodyPr/>
          <a:lstStyle/>
          <a:p>
            <a:endParaRPr lang="en-US"/>
          </a:p>
        </p:txBody>
      </p:sp>
      <p:sp>
        <p:nvSpPr>
          <p:cNvPr id="42" name="Shape 40"/>
          <p:cNvSpPr/>
          <p:nvPr/>
        </p:nvSpPr>
        <p:spPr>
          <a:xfrm>
            <a:off x="6583680" y="0"/>
            <a:ext cx="164592" cy="164592"/>
          </a:xfrm>
          <a:prstGeom prst="rect">
            <a:avLst/>
          </a:prstGeom>
          <a:solidFill>
            <a:srgbClr val="12274D"/>
          </a:solidFill>
          <a:ln/>
        </p:spPr>
        <p:txBody>
          <a:bodyPr/>
          <a:lstStyle/>
          <a:p>
            <a:endParaRPr lang="en-US"/>
          </a:p>
        </p:txBody>
      </p:sp>
      <p:sp>
        <p:nvSpPr>
          <p:cNvPr id="43" name="Shape 41"/>
          <p:cNvSpPr/>
          <p:nvPr/>
        </p:nvSpPr>
        <p:spPr>
          <a:xfrm>
            <a:off x="6748272" y="0"/>
            <a:ext cx="164592" cy="164592"/>
          </a:xfrm>
          <a:prstGeom prst="rect">
            <a:avLst/>
          </a:prstGeom>
          <a:solidFill>
            <a:srgbClr val="E42C58"/>
          </a:solidFill>
          <a:ln/>
        </p:spPr>
        <p:txBody>
          <a:bodyPr/>
          <a:lstStyle/>
          <a:p>
            <a:endParaRPr lang="en-US"/>
          </a:p>
        </p:txBody>
      </p:sp>
      <p:sp>
        <p:nvSpPr>
          <p:cNvPr id="44" name="Shape 42"/>
          <p:cNvSpPr/>
          <p:nvPr/>
        </p:nvSpPr>
        <p:spPr>
          <a:xfrm>
            <a:off x="6912864" y="0"/>
            <a:ext cx="164592" cy="164592"/>
          </a:xfrm>
          <a:prstGeom prst="rect">
            <a:avLst/>
          </a:prstGeom>
          <a:solidFill>
            <a:srgbClr val="12274D"/>
          </a:solidFill>
          <a:ln/>
        </p:spPr>
        <p:txBody>
          <a:bodyPr/>
          <a:lstStyle/>
          <a:p>
            <a:endParaRPr lang="en-US"/>
          </a:p>
        </p:txBody>
      </p:sp>
      <p:sp>
        <p:nvSpPr>
          <p:cNvPr id="45" name="Shape 43"/>
          <p:cNvSpPr/>
          <p:nvPr/>
        </p:nvSpPr>
        <p:spPr>
          <a:xfrm>
            <a:off x="7077456" y="0"/>
            <a:ext cx="164592" cy="164592"/>
          </a:xfrm>
          <a:prstGeom prst="rect">
            <a:avLst/>
          </a:prstGeom>
          <a:solidFill>
            <a:srgbClr val="E42C58"/>
          </a:solidFill>
          <a:ln/>
        </p:spPr>
        <p:txBody>
          <a:bodyPr/>
          <a:lstStyle/>
          <a:p>
            <a:endParaRPr lang="en-US"/>
          </a:p>
        </p:txBody>
      </p:sp>
      <p:sp>
        <p:nvSpPr>
          <p:cNvPr id="46" name="Shape 44"/>
          <p:cNvSpPr/>
          <p:nvPr/>
        </p:nvSpPr>
        <p:spPr>
          <a:xfrm>
            <a:off x="7242048" y="0"/>
            <a:ext cx="164592" cy="164592"/>
          </a:xfrm>
          <a:prstGeom prst="rect">
            <a:avLst/>
          </a:prstGeom>
          <a:solidFill>
            <a:srgbClr val="12274D"/>
          </a:solidFill>
          <a:ln/>
        </p:spPr>
        <p:txBody>
          <a:bodyPr/>
          <a:lstStyle/>
          <a:p>
            <a:endParaRPr lang="en-US"/>
          </a:p>
        </p:txBody>
      </p:sp>
      <p:sp>
        <p:nvSpPr>
          <p:cNvPr id="47" name="Shape 45"/>
          <p:cNvSpPr/>
          <p:nvPr/>
        </p:nvSpPr>
        <p:spPr>
          <a:xfrm>
            <a:off x="7406640" y="0"/>
            <a:ext cx="164592" cy="164592"/>
          </a:xfrm>
          <a:prstGeom prst="rect">
            <a:avLst/>
          </a:prstGeom>
          <a:solidFill>
            <a:srgbClr val="E42C58"/>
          </a:solidFill>
          <a:ln/>
        </p:spPr>
        <p:txBody>
          <a:bodyPr/>
          <a:lstStyle/>
          <a:p>
            <a:endParaRPr lang="en-US"/>
          </a:p>
        </p:txBody>
      </p:sp>
      <p:sp>
        <p:nvSpPr>
          <p:cNvPr id="48" name="Shape 46"/>
          <p:cNvSpPr/>
          <p:nvPr/>
        </p:nvSpPr>
        <p:spPr>
          <a:xfrm>
            <a:off x="7571232" y="0"/>
            <a:ext cx="164592" cy="164592"/>
          </a:xfrm>
          <a:prstGeom prst="rect">
            <a:avLst/>
          </a:prstGeom>
          <a:solidFill>
            <a:srgbClr val="12274D"/>
          </a:solidFill>
          <a:ln/>
        </p:spPr>
        <p:txBody>
          <a:bodyPr/>
          <a:lstStyle/>
          <a:p>
            <a:endParaRPr lang="en-US"/>
          </a:p>
        </p:txBody>
      </p:sp>
      <p:sp>
        <p:nvSpPr>
          <p:cNvPr id="49" name="Shape 47"/>
          <p:cNvSpPr/>
          <p:nvPr/>
        </p:nvSpPr>
        <p:spPr>
          <a:xfrm>
            <a:off x="7735824" y="0"/>
            <a:ext cx="164592" cy="164592"/>
          </a:xfrm>
          <a:prstGeom prst="rect">
            <a:avLst/>
          </a:prstGeom>
          <a:solidFill>
            <a:srgbClr val="E42C58"/>
          </a:solidFill>
          <a:ln/>
        </p:spPr>
        <p:txBody>
          <a:bodyPr/>
          <a:lstStyle/>
          <a:p>
            <a:endParaRPr lang="en-US"/>
          </a:p>
        </p:txBody>
      </p:sp>
      <p:sp>
        <p:nvSpPr>
          <p:cNvPr id="50" name="Shape 48"/>
          <p:cNvSpPr/>
          <p:nvPr/>
        </p:nvSpPr>
        <p:spPr>
          <a:xfrm>
            <a:off x="7900416" y="0"/>
            <a:ext cx="164592" cy="164592"/>
          </a:xfrm>
          <a:prstGeom prst="rect">
            <a:avLst/>
          </a:prstGeom>
          <a:solidFill>
            <a:srgbClr val="12274D"/>
          </a:solidFill>
          <a:ln/>
        </p:spPr>
        <p:txBody>
          <a:bodyPr/>
          <a:lstStyle/>
          <a:p>
            <a:endParaRPr lang="en-US"/>
          </a:p>
        </p:txBody>
      </p:sp>
      <p:sp>
        <p:nvSpPr>
          <p:cNvPr id="51" name="Shape 49"/>
          <p:cNvSpPr/>
          <p:nvPr/>
        </p:nvSpPr>
        <p:spPr>
          <a:xfrm>
            <a:off x="8065008" y="0"/>
            <a:ext cx="164592" cy="164592"/>
          </a:xfrm>
          <a:prstGeom prst="rect">
            <a:avLst/>
          </a:prstGeom>
          <a:solidFill>
            <a:srgbClr val="E42C58"/>
          </a:solidFill>
          <a:ln/>
        </p:spPr>
        <p:txBody>
          <a:bodyPr/>
          <a:lstStyle/>
          <a:p>
            <a:endParaRPr lang="en-US"/>
          </a:p>
        </p:txBody>
      </p:sp>
      <p:sp>
        <p:nvSpPr>
          <p:cNvPr id="52" name="Shape 50"/>
          <p:cNvSpPr/>
          <p:nvPr/>
        </p:nvSpPr>
        <p:spPr>
          <a:xfrm>
            <a:off x="8229600" y="0"/>
            <a:ext cx="164592" cy="164592"/>
          </a:xfrm>
          <a:prstGeom prst="rect">
            <a:avLst/>
          </a:prstGeom>
          <a:solidFill>
            <a:srgbClr val="12274D"/>
          </a:solidFill>
          <a:ln/>
        </p:spPr>
        <p:txBody>
          <a:bodyPr/>
          <a:lstStyle/>
          <a:p>
            <a:endParaRPr lang="en-US"/>
          </a:p>
        </p:txBody>
      </p:sp>
      <p:sp>
        <p:nvSpPr>
          <p:cNvPr id="53" name="Shape 51"/>
          <p:cNvSpPr/>
          <p:nvPr/>
        </p:nvSpPr>
        <p:spPr>
          <a:xfrm>
            <a:off x="8394192" y="0"/>
            <a:ext cx="164592" cy="164592"/>
          </a:xfrm>
          <a:prstGeom prst="rect">
            <a:avLst/>
          </a:prstGeom>
          <a:solidFill>
            <a:srgbClr val="E42C58"/>
          </a:solidFill>
          <a:ln/>
        </p:spPr>
        <p:txBody>
          <a:bodyPr/>
          <a:lstStyle/>
          <a:p>
            <a:endParaRPr lang="en-US"/>
          </a:p>
        </p:txBody>
      </p:sp>
      <p:sp>
        <p:nvSpPr>
          <p:cNvPr id="54" name="Shape 52"/>
          <p:cNvSpPr/>
          <p:nvPr/>
        </p:nvSpPr>
        <p:spPr>
          <a:xfrm>
            <a:off x="8558784" y="0"/>
            <a:ext cx="164592" cy="164592"/>
          </a:xfrm>
          <a:prstGeom prst="rect">
            <a:avLst/>
          </a:prstGeom>
          <a:solidFill>
            <a:srgbClr val="12274D"/>
          </a:solidFill>
          <a:ln/>
        </p:spPr>
        <p:txBody>
          <a:bodyPr/>
          <a:lstStyle/>
          <a:p>
            <a:endParaRPr lang="en-US"/>
          </a:p>
        </p:txBody>
      </p:sp>
      <p:sp>
        <p:nvSpPr>
          <p:cNvPr id="55" name="Shape 53"/>
          <p:cNvSpPr/>
          <p:nvPr/>
        </p:nvSpPr>
        <p:spPr>
          <a:xfrm>
            <a:off x="8723376" y="0"/>
            <a:ext cx="164592" cy="164592"/>
          </a:xfrm>
          <a:prstGeom prst="rect">
            <a:avLst/>
          </a:prstGeom>
          <a:solidFill>
            <a:srgbClr val="E42C58"/>
          </a:solidFill>
          <a:ln/>
        </p:spPr>
        <p:txBody>
          <a:bodyPr/>
          <a:lstStyle/>
          <a:p>
            <a:endParaRPr lang="en-US"/>
          </a:p>
        </p:txBody>
      </p:sp>
      <p:sp>
        <p:nvSpPr>
          <p:cNvPr id="56" name="Shape 54"/>
          <p:cNvSpPr/>
          <p:nvPr/>
        </p:nvSpPr>
        <p:spPr>
          <a:xfrm>
            <a:off x="8887968" y="0"/>
            <a:ext cx="164592" cy="164592"/>
          </a:xfrm>
          <a:prstGeom prst="rect">
            <a:avLst/>
          </a:prstGeom>
          <a:solidFill>
            <a:srgbClr val="12274D"/>
          </a:solidFill>
          <a:ln/>
        </p:spPr>
        <p:txBody>
          <a:bodyPr/>
          <a:lstStyle/>
          <a:p>
            <a:endParaRPr lang="en-US"/>
          </a:p>
        </p:txBody>
      </p:sp>
      <p:sp>
        <p:nvSpPr>
          <p:cNvPr id="57" name="Shape 55"/>
          <p:cNvSpPr/>
          <p:nvPr/>
        </p:nvSpPr>
        <p:spPr>
          <a:xfrm>
            <a:off x="9052560" y="0"/>
            <a:ext cx="164592" cy="164592"/>
          </a:xfrm>
          <a:prstGeom prst="rect">
            <a:avLst/>
          </a:prstGeom>
          <a:solidFill>
            <a:srgbClr val="E42C58"/>
          </a:solidFill>
          <a:ln/>
        </p:spPr>
        <p:txBody>
          <a:bodyPr/>
          <a:lstStyle/>
          <a:p>
            <a:endParaRPr lang="en-US"/>
          </a:p>
        </p:txBody>
      </p:sp>
      <p:sp>
        <p:nvSpPr>
          <p:cNvPr id="58" name="Shape 56"/>
          <p:cNvSpPr/>
          <p:nvPr/>
        </p:nvSpPr>
        <p:spPr>
          <a:xfrm>
            <a:off x="9217152" y="0"/>
            <a:ext cx="164592" cy="164592"/>
          </a:xfrm>
          <a:prstGeom prst="rect">
            <a:avLst/>
          </a:prstGeom>
          <a:solidFill>
            <a:srgbClr val="12274D"/>
          </a:solidFill>
          <a:ln/>
        </p:spPr>
        <p:txBody>
          <a:bodyPr/>
          <a:lstStyle/>
          <a:p>
            <a:endParaRPr lang="en-US"/>
          </a:p>
        </p:txBody>
      </p:sp>
      <p:sp>
        <p:nvSpPr>
          <p:cNvPr id="59" name="Shape 57"/>
          <p:cNvSpPr/>
          <p:nvPr/>
        </p:nvSpPr>
        <p:spPr>
          <a:xfrm>
            <a:off x="9381744" y="0"/>
            <a:ext cx="164592" cy="164592"/>
          </a:xfrm>
          <a:prstGeom prst="rect">
            <a:avLst/>
          </a:prstGeom>
          <a:solidFill>
            <a:srgbClr val="E42C58"/>
          </a:solidFill>
          <a:ln/>
        </p:spPr>
        <p:txBody>
          <a:bodyPr/>
          <a:lstStyle/>
          <a:p>
            <a:endParaRPr lang="en-US"/>
          </a:p>
        </p:txBody>
      </p:sp>
      <p:sp>
        <p:nvSpPr>
          <p:cNvPr id="60" name="Shape 58"/>
          <p:cNvSpPr/>
          <p:nvPr/>
        </p:nvSpPr>
        <p:spPr>
          <a:xfrm>
            <a:off x="9546336" y="0"/>
            <a:ext cx="164592" cy="164592"/>
          </a:xfrm>
          <a:prstGeom prst="rect">
            <a:avLst/>
          </a:prstGeom>
          <a:solidFill>
            <a:srgbClr val="12274D"/>
          </a:solidFill>
          <a:ln/>
        </p:spPr>
        <p:txBody>
          <a:bodyPr/>
          <a:lstStyle/>
          <a:p>
            <a:endParaRPr lang="en-US"/>
          </a:p>
        </p:txBody>
      </p:sp>
      <p:sp>
        <p:nvSpPr>
          <p:cNvPr id="61" name="Shape 59"/>
          <p:cNvSpPr/>
          <p:nvPr/>
        </p:nvSpPr>
        <p:spPr>
          <a:xfrm>
            <a:off x="9710928" y="0"/>
            <a:ext cx="164592" cy="164592"/>
          </a:xfrm>
          <a:prstGeom prst="rect">
            <a:avLst/>
          </a:prstGeom>
          <a:solidFill>
            <a:srgbClr val="E42C58"/>
          </a:solidFill>
          <a:ln/>
        </p:spPr>
        <p:txBody>
          <a:bodyPr/>
          <a:lstStyle/>
          <a:p>
            <a:endParaRPr lang="en-US"/>
          </a:p>
        </p:txBody>
      </p:sp>
      <p:sp>
        <p:nvSpPr>
          <p:cNvPr id="62" name="Shape 60"/>
          <p:cNvSpPr/>
          <p:nvPr/>
        </p:nvSpPr>
        <p:spPr>
          <a:xfrm>
            <a:off x="9875520" y="0"/>
            <a:ext cx="164592" cy="164592"/>
          </a:xfrm>
          <a:prstGeom prst="rect">
            <a:avLst/>
          </a:prstGeom>
          <a:solidFill>
            <a:srgbClr val="12274D"/>
          </a:solidFill>
          <a:ln/>
        </p:spPr>
        <p:txBody>
          <a:bodyPr/>
          <a:lstStyle/>
          <a:p>
            <a:endParaRPr lang="en-US"/>
          </a:p>
        </p:txBody>
      </p:sp>
      <p:sp>
        <p:nvSpPr>
          <p:cNvPr id="63" name="Shape 61"/>
          <p:cNvSpPr/>
          <p:nvPr/>
        </p:nvSpPr>
        <p:spPr>
          <a:xfrm>
            <a:off x="10040112" y="0"/>
            <a:ext cx="164592" cy="164592"/>
          </a:xfrm>
          <a:prstGeom prst="rect">
            <a:avLst/>
          </a:prstGeom>
          <a:solidFill>
            <a:srgbClr val="E42C58"/>
          </a:solidFill>
          <a:ln/>
        </p:spPr>
        <p:txBody>
          <a:bodyPr/>
          <a:lstStyle/>
          <a:p>
            <a:endParaRPr lang="en-US"/>
          </a:p>
        </p:txBody>
      </p:sp>
      <p:sp>
        <p:nvSpPr>
          <p:cNvPr id="64" name="Shape 62"/>
          <p:cNvSpPr/>
          <p:nvPr/>
        </p:nvSpPr>
        <p:spPr>
          <a:xfrm>
            <a:off x="10204704" y="0"/>
            <a:ext cx="164592" cy="164592"/>
          </a:xfrm>
          <a:prstGeom prst="rect">
            <a:avLst/>
          </a:prstGeom>
          <a:solidFill>
            <a:srgbClr val="12274D"/>
          </a:solidFill>
          <a:ln/>
        </p:spPr>
        <p:txBody>
          <a:bodyPr/>
          <a:lstStyle/>
          <a:p>
            <a:endParaRPr lang="en-US"/>
          </a:p>
        </p:txBody>
      </p:sp>
      <p:sp>
        <p:nvSpPr>
          <p:cNvPr id="65" name="Shape 63"/>
          <p:cNvSpPr/>
          <p:nvPr/>
        </p:nvSpPr>
        <p:spPr>
          <a:xfrm>
            <a:off x="10369296" y="0"/>
            <a:ext cx="164592" cy="164592"/>
          </a:xfrm>
          <a:prstGeom prst="rect">
            <a:avLst/>
          </a:prstGeom>
          <a:solidFill>
            <a:srgbClr val="E42C58"/>
          </a:solidFill>
          <a:ln/>
        </p:spPr>
        <p:txBody>
          <a:bodyPr/>
          <a:lstStyle/>
          <a:p>
            <a:endParaRPr lang="en-US"/>
          </a:p>
        </p:txBody>
      </p:sp>
      <p:sp>
        <p:nvSpPr>
          <p:cNvPr id="66" name="Shape 64"/>
          <p:cNvSpPr/>
          <p:nvPr/>
        </p:nvSpPr>
        <p:spPr>
          <a:xfrm>
            <a:off x="10533888" y="0"/>
            <a:ext cx="164592" cy="164592"/>
          </a:xfrm>
          <a:prstGeom prst="rect">
            <a:avLst/>
          </a:prstGeom>
          <a:solidFill>
            <a:srgbClr val="12274D"/>
          </a:solidFill>
          <a:ln/>
        </p:spPr>
        <p:txBody>
          <a:bodyPr/>
          <a:lstStyle/>
          <a:p>
            <a:endParaRPr lang="en-US"/>
          </a:p>
        </p:txBody>
      </p:sp>
      <p:sp>
        <p:nvSpPr>
          <p:cNvPr id="67" name="Shape 65"/>
          <p:cNvSpPr/>
          <p:nvPr/>
        </p:nvSpPr>
        <p:spPr>
          <a:xfrm>
            <a:off x="10698480" y="0"/>
            <a:ext cx="164592" cy="164592"/>
          </a:xfrm>
          <a:prstGeom prst="rect">
            <a:avLst/>
          </a:prstGeom>
          <a:solidFill>
            <a:srgbClr val="E42C58"/>
          </a:solidFill>
          <a:ln/>
        </p:spPr>
        <p:txBody>
          <a:bodyPr/>
          <a:lstStyle/>
          <a:p>
            <a:endParaRPr lang="en-US"/>
          </a:p>
        </p:txBody>
      </p:sp>
      <p:sp>
        <p:nvSpPr>
          <p:cNvPr id="68" name="Shape 66"/>
          <p:cNvSpPr/>
          <p:nvPr/>
        </p:nvSpPr>
        <p:spPr>
          <a:xfrm>
            <a:off x="10863072" y="0"/>
            <a:ext cx="164592" cy="164592"/>
          </a:xfrm>
          <a:prstGeom prst="rect">
            <a:avLst/>
          </a:prstGeom>
          <a:solidFill>
            <a:srgbClr val="12274D"/>
          </a:solidFill>
          <a:ln/>
        </p:spPr>
        <p:txBody>
          <a:bodyPr/>
          <a:lstStyle/>
          <a:p>
            <a:endParaRPr lang="en-US"/>
          </a:p>
        </p:txBody>
      </p:sp>
      <p:sp>
        <p:nvSpPr>
          <p:cNvPr id="69" name="Shape 67"/>
          <p:cNvSpPr/>
          <p:nvPr/>
        </p:nvSpPr>
        <p:spPr>
          <a:xfrm>
            <a:off x="11027664" y="0"/>
            <a:ext cx="164592" cy="164592"/>
          </a:xfrm>
          <a:prstGeom prst="rect">
            <a:avLst/>
          </a:prstGeom>
          <a:solidFill>
            <a:srgbClr val="E42C58"/>
          </a:solidFill>
          <a:ln/>
        </p:spPr>
        <p:txBody>
          <a:bodyPr/>
          <a:lstStyle/>
          <a:p>
            <a:endParaRPr lang="en-US"/>
          </a:p>
        </p:txBody>
      </p:sp>
      <p:sp>
        <p:nvSpPr>
          <p:cNvPr id="70" name="Shape 68"/>
          <p:cNvSpPr/>
          <p:nvPr/>
        </p:nvSpPr>
        <p:spPr>
          <a:xfrm>
            <a:off x="11192256" y="0"/>
            <a:ext cx="164592" cy="164592"/>
          </a:xfrm>
          <a:prstGeom prst="rect">
            <a:avLst/>
          </a:prstGeom>
          <a:solidFill>
            <a:srgbClr val="12274D"/>
          </a:solidFill>
          <a:ln/>
        </p:spPr>
        <p:txBody>
          <a:bodyPr/>
          <a:lstStyle/>
          <a:p>
            <a:endParaRPr lang="en-US"/>
          </a:p>
        </p:txBody>
      </p:sp>
      <p:sp>
        <p:nvSpPr>
          <p:cNvPr id="71" name="Shape 69"/>
          <p:cNvSpPr/>
          <p:nvPr/>
        </p:nvSpPr>
        <p:spPr>
          <a:xfrm>
            <a:off x="11356848" y="0"/>
            <a:ext cx="164592" cy="164592"/>
          </a:xfrm>
          <a:prstGeom prst="rect">
            <a:avLst/>
          </a:prstGeom>
          <a:solidFill>
            <a:srgbClr val="E42C58"/>
          </a:solidFill>
          <a:ln/>
        </p:spPr>
        <p:txBody>
          <a:bodyPr/>
          <a:lstStyle/>
          <a:p>
            <a:endParaRPr lang="en-US"/>
          </a:p>
        </p:txBody>
      </p:sp>
      <p:sp>
        <p:nvSpPr>
          <p:cNvPr id="72" name="Shape 70"/>
          <p:cNvSpPr/>
          <p:nvPr/>
        </p:nvSpPr>
        <p:spPr>
          <a:xfrm>
            <a:off x="11521440" y="0"/>
            <a:ext cx="164592" cy="164592"/>
          </a:xfrm>
          <a:prstGeom prst="rect">
            <a:avLst/>
          </a:prstGeom>
          <a:solidFill>
            <a:srgbClr val="12274D"/>
          </a:solidFill>
          <a:ln/>
        </p:spPr>
        <p:txBody>
          <a:bodyPr/>
          <a:lstStyle/>
          <a:p>
            <a:endParaRPr lang="en-US"/>
          </a:p>
        </p:txBody>
      </p:sp>
      <p:sp>
        <p:nvSpPr>
          <p:cNvPr id="73" name="Shape 71"/>
          <p:cNvSpPr/>
          <p:nvPr/>
        </p:nvSpPr>
        <p:spPr>
          <a:xfrm>
            <a:off x="11686032" y="0"/>
            <a:ext cx="164592" cy="164592"/>
          </a:xfrm>
          <a:prstGeom prst="rect">
            <a:avLst/>
          </a:prstGeom>
          <a:solidFill>
            <a:srgbClr val="E42C58"/>
          </a:solidFill>
          <a:ln/>
        </p:spPr>
        <p:txBody>
          <a:bodyPr/>
          <a:lstStyle/>
          <a:p>
            <a:endParaRPr lang="en-US"/>
          </a:p>
        </p:txBody>
      </p:sp>
      <p:sp>
        <p:nvSpPr>
          <p:cNvPr id="74" name="Shape 72"/>
          <p:cNvSpPr/>
          <p:nvPr/>
        </p:nvSpPr>
        <p:spPr>
          <a:xfrm>
            <a:off x="11850624" y="0"/>
            <a:ext cx="164592" cy="164592"/>
          </a:xfrm>
          <a:prstGeom prst="rect">
            <a:avLst/>
          </a:prstGeom>
          <a:solidFill>
            <a:srgbClr val="12274D"/>
          </a:solidFill>
          <a:ln/>
        </p:spPr>
        <p:txBody>
          <a:bodyPr/>
          <a:lstStyle/>
          <a:p>
            <a:endParaRPr lang="en-US"/>
          </a:p>
        </p:txBody>
      </p:sp>
      <p:sp>
        <p:nvSpPr>
          <p:cNvPr id="75" name="Shape 73"/>
          <p:cNvSpPr/>
          <p:nvPr/>
        </p:nvSpPr>
        <p:spPr>
          <a:xfrm>
            <a:off x="12015216" y="0"/>
            <a:ext cx="164592" cy="164592"/>
          </a:xfrm>
          <a:prstGeom prst="rect">
            <a:avLst/>
          </a:prstGeom>
          <a:solidFill>
            <a:srgbClr val="E42C58"/>
          </a:solidFill>
          <a:ln/>
        </p:spPr>
        <p:txBody>
          <a:bodyPr/>
          <a:lstStyle/>
          <a:p>
            <a:endParaRPr lang="en-US"/>
          </a:p>
        </p:txBody>
      </p:sp>
      <p:sp>
        <p:nvSpPr>
          <p:cNvPr id="76" name="Text 74"/>
          <p:cNvSpPr/>
          <p:nvPr/>
        </p:nvSpPr>
        <p:spPr>
          <a:xfrm>
            <a:off x="548640" y="502920"/>
            <a:ext cx="7315200" cy="548640"/>
          </a:xfrm>
          <a:prstGeom prst="rect">
            <a:avLst/>
          </a:prstGeom>
          <a:noFill/>
          <a:ln/>
        </p:spPr>
        <p:txBody>
          <a:bodyPr wrap="square" rtlCol="0" anchor="ctr"/>
          <a:lstStyle/>
          <a:p>
            <a:pPr marL="0" indent="0">
              <a:buNone/>
            </a:pPr>
            <a:r>
              <a:rPr lang="en-US" sz="3000" b="1">
                <a:solidFill>
                  <a:srgbClr val="12274D"/>
                </a:solidFill>
                <a:latin typeface="Cambria" pitchFamily="34" charset="0"/>
                <a:ea typeface="Cambria" pitchFamily="34" charset="-122"/>
                <a:cs typeface="Cambria" pitchFamily="34" charset="-120"/>
              </a:rPr>
              <a:t>Budget Breakdown</a:t>
            </a:r>
            <a:endParaRPr lang="en-US" sz="3000"/>
          </a:p>
        </p:txBody>
      </p:sp>
      <p:sp>
        <p:nvSpPr>
          <p:cNvPr id="77" name="Text 75"/>
          <p:cNvSpPr/>
          <p:nvPr/>
        </p:nvSpPr>
        <p:spPr>
          <a:xfrm>
            <a:off x="548640" y="1024128"/>
            <a:ext cx="8229600" cy="365760"/>
          </a:xfrm>
          <a:prstGeom prst="rect">
            <a:avLst/>
          </a:prstGeom>
          <a:noFill/>
          <a:ln/>
        </p:spPr>
        <p:txBody>
          <a:bodyPr wrap="square" rtlCol="0" anchor="ctr"/>
          <a:lstStyle/>
          <a:p>
            <a:pPr marL="0" indent="0">
              <a:buNone/>
            </a:pPr>
            <a:r>
              <a:rPr lang="en-US" sz="1300" i="1">
                <a:solidFill>
                  <a:srgbClr val="6B6F76"/>
                </a:solidFill>
                <a:latin typeface="Calibri" pitchFamily="34" charset="0"/>
                <a:ea typeface="Calibri" pitchFamily="34" charset="-122"/>
                <a:cs typeface="Calibri" pitchFamily="34" charset="-120"/>
              </a:rPr>
              <a:t>Full costing for a 2-month build and event weekend in Sandton</a:t>
            </a:r>
            <a:endParaRPr lang="en-US" sz="1300"/>
          </a:p>
        </p:txBody>
      </p:sp>
      <p:graphicFrame>
        <p:nvGraphicFramePr>
          <p:cNvPr id="78" name="Table 0"/>
          <p:cNvGraphicFramePr>
            <a:graphicFrameLocks noGrp="1"/>
          </p:cNvGraphicFramePr>
          <p:nvPr>
            <p:extLst>
              <p:ext uri="{D42A27DB-BD31-4B8C-83A1-F6EECF244321}">
                <p14:modId xmlns:p14="http://schemas.microsoft.com/office/powerpoint/2010/main" val="209017845"/>
              </p:ext>
            </p:extLst>
          </p:nvPr>
        </p:nvGraphicFramePr>
        <p:xfrm>
          <a:off x="548640" y="1554480"/>
          <a:ext cx="7406640" cy="4325112"/>
        </p:xfrm>
        <a:graphic>
          <a:graphicData uri="http://schemas.openxmlformats.org/drawingml/2006/table">
            <a:tbl>
              <a:tblPr/>
              <a:tblGrid>
                <a:gridCol w="310896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393192">
                <a:tc>
                  <a:txBody>
                    <a:bodyPr/>
                    <a:lstStyle/>
                    <a:p>
                      <a:pPr marL="0" indent="0">
                        <a:buNone/>
                      </a:pPr>
                      <a:r>
                        <a:rPr lang="en-US" sz="1200" b="1">
                          <a:solidFill>
                            <a:srgbClr val="FFFFFF"/>
                          </a:solidFill>
                          <a:latin typeface="Calibri" pitchFamily="34" charset="0"/>
                          <a:ea typeface="Calibri" pitchFamily="34" charset="-122"/>
                          <a:cs typeface="Calibri" pitchFamily="34" charset="-120"/>
                        </a:rPr>
                        <a:t>Item</a:t>
                      </a:r>
                      <a:endParaRPr lang="en-US" sz="1200">
                        <a:latin typeface="Calibri" charset="0"/>
                        <a:ea typeface="Calibri" charset="0"/>
                        <a:cs typeface="Calibri" charset="0"/>
                      </a:endParaRPr>
                    </a:p>
                  </a:txBody>
                  <a:tcPr anchor="ctr">
                    <a:lnL w="9525" cap="flat" cmpd="sng" algn="ctr">
                      <a:solidFill>
                        <a:srgbClr val="DADFE6"/>
                      </a:solidFill>
                      <a:prstDash val="solid"/>
                      <a:round/>
                      <a:headEnd type="none" w="med" len="med"/>
                      <a:tailEnd type="none" w="med" len="med"/>
                    </a:lnL>
                    <a:lnR w="9525" cap="flat" cmpd="sng" algn="ctr">
                      <a:solidFill>
                        <a:srgbClr val="DADFE6"/>
                      </a:solidFill>
                      <a:prstDash val="solid"/>
                      <a:round/>
                      <a:headEnd type="none" w="med" len="med"/>
                      <a:tailEnd type="none" w="med" len="med"/>
                    </a:lnR>
                    <a:lnT w="9525" cap="flat" cmpd="sng" algn="ctr">
                      <a:solidFill>
                        <a:srgbClr val="DADFE6"/>
                      </a:solidFill>
                      <a:prstDash val="solid"/>
                      <a:round/>
                      <a:headEnd type="none" w="med" len="med"/>
                      <a:tailEnd type="none" w="med" len="med"/>
                    </a:lnT>
                    <a:lnB w="9525" cap="flat" cmpd="sng" algn="ctr">
                      <a:solidFill>
                        <a:srgbClr val="DADFE6"/>
                      </a:solidFill>
                      <a:prstDash val="solid"/>
                      <a:round/>
                      <a:headEnd type="none" w="med" len="med"/>
                      <a:tailEnd type="none" w="med" len="med"/>
                    </a:lnB>
                    <a:solidFill>
                      <a:srgbClr val="12274D"/>
                    </a:solidFill>
                  </a:tcPr>
                </a:tc>
                <a:tc>
                  <a:txBody>
                    <a:bodyPr/>
                    <a:lstStyle/>
                    <a:p>
                      <a:pPr marL="0" indent="0">
                        <a:buNone/>
                      </a:pPr>
                      <a:r>
                        <a:rPr lang="en-US" sz="1200" b="1">
                          <a:solidFill>
                            <a:srgbClr val="FFFFFF"/>
                          </a:solidFill>
                          <a:latin typeface="Calibri" pitchFamily="34" charset="0"/>
                          <a:ea typeface="Calibri" pitchFamily="34" charset="-122"/>
                          <a:cs typeface="Calibri" pitchFamily="34" charset="-120"/>
                        </a:rPr>
                        <a:t>Detail</a:t>
                      </a:r>
                      <a:endParaRPr lang="en-US" sz="1200">
                        <a:latin typeface="Calibri" charset="0"/>
                        <a:ea typeface="Calibri" charset="0"/>
                        <a:cs typeface="Calibri" charset="0"/>
                      </a:endParaRPr>
                    </a:p>
                  </a:txBody>
                  <a:tcPr anchor="ctr">
                    <a:lnL w="9525" cap="flat" cmpd="sng" algn="ctr">
                      <a:solidFill>
                        <a:srgbClr val="DADFE6"/>
                      </a:solidFill>
                      <a:prstDash val="solid"/>
                      <a:round/>
                      <a:headEnd type="none" w="med" len="med"/>
                      <a:tailEnd type="none" w="med" len="med"/>
                    </a:lnL>
                    <a:lnR w="9525" cap="flat" cmpd="sng" algn="ctr">
                      <a:solidFill>
                        <a:srgbClr val="DADFE6"/>
                      </a:solidFill>
                      <a:prstDash val="solid"/>
                      <a:round/>
                      <a:headEnd type="none" w="med" len="med"/>
                      <a:tailEnd type="none" w="med" len="med"/>
                    </a:lnR>
                    <a:lnT w="9525" cap="flat" cmpd="sng" algn="ctr">
                      <a:solidFill>
                        <a:srgbClr val="DADFE6"/>
                      </a:solidFill>
                      <a:prstDash val="solid"/>
                      <a:round/>
                      <a:headEnd type="none" w="med" len="med"/>
                      <a:tailEnd type="none" w="med" len="med"/>
                    </a:lnT>
                    <a:lnB w="9525" cap="flat" cmpd="sng" algn="ctr">
                      <a:solidFill>
                        <a:srgbClr val="DADFE6"/>
                      </a:solidFill>
                      <a:prstDash val="solid"/>
                      <a:round/>
                      <a:headEnd type="none" w="med" len="med"/>
                      <a:tailEnd type="none" w="med" len="med"/>
                    </a:lnB>
                    <a:solidFill>
                      <a:srgbClr val="12274D"/>
                    </a:solidFill>
                  </a:tcPr>
                </a:tc>
                <a:tc>
                  <a:txBody>
                    <a:bodyPr/>
                    <a:lstStyle/>
                    <a:p>
                      <a:pPr marL="0" indent="0" algn="r">
                        <a:buNone/>
                      </a:pPr>
                      <a:r>
                        <a:rPr lang="en-US" sz="1200" b="1">
                          <a:solidFill>
                            <a:srgbClr val="FFFFFF"/>
                          </a:solidFill>
                          <a:latin typeface="Calibri" pitchFamily="34" charset="0"/>
                          <a:ea typeface="Calibri" pitchFamily="34" charset="-122"/>
                          <a:cs typeface="Calibri" pitchFamily="34" charset="-120"/>
                        </a:rPr>
                        <a:t>Cost (ZAR)</a:t>
                      </a:r>
                      <a:endParaRPr lang="en-US" sz="1200">
                        <a:latin typeface="Calibri" charset="0"/>
                        <a:ea typeface="Calibri" charset="0"/>
                        <a:cs typeface="Calibri" charset="0"/>
                      </a:endParaRPr>
                    </a:p>
                  </a:txBody>
                  <a:tcPr anchor="ctr">
                    <a:lnL w="9525" cap="flat" cmpd="sng" algn="ctr">
                      <a:solidFill>
                        <a:srgbClr val="DADFE6"/>
                      </a:solidFill>
                      <a:prstDash val="solid"/>
                      <a:round/>
                      <a:headEnd type="none" w="med" len="med"/>
                      <a:tailEnd type="none" w="med" len="med"/>
                    </a:lnL>
                    <a:lnR w="9525" cap="flat" cmpd="sng" algn="ctr">
                      <a:solidFill>
                        <a:srgbClr val="DADFE6"/>
                      </a:solidFill>
                      <a:prstDash val="solid"/>
                      <a:round/>
                      <a:headEnd type="none" w="med" len="med"/>
                      <a:tailEnd type="none" w="med" len="med"/>
                    </a:lnR>
                    <a:lnT w="9525" cap="flat" cmpd="sng" algn="ctr">
                      <a:solidFill>
                        <a:srgbClr val="DADFE6"/>
                      </a:solidFill>
                      <a:prstDash val="solid"/>
                      <a:round/>
                      <a:headEnd type="none" w="med" len="med"/>
                      <a:tailEnd type="none" w="med" len="med"/>
                    </a:lnT>
                    <a:lnB w="9525" cap="flat" cmpd="sng" algn="ctr">
                      <a:solidFill>
                        <a:srgbClr val="DADFE6"/>
                      </a:solidFill>
                      <a:prstDash val="solid"/>
                      <a:round/>
                      <a:headEnd type="none" w="med" len="med"/>
                      <a:tailEnd type="none" w="med" len="med"/>
                    </a:lnB>
                    <a:solidFill>
                      <a:srgbClr val="12274D"/>
                    </a:solidFill>
                  </a:tcPr>
                </a:tc>
                <a:extLst>
                  <a:ext uri="{0D108BD9-81ED-4DB2-BD59-A6C34878D82A}">
                    <a16:rowId xmlns:a16="http://schemas.microsoft.com/office/drawing/2014/main" val="10000"/>
                  </a:ext>
                </a:extLst>
              </a:tr>
              <a:tr h="393192">
                <a:tc>
                  <a:txBody>
                    <a:bodyPr/>
                    <a:lstStyle/>
                    <a:p>
                      <a:pPr marL="0" indent="0" algn="l">
                        <a:buNone/>
                      </a:pPr>
                      <a:r>
                        <a:rPr lang="en-US" sz="1200">
                          <a:solidFill>
                            <a:srgbClr val="141414"/>
                          </a:solidFill>
                          <a:latin typeface="Calibri" pitchFamily="34" charset="0"/>
                          <a:ea typeface="Calibri" pitchFamily="34" charset="-122"/>
                          <a:cs typeface="Calibri" pitchFamily="34" charset="-120"/>
                        </a:rPr>
                        <a:t>Build space (Cape Town)</a:t>
                      </a:r>
                      <a:endParaRPr lang="en-US" sz="1200">
                        <a:latin typeface="Calibri" charset="0"/>
                        <a:ea typeface="Calibri" charset="0"/>
                        <a:cs typeface="Calibri" charset="0"/>
                      </a:endParaRPr>
                    </a:p>
                  </a:txBody>
                  <a:tcPr anchor="ctr">
                    <a:lnL w="9525" cap="flat" cmpd="sng" algn="ctr">
                      <a:solidFill>
                        <a:srgbClr val="DADFE6"/>
                      </a:solidFill>
                      <a:prstDash val="solid"/>
                      <a:round/>
                      <a:headEnd type="none" w="med" len="med"/>
                      <a:tailEnd type="none" w="med" len="med"/>
                    </a:lnL>
                    <a:lnR w="9525" cap="flat" cmpd="sng" algn="ctr">
                      <a:solidFill>
                        <a:srgbClr val="DADFE6"/>
                      </a:solidFill>
                      <a:prstDash val="solid"/>
                      <a:round/>
                      <a:headEnd type="none" w="med" len="med"/>
                      <a:tailEnd type="none" w="med" len="med"/>
                    </a:lnR>
                    <a:lnT w="9525" cap="flat" cmpd="sng" algn="ctr">
                      <a:solidFill>
                        <a:srgbClr val="DADFE6"/>
                      </a:solidFill>
                      <a:prstDash val="solid"/>
                      <a:round/>
                      <a:headEnd type="none" w="med" len="med"/>
                      <a:tailEnd type="none" w="med" len="med"/>
                    </a:lnT>
                    <a:lnB w="9525" cap="flat" cmpd="sng" algn="ctr">
                      <a:solidFill>
                        <a:srgbClr val="DADFE6"/>
                      </a:solidFill>
                      <a:prstDash val="solid"/>
                      <a:round/>
                      <a:headEnd type="none" w="med" len="med"/>
                      <a:tailEnd type="none" w="med" len="med"/>
                    </a:lnB>
                    <a:solidFill>
                      <a:srgbClr val="FFFFFF"/>
                    </a:solidFill>
                  </a:tcPr>
                </a:tc>
                <a:tc>
                  <a:txBody>
                    <a:bodyPr/>
                    <a:lstStyle/>
                    <a:p>
                      <a:pPr marL="0" indent="0" algn="l">
                        <a:buNone/>
                      </a:pPr>
                      <a:r>
                        <a:rPr lang="en-US" sz="1200">
                          <a:solidFill>
                            <a:srgbClr val="141414"/>
                          </a:solidFill>
                          <a:latin typeface="Calibri" pitchFamily="34" charset="0"/>
                          <a:ea typeface="Calibri" pitchFamily="34" charset="-122"/>
                          <a:cs typeface="Calibri" pitchFamily="34" charset="-120"/>
                        </a:rPr>
                        <a:t>R10k/month × 2 months</a:t>
                      </a:r>
                      <a:endParaRPr lang="en-US" sz="1200">
                        <a:latin typeface="Calibri" charset="0"/>
                        <a:ea typeface="Calibri" charset="0"/>
                        <a:cs typeface="Calibri" charset="0"/>
                      </a:endParaRPr>
                    </a:p>
                  </a:txBody>
                  <a:tcPr anchor="ctr">
                    <a:lnL w="9525" cap="flat" cmpd="sng" algn="ctr">
                      <a:solidFill>
                        <a:srgbClr val="DADFE6"/>
                      </a:solidFill>
                      <a:prstDash val="solid"/>
                      <a:round/>
                      <a:headEnd type="none" w="med" len="med"/>
                      <a:tailEnd type="none" w="med" len="med"/>
                    </a:lnL>
                    <a:lnR w="9525" cap="flat" cmpd="sng" algn="ctr">
                      <a:solidFill>
                        <a:srgbClr val="DADFE6"/>
                      </a:solidFill>
                      <a:prstDash val="solid"/>
                      <a:round/>
                      <a:headEnd type="none" w="med" len="med"/>
                      <a:tailEnd type="none" w="med" len="med"/>
                    </a:lnR>
                    <a:lnT w="9525" cap="flat" cmpd="sng" algn="ctr">
                      <a:solidFill>
                        <a:srgbClr val="DADFE6"/>
                      </a:solidFill>
                      <a:prstDash val="solid"/>
                      <a:round/>
                      <a:headEnd type="none" w="med" len="med"/>
                      <a:tailEnd type="none" w="med" len="med"/>
                    </a:lnT>
                    <a:lnB w="9525" cap="flat" cmpd="sng" algn="ctr">
                      <a:solidFill>
                        <a:srgbClr val="DADFE6"/>
                      </a:solidFill>
                      <a:prstDash val="solid"/>
                      <a:round/>
                      <a:headEnd type="none" w="med" len="med"/>
                      <a:tailEnd type="none" w="med" len="med"/>
                    </a:lnB>
                    <a:solidFill>
                      <a:srgbClr val="FFFFFF"/>
                    </a:solidFill>
                  </a:tcPr>
                </a:tc>
                <a:tc>
                  <a:txBody>
                    <a:bodyPr/>
                    <a:lstStyle/>
                    <a:p>
                      <a:pPr marL="0" indent="0" algn="r">
                        <a:buNone/>
                      </a:pPr>
                      <a:r>
                        <a:rPr lang="en-US" sz="1200">
                          <a:solidFill>
                            <a:srgbClr val="141414"/>
                          </a:solidFill>
                          <a:latin typeface="Calibri" pitchFamily="34" charset="0"/>
                          <a:ea typeface="Calibri" pitchFamily="34" charset="-122"/>
                          <a:cs typeface="Calibri" pitchFamily="34" charset="-120"/>
                        </a:rPr>
                        <a:t>R20,000</a:t>
                      </a:r>
                      <a:endParaRPr lang="en-US" sz="1200">
                        <a:latin typeface="Calibri" charset="0"/>
                        <a:ea typeface="Calibri" charset="0"/>
                        <a:cs typeface="Calibri" charset="0"/>
                      </a:endParaRPr>
                    </a:p>
                  </a:txBody>
                  <a:tcPr anchor="ctr">
                    <a:lnL w="9525" cap="flat" cmpd="sng" algn="ctr">
                      <a:solidFill>
                        <a:srgbClr val="DADFE6"/>
                      </a:solidFill>
                      <a:prstDash val="solid"/>
                      <a:round/>
                      <a:headEnd type="none" w="med" len="med"/>
                      <a:tailEnd type="none" w="med" len="med"/>
                    </a:lnL>
                    <a:lnR w="9525" cap="flat" cmpd="sng" algn="ctr">
                      <a:solidFill>
                        <a:srgbClr val="DADFE6"/>
                      </a:solidFill>
                      <a:prstDash val="solid"/>
                      <a:round/>
                      <a:headEnd type="none" w="med" len="med"/>
                      <a:tailEnd type="none" w="med" len="med"/>
                    </a:lnR>
                    <a:lnT w="9525" cap="flat" cmpd="sng" algn="ctr">
                      <a:solidFill>
                        <a:srgbClr val="DADFE6"/>
                      </a:solidFill>
                      <a:prstDash val="solid"/>
                      <a:round/>
                      <a:headEnd type="none" w="med" len="med"/>
                      <a:tailEnd type="none" w="med" len="med"/>
                    </a:lnT>
                    <a:lnB w="9525" cap="flat" cmpd="sng" algn="ctr">
                      <a:solidFill>
                        <a:srgbClr val="DADF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3192">
                <a:tc>
                  <a:txBody>
                    <a:bodyPr/>
                    <a:lstStyle/>
                    <a:p>
                      <a:pPr marL="0" indent="0" algn="l">
                        <a:buNone/>
                      </a:pPr>
                      <a:r>
                        <a:rPr lang="en-US" sz="1200">
                          <a:solidFill>
                            <a:srgbClr val="141414"/>
                          </a:solidFill>
                          <a:latin typeface="Calibri" pitchFamily="34" charset="0"/>
                          <a:ea typeface="Calibri" pitchFamily="34" charset="-122"/>
                          <a:cs typeface="Calibri" pitchFamily="34" charset="-120"/>
                        </a:rPr>
                        <a:t>Cart materials</a:t>
                      </a:r>
                      <a:endParaRPr lang="en-US" sz="1200">
                        <a:latin typeface="Calibri" charset="0"/>
                        <a:ea typeface="Calibri" charset="0"/>
                        <a:cs typeface="Calibri" charset="0"/>
                      </a:endParaRPr>
                    </a:p>
                  </a:txBody>
                  <a:tcPr anchor="ctr">
                    <a:lnL w="9525" cap="flat" cmpd="sng" algn="ctr">
                      <a:solidFill>
                        <a:srgbClr val="DADFE6"/>
                      </a:solidFill>
                      <a:prstDash val="solid"/>
                      <a:round/>
                      <a:headEnd type="none" w="med" len="med"/>
                      <a:tailEnd type="none" w="med" len="med"/>
                    </a:lnL>
                    <a:lnR w="9525" cap="flat" cmpd="sng" algn="ctr">
                      <a:solidFill>
                        <a:srgbClr val="DADFE6"/>
                      </a:solidFill>
                      <a:prstDash val="solid"/>
                      <a:round/>
                      <a:headEnd type="none" w="med" len="med"/>
                      <a:tailEnd type="none" w="med" len="med"/>
                    </a:lnR>
                    <a:lnT w="9525" cap="flat" cmpd="sng" algn="ctr">
                      <a:solidFill>
                        <a:srgbClr val="DADFE6"/>
                      </a:solidFill>
                      <a:prstDash val="solid"/>
                      <a:round/>
                      <a:headEnd type="none" w="med" len="med"/>
                      <a:tailEnd type="none" w="med" len="med"/>
                    </a:lnT>
                    <a:lnB w="9525" cap="flat" cmpd="sng" algn="ctr">
                      <a:solidFill>
                        <a:srgbClr val="DADFE6"/>
                      </a:solidFill>
                      <a:prstDash val="solid"/>
                      <a:round/>
                      <a:headEnd type="none" w="med" len="med"/>
                      <a:tailEnd type="none" w="med" len="med"/>
                    </a:lnB>
                    <a:solidFill>
                      <a:srgbClr val="EEF1F6"/>
                    </a:solidFill>
                  </a:tcPr>
                </a:tc>
                <a:tc>
                  <a:txBody>
                    <a:bodyPr/>
                    <a:lstStyle/>
                    <a:p>
                      <a:pPr marL="0" indent="0" algn="l">
                        <a:buNone/>
                      </a:pPr>
                      <a:r>
                        <a:rPr lang="en-US" sz="1200">
                          <a:solidFill>
                            <a:srgbClr val="141414"/>
                          </a:solidFill>
                          <a:latin typeface="Calibri" pitchFamily="34" charset="0"/>
                          <a:ea typeface="Calibri" pitchFamily="34" charset="-122"/>
                          <a:cs typeface="Calibri" pitchFamily="34" charset="-120"/>
                        </a:rPr>
                        <a:t>Chassis, tires, panels</a:t>
                      </a:r>
                      <a:endParaRPr lang="en-US" sz="1200">
                        <a:latin typeface="Calibri" charset="0"/>
                        <a:ea typeface="Calibri" charset="0"/>
                        <a:cs typeface="Calibri" charset="0"/>
                      </a:endParaRPr>
                    </a:p>
                  </a:txBody>
                  <a:tcPr anchor="ctr">
                    <a:lnL w="9525" cap="flat" cmpd="sng" algn="ctr">
                      <a:solidFill>
                        <a:srgbClr val="DADFE6"/>
                      </a:solidFill>
                      <a:prstDash val="solid"/>
                      <a:round/>
                      <a:headEnd type="none" w="med" len="med"/>
                      <a:tailEnd type="none" w="med" len="med"/>
                    </a:lnL>
                    <a:lnR w="9525" cap="flat" cmpd="sng" algn="ctr">
                      <a:solidFill>
                        <a:srgbClr val="DADFE6"/>
                      </a:solidFill>
                      <a:prstDash val="solid"/>
                      <a:round/>
                      <a:headEnd type="none" w="med" len="med"/>
                      <a:tailEnd type="none" w="med" len="med"/>
                    </a:lnR>
                    <a:lnT w="9525" cap="flat" cmpd="sng" algn="ctr">
                      <a:solidFill>
                        <a:srgbClr val="DADFE6"/>
                      </a:solidFill>
                      <a:prstDash val="solid"/>
                      <a:round/>
                      <a:headEnd type="none" w="med" len="med"/>
                      <a:tailEnd type="none" w="med" len="med"/>
                    </a:lnT>
                    <a:lnB w="9525" cap="flat" cmpd="sng" algn="ctr">
                      <a:solidFill>
                        <a:srgbClr val="DADFE6"/>
                      </a:solidFill>
                      <a:prstDash val="solid"/>
                      <a:round/>
                      <a:headEnd type="none" w="med" len="med"/>
                      <a:tailEnd type="none" w="med" len="med"/>
                    </a:lnB>
                    <a:solidFill>
                      <a:srgbClr val="EEF1F6"/>
                    </a:solidFill>
                  </a:tcPr>
                </a:tc>
                <a:tc>
                  <a:txBody>
                    <a:bodyPr/>
                    <a:lstStyle/>
                    <a:p>
                      <a:pPr marL="0" indent="0" algn="r">
                        <a:buNone/>
                      </a:pPr>
                      <a:r>
                        <a:rPr lang="en-US" sz="1200">
                          <a:solidFill>
                            <a:srgbClr val="141414"/>
                          </a:solidFill>
                          <a:latin typeface="Calibri" pitchFamily="34" charset="0"/>
                          <a:ea typeface="Calibri" pitchFamily="34" charset="-122"/>
                          <a:cs typeface="Calibri" pitchFamily="34" charset="-120"/>
                        </a:rPr>
                        <a:t>R30,000</a:t>
                      </a:r>
                      <a:endParaRPr lang="en-US" sz="1200">
                        <a:latin typeface="Calibri" charset="0"/>
                        <a:ea typeface="Calibri" charset="0"/>
                        <a:cs typeface="Calibri" charset="0"/>
                      </a:endParaRPr>
                    </a:p>
                  </a:txBody>
                  <a:tcPr anchor="ctr">
                    <a:lnL w="9525" cap="flat" cmpd="sng" algn="ctr">
                      <a:solidFill>
                        <a:srgbClr val="DADFE6"/>
                      </a:solidFill>
                      <a:prstDash val="solid"/>
                      <a:round/>
                      <a:headEnd type="none" w="med" len="med"/>
                      <a:tailEnd type="none" w="med" len="med"/>
                    </a:lnL>
                    <a:lnR w="9525" cap="flat" cmpd="sng" algn="ctr">
                      <a:solidFill>
                        <a:srgbClr val="DADFE6"/>
                      </a:solidFill>
                      <a:prstDash val="solid"/>
                      <a:round/>
                      <a:headEnd type="none" w="med" len="med"/>
                      <a:tailEnd type="none" w="med" len="med"/>
                    </a:lnR>
                    <a:lnT w="9525" cap="flat" cmpd="sng" algn="ctr">
                      <a:solidFill>
                        <a:srgbClr val="DADFE6"/>
                      </a:solidFill>
                      <a:prstDash val="solid"/>
                      <a:round/>
                      <a:headEnd type="none" w="med" len="med"/>
                      <a:tailEnd type="none" w="med" len="med"/>
                    </a:lnT>
                    <a:lnB w="9525" cap="flat" cmpd="sng" algn="ctr">
                      <a:solidFill>
                        <a:srgbClr val="DADFE6"/>
                      </a:solidFill>
                      <a:prstDash val="solid"/>
                      <a:round/>
                      <a:headEnd type="none" w="med" len="med"/>
                      <a:tailEnd type="none" w="med" len="med"/>
                    </a:lnB>
                    <a:solidFill>
                      <a:srgbClr val="EEF1F6"/>
                    </a:solidFill>
                  </a:tcPr>
                </a:tc>
                <a:extLst>
                  <a:ext uri="{0D108BD9-81ED-4DB2-BD59-A6C34878D82A}">
                    <a16:rowId xmlns:a16="http://schemas.microsoft.com/office/drawing/2014/main" val="10002"/>
                  </a:ext>
                </a:extLst>
              </a:tr>
              <a:tr h="393192">
                <a:tc>
                  <a:txBody>
                    <a:bodyPr/>
                    <a:lstStyle/>
                    <a:p>
                      <a:pPr marL="0" indent="0" algn="l">
                        <a:buNone/>
                      </a:pPr>
                      <a:r>
                        <a:rPr lang="en-US" sz="1200">
                          <a:solidFill>
                            <a:srgbClr val="141414"/>
                          </a:solidFill>
                          <a:latin typeface="Calibri" pitchFamily="34" charset="0"/>
                          <a:ea typeface="Calibri" pitchFamily="34" charset="-122"/>
                          <a:cs typeface="Calibri" pitchFamily="34" charset="-120"/>
                        </a:rPr>
                        <a:t>Tools</a:t>
                      </a:r>
                      <a:endParaRPr lang="en-US" sz="1200">
                        <a:latin typeface="Calibri" charset="0"/>
                        <a:ea typeface="Calibri" charset="0"/>
                        <a:cs typeface="Calibri" charset="0"/>
                      </a:endParaRPr>
                    </a:p>
                  </a:txBody>
                  <a:tcPr anchor="ctr">
                    <a:lnL w="9525" cap="flat" cmpd="sng" algn="ctr">
                      <a:solidFill>
                        <a:srgbClr val="DADFE6"/>
                      </a:solidFill>
                      <a:prstDash val="solid"/>
                      <a:round/>
                      <a:headEnd type="none" w="med" len="med"/>
                      <a:tailEnd type="none" w="med" len="med"/>
                    </a:lnL>
                    <a:lnR w="9525" cap="flat" cmpd="sng" algn="ctr">
                      <a:solidFill>
                        <a:srgbClr val="DADFE6"/>
                      </a:solidFill>
                      <a:prstDash val="solid"/>
                      <a:round/>
                      <a:headEnd type="none" w="med" len="med"/>
                      <a:tailEnd type="none" w="med" len="med"/>
                    </a:lnR>
                    <a:lnT w="9525" cap="flat" cmpd="sng" algn="ctr">
                      <a:solidFill>
                        <a:srgbClr val="DADFE6"/>
                      </a:solidFill>
                      <a:prstDash val="solid"/>
                      <a:round/>
                      <a:headEnd type="none" w="med" len="med"/>
                      <a:tailEnd type="none" w="med" len="med"/>
                    </a:lnT>
                    <a:lnB w="9525" cap="flat" cmpd="sng" algn="ctr">
                      <a:solidFill>
                        <a:srgbClr val="DADFE6"/>
                      </a:solidFill>
                      <a:prstDash val="solid"/>
                      <a:round/>
                      <a:headEnd type="none" w="med" len="med"/>
                      <a:tailEnd type="none" w="med" len="med"/>
                    </a:lnB>
                    <a:solidFill>
                      <a:srgbClr val="FFFFFF"/>
                    </a:solidFill>
                  </a:tcPr>
                </a:tc>
                <a:tc>
                  <a:txBody>
                    <a:bodyPr/>
                    <a:lstStyle/>
                    <a:p>
                      <a:pPr marL="0" indent="0" algn="l">
                        <a:buNone/>
                      </a:pPr>
                      <a:r>
                        <a:rPr lang="en-US" sz="1200">
                          <a:solidFill>
                            <a:srgbClr val="141414"/>
                          </a:solidFill>
                          <a:latin typeface="Calibri" pitchFamily="34" charset="0"/>
                          <a:ea typeface="Calibri" pitchFamily="34" charset="-122"/>
                          <a:cs typeface="Calibri" pitchFamily="34" charset="-120"/>
                        </a:rPr>
                        <a:t>Rentals + consumables</a:t>
                      </a:r>
                      <a:endParaRPr lang="en-US" sz="1200">
                        <a:latin typeface="Calibri" charset="0"/>
                        <a:ea typeface="Calibri" charset="0"/>
                        <a:cs typeface="Calibri" charset="0"/>
                      </a:endParaRPr>
                    </a:p>
                  </a:txBody>
                  <a:tcPr anchor="ctr">
                    <a:lnL w="9525" cap="flat" cmpd="sng" algn="ctr">
                      <a:solidFill>
                        <a:srgbClr val="DADFE6"/>
                      </a:solidFill>
                      <a:prstDash val="solid"/>
                      <a:round/>
                      <a:headEnd type="none" w="med" len="med"/>
                      <a:tailEnd type="none" w="med" len="med"/>
                    </a:lnL>
                    <a:lnR w="9525" cap="flat" cmpd="sng" algn="ctr">
                      <a:solidFill>
                        <a:srgbClr val="DADFE6"/>
                      </a:solidFill>
                      <a:prstDash val="solid"/>
                      <a:round/>
                      <a:headEnd type="none" w="med" len="med"/>
                      <a:tailEnd type="none" w="med" len="med"/>
                    </a:lnR>
                    <a:lnT w="9525" cap="flat" cmpd="sng" algn="ctr">
                      <a:solidFill>
                        <a:srgbClr val="DADFE6"/>
                      </a:solidFill>
                      <a:prstDash val="solid"/>
                      <a:round/>
                      <a:headEnd type="none" w="med" len="med"/>
                      <a:tailEnd type="none" w="med" len="med"/>
                    </a:lnT>
                    <a:lnB w="9525" cap="flat" cmpd="sng" algn="ctr">
                      <a:solidFill>
                        <a:srgbClr val="DADFE6"/>
                      </a:solidFill>
                      <a:prstDash val="solid"/>
                      <a:round/>
                      <a:headEnd type="none" w="med" len="med"/>
                      <a:tailEnd type="none" w="med" len="med"/>
                    </a:lnB>
                    <a:solidFill>
                      <a:srgbClr val="FFFFFF"/>
                    </a:solidFill>
                  </a:tcPr>
                </a:tc>
                <a:tc>
                  <a:txBody>
                    <a:bodyPr/>
                    <a:lstStyle/>
                    <a:p>
                      <a:pPr marL="0" indent="0" algn="r">
                        <a:buNone/>
                      </a:pPr>
                      <a:r>
                        <a:rPr lang="en-US" sz="1200">
                          <a:solidFill>
                            <a:srgbClr val="141414"/>
                          </a:solidFill>
                          <a:latin typeface="Calibri" pitchFamily="34" charset="0"/>
                          <a:ea typeface="Calibri" pitchFamily="34" charset="-122"/>
                          <a:cs typeface="Calibri" pitchFamily="34" charset="-120"/>
                        </a:rPr>
                        <a:t>R6,000</a:t>
                      </a:r>
                      <a:endParaRPr lang="en-US" sz="1200">
                        <a:latin typeface="Calibri" charset="0"/>
                        <a:ea typeface="Calibri" charset="0"/>
                        <a:cs typeface="Calibri" charset="0"/>
                      </a:endParaRPr>
                    </a:p>
                  </a:txBody>
                  <a:tcPr anchor="ctr">
                    <a:lnL w="9525" cap="flat" cmpd="sng" algn="ctr">
                      <a:solidFill>
                        <a:srgbClr val="DADFE6"/>
                      </a:solidFill>
                      <a:prstDash val="solid"/>
                      <a:round/>
                      <a:headEnd type="none" w="med" len="med"/>
                      <a:tailEnd type="none" w="med" len="med"/>
                    </a:lnL>
                    <a:lnR w="9525" cap="flat" cmpd="sng" algn="ctr">
                      <a:solidFill>
                        <a:srgbClr val="DADFE6"/>
                      </a:solidFill>
                      <a:prstDash val="solid"/>
                      <a:round/>
                      <a:headEnd type="none" w="med" len="med"/>
                      <a:tailEnd type="none" w="med" len="med"/>
                    </a:lnR>
                    <a:lnT w="9525" cap="flat" cmpd="sng" algn="ctr">
                      <a:solidFill>
                        <a:srgbClr val="DADFE6"/>
                      </a:solidFill>
                      <a:prstDash val="solid"/>
                      <a:round/>
                      <a:headEnd type="none" w="med" len="med"/>
                      <a:tailEnd type="none" w="med" len="med"/>
                    </a:lnT>
                    <a:lnB w="9525" cap="flat" cmpd="sng" algn="ctr">
                      <a:solidFill>
                        <a:srgbClr val="DADF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3192">
                <a:tc>
                  <a:txBody>
                    <a:bodyPr/>
                    <a:lstStyle/>
                    <a:p>
                      <a:pPr marL="0" indent="0" algn="l">
                        <a:buNone/>
                      </a:pPr>
                      <a:r>
                        <a:rPr lang="en-US" sz="1200">
                          <a:solidFill>
                            <a:srgbClr val="141414"/>
                          </a:solidFill>
                          <a:latin typeface="Calibri" pitchFamily="34" charset="0"/>
                          <a:ea typeface="Calibri" pitchFamily="34" charset="-122"/>
                          <a:cs typeface="Calibri" pitchFamily="34" charset="-120"/>
                        </a:rPr>
                        <a:t>Spare parts</a:t>
                      </a:r>
                      <a:endParaRPr lang="en-US" sz="1200">
                        <a:latin typeface="Calibri" charset="0"/>
                        <a:ea typeface="Calibri" charset="0"/>
                        <a:cs typeface="Calibri" charset="0"/>
                      </a:endParaRPr>
                    </a:p>
                  </a:txBody>
                  <a:tcPr anchor="ctr">
                    <a:lnL w="9525" cap="flat" cmpd="sng" algn="ctr">
                      <a:solidFill>
                        <a:srgbClr val="DADFE6"/>
                      </a:solidFill>
                      <a:prstDash val="solid"/>
                      <a:round/>
                      <a:headEnd type="none" w="med" len="med"/>
                      <a:tailEnd type="none" w="med" len="med"/>
                    </a:lnL>
                    <a:lnR w="9525" cap="flat" cmpd="sng" algn="ctr">
                      <a:solidFill>
                        <a:srgbClr val="DADFE6"/>
                      </a:solidFill>
                      <a:prstDash val="solid"/>
                      <a:round/>
                      <a:headEnd type="none" w="med" len="med"/>
                      <a:tailEnd type="none" w="med" len="med"/>
                    </a:lnR>
                    <a:lnT w="9525" cap="flat" cmpd="sng" algn="ctr">
                      <a:solidFill>
                        <a:srgbClr val="DADFE6"/>
                      </a:solidFill>
                      <a:prstDash val="solid"/>
                      <a:round/>
                      <a:headEnd type="none" w="med" len="med"/>
                      <a:tailEnd type="none" w="med" len="med"/>
                    </a:lnT>
                    <a:lnB w="9525" cap="flat" cmpd="sng" algn="ctr">
                      <a:solidFill>
                        <a:srgbClr val="DADFE6"/>
                      </a:solidFill>
                      <a:prstDash val="solid"/>
                      <a:round/>
                      <a:headEnd type="none" w="med" len="med"/>
                      <a:tailEnd type="none" w="med" len="med"/>
                    </a:lnB>
                    <a:solidFill>
                      <a:srgbClr val="EEF1F6"/>
                    </a:solidFill>
                  </a:tcPr>
                </a:tc>
                <a:tc>
                  <a:txBody>
                    <a:bodyPr/>
                    <a:lstStyle/>
                    <a:p>
                      <a:pPr marL="0" indent="0" algn="l">
                        <a:buNone/>
                      </a:pPr>
                      <a:r>
                        <a:rPr lang="en-US" sz="1200">
                          <a:solidFill>
                            <a:srgbClr val="141414"/>
                          </a:solidFill>
                          <a:latin typeface="Calibri" pitchFamily="34" charset="0"/>
                          <a:ea typeface="Calibri" pitchFamily="34" charset="-122"/>
                          <a:cs typeface="Calibri" pitchFamily="34" charset="-120"/>
                        </a:rPr>
                        <a:t>~12% of materials</a:t>
                      </a:r>
                      <a:endParaRPr lang="en-US" sz="1200">
                        <a:latin typeface="Calibri" charset="0"/>
                        <a:ea typeface="Calibri" charset="0"/>
                        <a:cs typeface="Calibri" charset="0"/>
                      </a:endParaRPr>
                    </a:p>
                  </a:txBody>
                  <a:tcPr anchor="ctr">
                    <a:lnL w="9525" cap="flat" cmpd="sng" algn="ctr">
                      <a:solidFill>
                        <a:srgbClr val="DADFE6"/>
                      </a:solidFill>
                      <a:prstDash val="solid"/>
                      <a:round/>
                      <a:headEnd type="none" w="med" len="med"/>
                      <a:tailEnd type="none" w="med" len="med"/>
                    </a:lnL>
                    <a:lnR w="9525" cap="flat" cmpd="sng" algn="ctr">
                      <a:solidFill>
                        <a:srgbClr val="DADFE6"/>
                      </a:solidFill>
                      <a:prstDash val="solid"/>
                      <a:round/>
                      <a:headEnd type="none" w="med" len="med"/>
                      <a:tailEnd type="none" w="med" len="med"/>
                    </a:lnR>
                    <a:lnT w="9525" cap="flat" cmpd="sng" algn="ctr">
                      <a:solidFill>
                        <a:srgbClr val="DADFE6"/>
                      </a:solidFill>
                      <a:prstDash val="solid"/>
                      <a:round/>
                      <a:headEnd type="none" w="med" len="med"/>
                      <a:tailEnd type="none" w="med" len="med"/>
                    </a:lnT>
                    <a:lnB w="9525" cap="flat" cmpd="sng" algn="ctr">
                      <a:solidFill>
                        <a:srgbClr val="DADFE6"/>
                      </a:solidFill>
                      <a:prstDash val="solid"/>
                      <a:round/>
                      <a:headEnd type="none" w="med" len="med"/>
                      <a:tailEnd type="none" w="med" len="med"/>
                    </a:lnB>
                    <a:solidFill>
                      <a:srgbClr val="EEF1F6"/>
                    </a:solidFill>
                  </a:tcPr>
                </a:tc>
                <a:tc>
                  <a:txBody>
                    <a:bodyPr/>
                    <a:lstStyle/>
                    <a:p>
                      <a:pPr marL="0" indent="0" algn="r">
                        <a:buNone/>
                      </a:pPr>
                      <a:r>
                        <a:rPr lang="en-US" sz="1200">
                          <a:solidFill>
                            <a:srgbClr val="141414"/>
                          </a:solidFill>
                          <a:latin typeface="Calibri" pitchFamily="34" charset="0"/>
                          <a:ea typeface="Calibri" pitchFamily="34" charset="-122"/>
                          <a:cs typeface="Calibri" pitchFamily="34" charset="-120"/>
                        </a:rPr>
                        <a:t>R3,500</a:t>
                      </a:r>
                      <a:endParaRPr lang="en-US" sz="1200">
                        <a:latin typeface="Calibri" charset="0"/>
                        <a:ea typeface="Calibri" charset="0"/>
                        <a:cs typeface="Calibri" charset="0"/>
                      </a:endParaRPr>
                    </a:p>
                  </a:txBody>
                  <a:tcPr anchor="ctr">
                    <a:lnL w="9525" cap="flat" cmpd="sng" algn="ctr">
                      <a:solidFill>
                        <a:srgbClr val="DADFE6"/>
                      </a:solidFill>
                      <a:prstDash val="solid"/>
                      <a:round/>
                      <a:headEnd type="none" w="med" len="med"/>
                      <a:tailEnd type="none" w="med" len="med"/>
                    </a:lnL>
                    <a:lnR w="9525" cap="flat" cmpd="sng" algn="ctr">
                      <a:solidFill>
                        <a:srgbClr val="DADFE6"/>
                      </a:solidFill>
                      <a:prstDash val="solid"/>
                      <a:round/>
                      <a:headEnd type="none" w="med" len="med"/>
                      <a:tailEnd type="none" w="med" len="med"/>
                    </a:lnR>
                    <a:lnT w="9525" cap="flat" cmpd="sng" algn="ctr">
                      <a:solidFill>
                        <a:srgbClr val="DADFE6"/>
                      </a:solidFill>
                      <a:prstDash val="solid"/>
                      <a:round/>
                      <a:headEnd type="none" w="med" len="med"/>
                      <a:tailEnd type="none" w="med" len="med"/>
                    </a:lnT>
                    <a:lnB w="9525" cap="flat" cmpd="sng" algn="ctr">
                      <a:solidFill>
                        <a:srgbClr val="DADFE6"/>
                      </a:solidFill>
                      <a:prstDash val="solid"/>
                      <a:round/>
                      <a:headEnd type="none" w="med" len="med"/>
                      <a:tailEnd type="none" w="med" len="med"/>
                    </a:lnB>
                    <a:solidFill>
                      <a:srgbClr val="EEF1F6"/>
                    </a:solidFill>
                  </a:tcPr>
                </a:tc>
                <a:extLst>
                  <a:ext uri="{0D108BD9-81ED-4DB2-BD59-A6C34878D82A}">
                    <a16:rowId xmlns:a16="http://schemas.microsoft.com/office/drawing/2014/main" val="10004"/>
                  </a:ext>
                </a:extLst>
              </a:tr>
              <a:tr h="393192">
                <a:tc>
                  <a:txBody>
                    <a:bodyPr/>
                    <a:lstStyle/>
                    <a:p>
                      <a:pPr marL="0" indent="0" algn="l">
                        <a:buNone/>
                      </a:pPr>
                      <a:r>
                        <a:rPr lang="en-US" sz="1200">
                          <a:solidFill>
                            <a:srgbClr val="141414"/>
                          </a:solidFill>
                          <a:latin typeface="Calibri" pitchFamily="34" charset="0"/>
                          <a:ea typeface="Calibri" pitchFamily="34" charset="-122"/>
                          <a:cs typeface="Calibri" pitchFamily="34" charset="-120"/>
                        </a:rPr>
                        <a:t>First aid kit</a:t>
                      </a:r>
                      <a:endParaRPr lang="en-US" sz="1200">
                        <a:latin typeface="Calibri" charset="0"/>
                        <a:ea typeface="Calibri" charset="0"/>
                        <a:cs typeface="Calibri" charset="0"/>
                      </a:endParaRPr>
                    </a:p>
                  </a:txBody>
                  <a:tcPr anchor="ctr">
                    <a:lnL w="9525" cap="flat" cmpd="sng" algn="ctr">
                      <a:solidFill>
                        <a:srgbClr val="DADFE6"/>
                      </a:solidFill>
                      <a:prstDash val="solid"/>
                      <a:round/>
                      <a:headEnd type="none" w="med" len="med"/>
                      <a:tailEnd type="none" w="med" len="med"/>
                    </a:lnL>
                    <a:lnR w="9525" cap="flat" cmpd="sng" algn="ctr">
                      <a:solidFill>
                        <a:srgbClr val="DADFE6"/>
                      </a:solidFill>
                      <a:prstDash val="solid"/>
                      <a:round/>
                      <a:headEnd type="none" w="med" len="med"/>
                      <a:tailEnd type="none" w="med" len="med"/>
                    </a:lnR>
                    <a:lnT w="9525" cap="flat" cmpd="sng" algn="ctr">
                      <a:solidFill>
                        <a:srgbClr val="DADFE6"/>
                      </a:solidFill>
                      <a:prstDash val="solid"/>
                      <a:round/>
                      <a:headEnd type="none" w="med" len="med"/>
                      <a:tailEnd type="none" w="med" len="med"/>
                    </a:lnT>
                    <a:lnB w="9525" cap="flat" cmpd="sng" algn="ctr">
                      <a:solidFill>
                        <a:srgbClr val="DADFE6"/>
                      </a:solidFill>
                      <a:prstDash val="solid"/>
                      <a:round/>
                      <a:headEnd type="none" w="med" len="med"/>
                      <a:tailEnd type="none" w="med" len="med"/>
                    </a:lnB>
                    <a:solidFill>
                      <a:srgbClr val="FFFFFF"/>
                    </a:solidFill>
                  </a:tcPr>
                </a:tc>
                <a:tc>
                  <a:txBody>
                    <a:bodyPr/>
                    <a:lstStyle/>
                    <a:p>
                      <a:pPr marL="0" indent="0" algn="l">
                        <a:buNone/>
                      </a:pPr>
                      <a:r>
                        <a:rPr lang="en-US" sz="1200">
                          <a:solidFill>
                            <a:srgbClr val="141414"/>
                          </a:solidFill>
                          <a:latin typeface="Calibri" pitchFamily="34" charset="0"/>
                          <a:ea typeface="Calibri" pitchFamily="34" charset="-122"/>
                          <a:cs typeface="Calibri" pitchFamily="34" charset="-120"/>
                        </a:rPr>
                        <a:t>Build-site kit</a:t>
                      </a:r>
                      <a:endParaRPr lang="en-US" sz="1200">
                        <a:latin typeface="Calibri" charset="0"/>
                        <a:ea typeface="Calibri" charset="0"/>
                        <a:cs typeface="Calibri" charset="0"/>
                      </a:endParaRPr>
                    </a:p>
                  </a:txBody>
                  <a:tcPr anchor="ctr">
                    <a:lnL w="9525" cap="flat" cmpd="sng" algn="ctr">
                      <a:solidFill>
                        <a:srgbClr val="DADFE6"/>
                      </a:solidFill>
                      <a:prstDash val="solid"/>
                      <a:round/>
                      <a:headEnd type="none" w="med" len="med"/>
                      <a:tailEnd type="none" w="med" len="med"/>
                    </a:lnL>
                    <a:lnR w="9525" cap="flat" cmpd="sng" algn="ctr">
                      <a:solidFill>
                        <a:srgbClr val="DADFE6"/>
                      </a:solidFill>
                      <a:prstDash val="solid"/>
                      <a:round/>
                      <a:headEnd type="none" w="med" len="med"/>
                      <a:tailEnd type="none" w="med" len="med"/>
                    </a:lnR>
                    <a:lnT w="9525" cap="flat" cmpd="sng" algn="ctr">
                      <a:solidFill>
                        <a:srgbClr val="DADFE6"/>
                      </a:solidFill>
                      <a:prstDash val="solid"/>
                      <a:round/>
                      <a:headEnd type="none" w="med" len="med"/>
                      <a:tailEnd type="none" w="med" len="med"/>
                    </a:lnT>
                    <a:lnB w="9525" cap="flat" cmpd="sng" algn="ctr">
                      <a:solidFill>
                        <a:srgbClr val="DADFE6"/>
                      </a:solidFill>
                      <a:prstDash val="solid"/>
                      <a:round/>
                      <a:headEnd type="none" w="med" len="med"/>
                      <a:tailEnd type="none" w="med" len="med"/>
                    </a:lnB>
                    <a:solidFill>
                      <a:srgbClr val="FFFFFF"/>
                    </a:solidFill>
                  </a:tcPr>
                </a:tc>
                <a:tc>
                  <a:txBody>
                    <a:bodyPr/>
                    <a:lstStyle/>
                    <a:p>
                      <a:pPr marL="0" indent="0" algn="r">
                        <a:buNone/>
                      </a:pPr>
                      <a:r>
                        <a:rPr lang="en-US" sz="1200">
                          <a:solidFill>
                            <a:srgbClr val="141414"/>
                          </a:solidFill>
                          <a:latin typeface="Calibri" pitchFamily="34" charset="0"/>
                          <a:ea typeface="Calibri" pitchFamily="34" charset="-122"/>
                          <a:cs typeface="Calibri" pitchFamily="34" charset="-120"/>
                        </a:rPr>
                        <a:t>R900</a:t>
                      </a:r>
                      <a:endParaRPr lang="en-US" sz="1200">
                        <a:latin typeface="Calibri" charset="0"/>
                        <a:ea typeface="Calibri" charset="0"/>
                        <a:cs typeface="Calibri" charset="0"/>
                      </a:endParaRPr>
                    </a:p>
                  </a:txBody>
                  <a:tcPr anchor="ctr">
                    <a:lnL w="9525" cap="flat" cmpd="sng" algn="ctr">
                      <a:solidFill>
                        <a:srgbClr val="DADFE6"/>
                      </a:solidFill>
                      <a:prstDash val="solid"/>
                      <a:round/>
                      <a:headEnd type="none" w="med" len="med"/>
                      <a:tailEnd type="none" w="med" len="med"/>
                    </a:lnL>
                    <a:lnR w="9525" cap="flat" cmpd="sng" algn="ctr">
                      <a:solidFill>
                        <a:srgbClr val="DADFE6"/>
                      </a:solidFill>
                      <a:prstDash val="solid"/>
                      <a:round/>
                      <a:headEnd type="none" w="med" len="med"/>
                      <a:tailEnd type="none" w="med" len="med"/>
                    </a:lnR>
                    <a:lnT w="9525" cap="flat" cmpd="sng" algn="ctr">
                      <a:solidFill>
                        <a:srgbClr val="DADFE6"/>
                      </a:solidFill>
                      <a:prstDash val="solid"/>
                      <a:round/>
                      <a:headEnd type="none" w="med" len="med"/>
                      <a:tailEnd type="none" w="med" len="med"/>
                    </a:lnT>
                    <a:lnB w="9525" cap="flat" cmpd="sng" algn="ctr">
                      <a:solidFill>
                        <a:srgbClr val="DADF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93192">
                <a:tc>
                  <a:txBody>
                    <a:bodyPr/>
                    <a:lstStyle/>
                    <a:p>
                      <a:pPr marL="0" indent="0" algn="l">
                        <a:buNone/>
                      </a:pPr>
                      <a:r>
                        <a:rPr lang="en-US" sz="1200">
                          <a:solidFill>
                            <a:srgbClr val="141414"/>
                          </a:solidFill>
                          <a:latin typeface="Calibri" pitchFamily="34" charset="0"/>
                          <a:ea typeface="Calibri" pitchFamily="34" charset="-122"/>
                          <a:cs typeface="Calibri" pitchFamily="34" charset="-120"/>
                        </a:rPr>
                        <a:t>Costumes</a:t>
                      </a:r>
                      <a:endParaRPr lang="en-US" sz="1200">
                        <a:latin typeface="Calibri" charset="0"/>
                        <a:ea typeface="Calibri" charset="0"/>
                        <a:cs typeface="Calibri" charset="0"/>
                      </a:endParaRPr>
                    </a:p>
                  </a:txBody>
                  <a:tcPr anchor="ctr">
                    <a:lnL w="9525" cap="flat" cmpd="sng" algn="ctr">
                      <a:solidFill>
                        <a:srgbClr val="DADFE6"/>
                      </a:solidFill>
                      <a:prstDash val="solid"/>
                      <a:round/>
                      <a:headEnd type="none" w="med" len="med"/>
                      <a:tailEnd type="none" w="med" len="med"/>
                    </a:lnL>
                    <a:lnR w="9525" cap="flat" cmpd="sng" algn="ctr">
                      <a:solidFill>
                        <a:srgbClr val="DADFE6"/>
                      </a:solidFill>
                      <a:prstDash val="solid"/>
                      <a:round/>
                      <a:headEnd type="none" w="med" len="med"/>
                      <a:tailEnd type="none" w="med" len="med"/>
                    </a:lnR>
                    <a:lnT w="9525" cap="flat" cmpd="sng" algn="ctr">
                      <a:solidFill>
                        <a:srgbClr val="DADFE6"/>
                      </a:solidFill>
                      <a:prstDash val="solid"/>
                      <a:round/>
                      <a:headEnd type="none" w="med" len="med"/>
                      <a:tailEnd type="none" w="med" len="med"/>
                    </a:lnT>
                    <a:lnB w="9525" cap="flat" cmpd="sng" algn="ctr">
                      <a:solidFill>
                        <a:srgbClr val="DADFE6"/>
                      </a:solidFill>
                      <a:prstDash val="solid"/>
                      <a:round/>
                      <a:headEnd type="none" w="med" len="med"/>
                      <a:tailEnd type="none" w="med" len="med"/>
                    </a:lnB>
                    <a:solidFill>
                      <a:srgbClr val="EEF1F6"/>
                    </a:solidFill>
                  </a:tcPr>
                </a:tc>
                <a:tc>
                  <a:txBody>
                    <a:bodyPr/>
                    <a:lstStyle/>
                    <a:p>
                      <a:pPr marL="0" indent="0" algn="l">
                        <a:buNone/>
                      </a:pPr>
                      <a:r>
                        <a:rPr lang="en-US" sz="1200">
                          <a:solidFill>
                            <a:srgbClr val="141414"/>
                          </a:solidFill>
                          <a:latin typeface="Calibri" pitchFamily="34" charset="0"/>
                          <a:ea typeface="Calibri" pitchFamily="34" charset="-122"/>
                          <a:cs typeface="Calibri" pitchFamily="34" charset="-120"/>
                        </a:rPr>
                        <a:t>5 people, branded (or PnP in-kind)</a:t>
                      </a:r>
                      <a:endParaRPr lang="en-US" sz="1200">
                        <a:latin typeface="Calibri" charset="0"/>
                        <a:ea typeface="Calibri" charset="0"/>
                        <a:cs typeface="Calibri" charset="0"/>
                      </a:endParaRPr>
                    </a:p>
                  </a:txBody>
                  <a:tcPr anchor="ctr">
                    <a:lnL w="9525" cap="flat" cmpd="sng" algn="ctr">
                      <a:solidFill>
                        <a:srgbClr val="DADFE6"/>
                      </a:solidFill>
                      <a:prstDash val="solid"/>
                      <a:round/>
                      <a:headEnd type="none" w="med" len="med"/>
                      <a:tailEnd type="none" w="med" len="med"/>
                    </a:lnL>
                    <a:lnR w="9525" cap="flat" cmpd="sng" algn="ctr">
                      <a:solidFill>
                        <a:srgbClr val="DADFE6"/>
                      </a:solidFill>
                      <a:prstDash val="solid"/>
                      <a:round/>
                      <a:headEnd type="none" w="med" len="med"/>
                      <a:tailEnd type="none" w="med" len="med"/>
                    </a:lnR>
                    <a:lnT w="9525" cap="flat" cmpd="sng" algn="ctr">
                      <a:solidFill>
                        <a:srgbClr val="DADFE6"/>
                      </a:solidFill>
                      <a:prstDash val="solid"/>
                      <a:round/>
                      <a:headEnd type="none" w="med" len="med"/>
                      <a:tailEnd type="none" w="med" len="med"/>
                    </a:lnT>
                    <a:lnB w="9525" cap="flat" cmpd="sng" algn="ctr">
                      <a:solidFill>
                        <a:srgbClr val="DADFE6"/>
                      </a:solidFill>
                      <a:prstDash val="solid"/>
                      <a:round/>
                      <a:headEnd type="none" w="med" len="med"/>
                      <a:tailEnd type="none" w="med" len="med"/>
                    </a:lnB>
                    <a:solidFill>
                      <a:srgbClr val="EEF1F6"/>
                    </a:solidFill>
                  </a:tcPr>
                </a:tc>
                <a:tc>
                  <a:txBody>
                    <a:bodyPr/>
                    <a:lstStyle/>
                    <a:p>
                      <a:pPr marL="0" indent="0" algn="r">
                        <a:buNone/>
                      </a:pPr>
                      <a:r>
                        <a:rPr lang="en-US" sz="1200">
                          <a:solidFill>
                            <a:srgbClr val="141414"/>
                          </a:solidFill>
                          <a:latin typeface="Calibri" pitchFamily="34" charset="0"/>
                          <a:ea typeface="Calibri" pitchFamily="34" charset="-122"/>
                          <a:cs typeface="Calibri" pitchFamily="34" charset="-120"/>
                        </a:rPr>
                        <a:t>R6,000</a:t>
                      </a:r>
                      <a:endParaRPr lang="en-US" sz="1200">
                        <a:latin typeface="Calibri" charset="0"/>
                        <a:ea typeface="Calibri" charset="0"/>
                        <a:cs typeface="Calibri" charset="0"/>
                      </a:endParaRPr>
                    </a:p>
                  </a:txBody>
                  <a:tcPr anchor="ctr">
                    <a:lnL w="9525" cap="flat" cmpd="sng" algn="ctr">
                      <a:solidFill>
                        <a:srgbClr val="DADFE6"/>
                      </a:solidFill>
                      <a:prstDash val="solid"/>
                      <a:round/>
                      <a:headEnd type="none" w="med" len="med"/>
                      <a:tailEnd type="none" w="med" len="med"/>
                    </a:lnL>
                    <a:lnR w="9525" cap="flat" cmpd="sng" algn="ctr">
                      <a:solidFill>
                        <a:srgbClr val="DADFE6"/>
                      </a:solidFill>
                      <a:prstDash val="solid"/>
                      <a:round/>
                      <a:headEnd type="none" w="med" len="med"/>
                      <a:tailEnd type="none" w="med" len="med"/>
                    </a:lnR>
                    <a:lnT w="9525" cap="flat" cmpd="sng" algn="ctr">
                      <a:solidFill>
                        <a:srgbClr val="DADFE6"/>
                      </a:solidFill>
                      <a:prstDash val="solid"/>
                      <a:round/>
                      <a:headEnd type="none" w="med" len="med"/>
                      <a:tailEnd type="none" w="med" len="med"/>
                    </a:lnT>
                    <a:lnB w="9525" cap="flat" cmpd="sng" algn="ctr">
                      <a:solidFill>
                        <a:srgbClr val="DADFE6"/>
                      </a:solidFill>
                      <a:prstDash val="solid"/>
                      <a:round/>
                      <a:headEnd type="none" w="med" len="med"/>
                      <a:tailEnd type="none" w="med" len="med"/>
                    </a:lnB>
                    <a:solidFill>
                      <a:srgbClr val="EEF1F6"/>
                    </a:solidFill>
                  </a:tcPr>
                </a:tc>
                <a:extLst>
                  <a:ext uri="{0D108BD9-81ED-4DB2-BD59-A6C34878D82A}">
                    <a16:rowId xmlns:a16="http://schemas.microsoft.com/office/drawing/2014/main" val="10006"/>
                  </a:ext>
                </a:extLst>
              </a:tr>
              <a:tr h="393192">
                <a:tc>
                  <a:txBody>
                    <a:bodyPr/>
                    <a:lstStyle/>
                    <a:p>
                      <a:pPr marL="0" indent="0" algn="l">
                        <a:buNone/>
                      </a:pPr>
                      <a:r>
                        <a:rPr lang="en-US" sz="1200">
                          <a:solidFill>
                            <a:srgbClr val="141414"/>
                          </a:solidFill>
                          <a:latin typeface="Calibri" pitchFamily="34" charset="0"/>
                          <a:ea typeface="Calibri" pitchFamily="34" charset="-122"/>
                          <a:cs typeface="Calibri" pitchFamily="34" charset="-120"/>
                        </a:rPr>
                        <a:t>Transport to Sandton</a:t>
                      </a:r>
                      <a:endParaRPr lang="en-US" sz="1200">
                        <a:latin typeface="Calibri" charset="0"/>
                        <a:ea typeface="Calibri" charset="0"/>
                        <a:cs typeface="Calibri" charset="0"/>
                      </a:endParaRPr>
                    </a:p>
                  </a:txBody>
                  <a:tcPr anchor="ctr">
                    <a:lnL w="9525" cap="flat" cmpd="sng" algn="ctr">
                      <a:solidFill>
                        <a:srgbClr val="DADFE6"/>
                      </a:solidFill>
                      <a:prstDash val="solid"/>
                      <a:round/>
                      <a:headEnd type="none" w="med" len="med"/>
                      <a:tailEnd type="none" w="med" len="med"/>
                    </a:lnL>
                    <a:lnR w="9525" cap="flat" cmpd="sng" algn="ctr">
                      <a:solidFill>
                        <a:srgbClr val="DADFE6"/>
                      </a:solidFill>
                      <a:prstDash val="solid"/>
                      <a:round/>
                      <a:headEnd type="none" w="med" len="med"/>
                      <a:tailEnd type="none" w="med" len="med"/>
                    </a:lnR>
                    <a:lnT w="9525" cap="flat" cmpd="sng" algn="ctr">
                      <a:solidFill>
                        <a:srgbClr val="DADFE6"/>
                      </a:solidFill>
                      <a:prstDash val="solid"/>
                      <a:round/>
                      <a:headEnd type="none" w="med" len="med"/>
                      <a:tailEnd type="none" w="med" len="med"/>
                    </a:lnT>
                    <a:lnB w="9525" cap="flat" cmpd="sng" algn="ctr">
                      <a:solidFill>
                        <a:srgbClr val="DADFE6"/>
                      </a:solidFill>
                      <a:prstDash val="solid"/>
                      <a:round/>
                      <a:headEnd type="none" w="med" len="med"/>
                      <a:tailEnd type="none" w="med" len="med"/>
                    </a:lnB>
                    <a:solidFill>
                      <a:srgbClr val="FFFFFF"/>
                    </a:solidFill>
                  </a:tcPr>
                </a:tc>
                <a:tc>
                  <a:txBody>
                    <a:bodyPr/>
                    <a:lstStyle/>
                    <a:p>
                      <a:pPr marL="0" indent="0" algn="l">
                        <a:buNone/>
                      </a:pPr>
                      <a:r>
                        <a:rPr lang="en-US" sz="1200">
                          <a:solidFill>
                            <a:srgbClr val="141414"/>
                          </a:solidFill>
                          <a:latin typeface="Calibri" pitchFamily="34" charset="0"/>
                          <a:ea typeface="Calibri" pitchFamily="34" charset="-122"/>
                          <a:cs typeface="Calibri" pitchFamily="34" charset="-120"/>
                        </a:rPr>
                        <a:t>Flights + cart courier</a:t>
                      </a:r>
                      <a:endParaRPr lang="en-US" sz="1200">
                        <a:latin typeface="Calibri" charset="0"/>
                        <a:ea typeface="Calibri" charset="0"/>
                        <a:cs typeface="Calibri" charset="0"/>
                      </a:endParaRPr>
                    </a:p>
                  </a:txBody>
                  <a:tcPr anchor="ctr">
                    <a:lnL w="9525" cap="flat" cmpd="sng" algn="ctr">
                      <a:solidFill>
                        <a:srgbClr val="DADFE6"/>
                      </a:solidFill>
                      <a:prstDash val="solid"/>
                      <a:round/>
                      <a:headEnd type="none" w="med" len="med"/>
                      <a:tailEnd type="none" w="med" len="med"/>
                    </a:lnL>
                    <a:lnR w="9525" cap="flat" cmpd="sng" algn="ctr">
                      <a:solidFill>
                        <a:srgbClr val="DADFE6"/>
                      </a:solidFill>
                      <a:prstDash val="solid"/>
                      <a:round/>
                      <a:headEnd type="none" w="med" len="med"/>
                      <a:tailEnd type="none" w="med" len="med"/>
                    </a:lnR>
                    <a:lnT w="9525" cap="flat" cmpd="sng" algn="ctr">
                      <a:solidFill>
                        <a:srgbClr val="DADFE6"/>
                      </a:solidFill>
                      <a:prstDash val="solid"/>
                      <a:round/>
                      <a:headEnd type="none" w="med" len="med"/>
                      <a:tailEnd type="none" w="med" len="med"/>
                    </a:lnT>
                    <a:lnB w="9525" cap="flat" cmpd="sng" algn="ctr">
                      <a:solidFill>
                        <a:srgbClr val="DADFE6"/>
                      </a:solidFill>
                      <a:prstDash val="solid"/>
                      <a:round/>
                      <a:headEnd type="none" w="med" len="med"/>
                      <a:tailEnd type="none" w="med" len="med"/>
                    </a:lnB>
                    <a:solidFill>
                      <a:srgbClr val="FFFFFF"/>
                    </a:solidFill>
                  </a:tcPr>
                </a:tc>
                <a:tc>
                  <a:txBody>
                    <a:bodyPr/>
                    <a:lstStyle/>
                    <a:p>
                      <a:pPr marL="0" indent="0" algn="r">
                        <a:buNone/>
                      </a:pPr>
                      <a:r>
                        <a:rPr lang="en-US" sz="1200">
                          <a:solidFill>
                            <a:srgbClr val="141414"/>
                          </a:solidFill>
                          <a:latin typeface="Calibri" pitchFamily="34" charset="0"/>
                          <a:ea typeface="Calibri" pitchFamily="34" charset="-122"/>
                          <a:cs typeface="Calibri" pitchFamily="34" charset="-120"/>
                        </a:rPr>
                        <a:t>R32,500</a:t>
                      </a:r>
                      <a:endParaRPr lang="en-US" sz="1200">
                        <a:latin typeface="Calibri" charset="0"/>
                        <a:ea typeface="Calibri" charset="0"/>
                        <a:cs typeface="Calibri" charset="0"/>
                      </a:endParaRPr>
                    </a:p>
                  </a:txBody>
                  <a:tcPr anchor="ctr">
                    <a:lnL w="9525" cap="flat" cmpd="sng" algn="ctr">
                      <a:solidFill>
                        <a:srgbClr val="DADFE6"/>
                      </a:solidFill>
                      <a:prstDash val="solid"/>
                      <a:round/>
                      <a:headEnd type="none" w="med" len="med"/>
                      <a:tailEnd type="none" w="med" len="med"/>
                    </a:lnL>
                    <a:lnR w="9525" cap="flat" cmpd="sng" algn="ctr">
                      <a:solidFill>
                        <a:srgbClr val="DADFE6"/>
                      </a:solidFill>
                      <a:prstDash val="solid"/>
                      <a:round/>
                      <a:headEnd type="none" w="med" len="med"/>
                      <a:tailEnd type="none" w="med" len="med"/>
                    </a:lnR>
                    <a:lnT w="9525" cap="flat" cmpd="sng" algn="ctr">
                      <a:solidFill>
                        <a:srgbClr val="DADFE6"/>
                      </a:solidFill>
                      <a:prstDash val="solid"/>
                      <a:round/>
                      <a:headEnd type="none" w="med" len="med"/>
                      <a:tailEnd type="none" w="med" len="med"/>
                    </a:lnT>
                    <a:lnB w="9525" cap="flat" cmpd="sng" algn="ctr">
                      <a:solidFill>
                        <a:srgbClr val="DADFE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93192">
                <a:tc>
                  <a:txBody>
                    <a:bodyPr/>
                    <a:lstStyle/>
                    <a:p>
                      <a:pPr marL="0" indent="0" algn="l">
                        <a:buNone/>
                      </a:pPr>
                      <a:r>
                        <a:rPr lang="en-US" sz="1200">
                          <a:solidFill>
                            <a:srgbClr val="141414"/>
                          </a:solidFill>
                          <a:latin typeface="Calibri" pitchFamily="34" charset="0"/>
                          <a:ea typeface="Calibri" pitchFamily="34" charset="-122"/>
                          <a:cs typeface="Calibri" pitchFamily="34" charset="-120"/>
                        </a:rPr>
                        <a:t>Accommodation</a:t>
                      </a:r>
                      <a:endParaRPr lang="en-US" sz="1200">
                        <a:latin typeface="Calibri" charset="0"/>
                        <a:ea typeface="Calibri" charset="0"/>
                        <a:cs typeface="Calibri" charset="0"/>
                      </a:endParaRPr>
                    </a:p>
                  </a:txBody>
                  <a:tcPr anchor="ctr">
                    <a:lnL w="9525" cap="flat" cmpd="sng" algn="ctr">
                      <a:solidFill>
                        <a:srgbClr val="DADFE6"/>
                      </a:solidFill>
                      <a:prstDash val="solid"/>
                      <a:round/>
                      <a:headEnd type="none" w="med" len="med"/>
                      <a:tailEnd type="none" w="med" len="med"/>
                    </a:lnL>
                    <a:lnR w="9525" cap="flat" cmpd="sng" algn="ctr">
                      <a:solidFill>
                        <a:srgbClr val="DADFE6"/>
                      </a:solidFill>
                      <a:prstDash val="solid"/>
                      <a:round/>
                      <a:headEnd type="none" w="med" len="med"/>
                      <a:tailEnd type="none" w="med" len="med"/>
                    </a:lnR>
                    <a:lnT w="9525" cap="flat" cmpd="sng" algn="ctr">
                      <a:solidFill>
                        <a:srgbClr val="DADFE6"/>
                      </a:solidFill>
                      <a:prstDash val="solid"/>
                      <a:round/>
                      <a:headEnd type="none" w="med" len="med"/>
                      <a:tailEnd type="none" w="med" len="med"/>
                    </a:lnT>
                    <a:lnB w="9525" cap="flat" cmpd="sng" algn="ctr">
                      <a:solidFill>
                        <a:srgbClr val="DADFE6"/>
                      </a:solidFill>
                      <a:prstDash val="solid"/>
                      <a:round/>
                      <a:headEnd type="none" w="med" len="med"/>
                      <a:tailEnd type="none" w="med" len="med"/>
                    </a:lnB>
                    <a:solidFill>
                      <a:srgbClr val="EEF1F6"/>
                    </a:solidFill>
                  </a:tcPr>
                </a:tc>
                <a:tc>
                  <a:txBody>
                    <a:bodyPr/>
                    <a:lstStyle/>
                    <a:p>
                      <a:pPr marL="0" indent="0" algn="l">
                        <a:buNone/>
                      </a:pPr>
                      <a:r>
                        <a:rPr lang="en-US" sz="1200">
                          <a:solidFill>
                            <a:srgbClr val="141414"/>
                          </a:solidFill>
                          <a:latin typeface="Calibri" pitchFamily="34" charset="0"/>
                          <a:ea typeface="Calibri" pitchFamily="34" charset="-122"/>
                          <a:cs typeface="Calibri" pitchFamily="34" charset="-120"/>
                        </a:rPr>
                        <a:t>3 nights, house rental</a:t>
                      </a:r>
                      <a:endParaRPr lang="en-US" sz="1200">
                        <a:latin typeface="Calibri" charset="0"/>
                        <a:ea typeface="Calibri" charset="0"/>
                        <a:cs typeface="Calibri" charset="0"/>
                      </a:endParaRPr>
                    </a:p>
                  </a:txBody>
                  <a:tcPr anchor="ctr">
                    <a:lnL w="9525" cap="flat" cmpd="sng" algn="ctr">
                      <a:solidFill>
                        <a:srgbClr val="DADFE6"/>
                      </a:solidFill>
                      <a:prstDash val="solid"/>
                      <a:round/>
                      <a:headEnd type="none" w="med" len="med"/>
                      <a:tailEnd type="none" w="med" len="med"/>
                    </a:lnL>
                    <a:lnR w="9525" cap="flat" cmpd="sng" algn="ctr">
                      <a:solidFill>
                        <a:srgbClr val="DADFE6"/>
                      </a:solidFill>
                      <a:prstDash val="solid"/>
                      <a:round/>
                      <a:headEnd type="none" w="med" len="med"/>
                      <a:tailEnd type="none" w="med" len="med"/>
                    </a:lnR>
                    <a:lnT w="9525" cap="flat" cmpd="sng" algn="ctr">
                      <a:solidFill>
                        <a:srgbClr val="DADFE6"/>
                      </a:solidFill>
                      <a:prstDash val="solid"/>
                      <a:round/>
                      <a:headEnd type="none" w="med" len="med"/>
                      <a:tailEnd type="none" w="med" len="med"/>
                    </a:lnT>
                    <a:lnB w="9525" cap="flat" cmpd="sng" algn="ctr">
                      <a:solidFill>
                        <a:srgbClr val="DADFE6"/>
                      </a:solidFill>
                      <a:prstDash val="solid"/>
                      <a:round/>
                      <a:headEnd type="none" w="med" len="med"/>
                      <a:tailEnd type="none" w="med" len="med"/>
                    </a:lnB>
                    <a:solidFill>
                      <a:srgbClr val="EEF1F6"/>
                    </a:solidFill>
                  </a:tcPr>
                </a:tc>
                <a:tc>
                  <a:txBody>
                    <a:bodyPr/>
                    <a:lstStyle/>
                    <a:p>
                      <a:pPr marL="0" indent="0" algn="r">
                        <a:buNone/>
                      </a:pPr>
                      <a:r>
                        <a:rPr lang="en-US" sz="1200">
                          <a:solidFill>
                            <a:srgbClr val="141414"/>
                          </a:solidFill>
                          <a:latin typeface="Calibri" pitchFamily="34" charset="0"/>
                          <a:ea typeface="Calibri" pitchFamily="34" charset="-122"/>
                          <a:cs typeface="Calibri" pitchFamily="34" charset="-120"/>
                        </a:rPr>
                        <a:t>R6,000</a:t>
                      </a:r>
                      <a:endParaRPr lang="en-US" sz="1200">
                        <a:latin typeface="Calibri" charset="0"/>
                        <a:ea typeface="Calibri" charset="0"/>
                        <a:cs typeface="Calibri" charset="0"/>
                      </a:endParaRPr>
                    </a:p>
                  </a:txBody>
                  <a:tcPr anchor="ctr">
                    <a:lnL w="9525" cap="flat" cmpd="sng" algn="ctr">
                      <a:solidFill>
                        <a:srgbClr val="DADFE6"/>
                      </a:solidFill>
                      <a:prstDash val="solid"/>
                      <a:round/>
                      <a:headEnd type="none" w="med" len="med"/>
                      <a:tailEnd type="none" w="med" len="med"/>
                    </a:lnL>
                    <a:lnR w="9525" cap="flat" cmpd="sng" algn="ctr">
                      <a:solidFill>
                        <a:srgbClr val="DADFE6"/>
                      </a:solidFill>
                      <a:prstDash val="solid"/>
                      <a:round/>
                      <a:headEnd type="none" w="med" len="med"/>
                      <a:tailEnd type="none" w="med" len="med"/>
                    </a:lnR>
                    <a:lnT w="9525" cap="flat" cmpd="sng" algn="ctr">
                      <a:solidFill>
                        <a:srgbClr val="DADFE6"/>
                      </a:solidFill>
                      <a:prstDash val="solid"/>
                      <a:round/>
                      <a:headEnd type="none" w="med" len="med"/>
                      <a:tailEnd type="none" w="med" len="med"/>
                    </a:lnT>
                    <a:lnB w="9525" cap="flat" cmpd="sng" algn="ctr">
                      <a:solidFill>
                        <a:srgbClr val="DADFE6"/>
                      </a:solidFill>
                      <a:prstDash val="solid"/>
                      <a:round/>
                      <a:headEnd type="none" w="med" len="med"/>
                      <a:tailEnd type="none" w="med" len="med"/>
                    </a:lnB>
                    <a:solidFill>
                      <a:srgbClr val="EEF1F6"/>
                    </a:solidFill>
                  </a:tcPr>
                </a:tc>
                <a:extLst>
                  <a:ext uri="{0D108BD9-81ED-4DB2-BD59-A6C34878D82A}">
                    <a16:rowId xmlns:a16="http://schemas.microsoft.com/office/drawing/2014/main" val="10008"/>
                  </a:ext>
                </a:extLst>
              </a:tr>
              <a:tr h="393192">
                <a:tc>
                  <a:txBody>
                    <a:bodyPr/>
                    <a:lstStyle/>
                    <a:p>
                      <a:pPr marL="0" indent="0" algn="l">
                        <a:buNone/>
                      </a:pPr>
                      <a:r>
                        <a:rPr lang="en-US" sz="1200">
                          <a:solidFill>
                            <a:srgbClr val="141414"/>
                          </a:solidFill>
                          <a:latin typeface="Calibri" pitchFamily="34" charset="0"/>
                          <a:ea typeface="Calibri" pitchFamily="34" charset="-122"/>
                          <a:cs typeface="Calibri" pitchFamily="34" charset="-120"/>
                        </a:rPr>
                        <a:t>Local transport (Uber)</a:t>
                      </a:r>
                      <a:endParaRPr lang="en-US" sz="1200">
                        <a:latin typeface="Calibri" charset="0"/>
                        <a:ea typeface="Calibri" charset="0"/>
                        <a:cs typeface="Calibri" charset="0"/>
                      </a:endParaRPr>
                    </a:p>
                  </a:txBody>
                  <a:tcPr anchor="ctr">
                    <a:lnL w="9525" cap="flat" cmpd="sng" algn="ctr">
                      <a:solidFill>
                        <a:srgbClr val="DADFE6"/>
                      </a:solidFill>
                      <a:prstDash val="solid"/>
                      <a:round/>
                      <a:headEnd type="none" w="med" len="med"/>
                      <a:tailEnd type="none" w="med" len="med"/>
                    </a:lnL>
                    <a:lnR w="9525" cap="flat" cmpd="sng" algn="ctr">
                      <a:solidFill>
                        <a:srgbClr val="DADFE6"/>
                      </a:solidFill>
                      <a:prstDash val="solid"/>
                      <a:round/>
                      <a:headEnd type="none" w="med" len="med"/>
                      <a:tailEnd type="none" w="med" len="med"/>
                    </a:lnR>
                    <a:lnT w="9525" cap="flat" cmpd="sng" algn="ctr">
                      <a:solidFill>
                        <a:srgbClr val="DADFE6"/>
                      </a:solidFill>
                      <a:prstDash val="solid"/>
                      <a:round/>
                      <a:headEnd type="none" w="med" len="med"/>
                      <a:tailEnd type="none" w="med" len="med"/>
                    </a:lnT>
                    <a:lnB w="9525" cap="flat" cmpd="sng" algn="ctr">
                      <a:solidFill>
                        <a:srgbClr val="DADFE6"/>
                      </a:solidFill>
                      <a:prstDash val="solid"/>
                      <a:round/>
                      <a:headEnd type="none" w="med" len="med"/>
                      <a:tailEnd type="none" w="med" len="med"/>
                    </a:lnB>
                    <a:solidFill>
                      <a:srgbClr val="FFFFFF"/>
                    </a:solidFill>
                  </a:tcPr>
                </a:tc>
                <a:tc>
                  <a:txBody>
                    <a:bodyPr/>
                    <a:lstStyle/>
                    <a:p>
                      <a:pPr marL="0" indent="0" algn="l">
                        <a:buNone/>
                      </a:pPr>
                      <a:r>
                        <a:rPr lang="en-US" sz="1200">
                          <a:solidFill>
                            <a:srgbClr val="141414"/>
                          </a:solidFill>
                          <a:latin typeface="Calibri" pitchFamily="34" charset="0"/>
                          <a:ea typeface="Calibri" pitchFamily="34" charset="-122"/>
                          <a:cs typeface="Calibri" pitchFamily="34" charset="-120"/>
                        </a:rPr>
                        <a:t>Build phase + airport transfers</a:t>
                      </a:r>
                      <a:endParaRPr lang="en-US" sz="1200">
                        <a:latin typeface="Calibri" charset="0"/>
                        <a:ea typeface="Calibri" charset="0"/>
                        <a:cs typeface="Calibri" charset="0"/>
                      </a:endParaRPr>
                    </a:p>
                  </a:txBody>
                  <a:tcPr anchor="ctr">
                    <a:lnL w="9525" cap="flat" cmpd="sng" algn="ctr">
                      <a:solidFill>
                        <a:srgbClr val="DADFE6"/>
                      </a:solidFill>
                      <a:prstDash val="solid"/>
                      <a:round/>
                      <a:headEnd type="none" w="med" len="med"/>
                      <a:tailEnd type="none" w="med" len="med"/>
                    </a:lnL>
                    <a:lnR w="9525" cap="flat" cmpd="sng" algn="ctr">
                      <a:solidFill>
                        <a:srgbClr val="DADFE6"/>
                      </a:solidFill>
                      <a:prstDash val="solid"/>
                      <a:round/>
                      <a:headEnd type="none" w="med" len="med"/>
                      <a:tailEnd type="none" w="med" len="med"/>
                    </a:lnR>
                    <a:lnT w="9525" cap="flat" cmpd="sng" algn="ctr">
                      <a:solidFill>
                        <a:srgbClr val="DADFE6"/>
                      </a:solidFill>
                      <a:prstDash val="solid"/>
                      <a:round/>
                      <a:headEnd type="none" w="med" len="med"/>
                      <a:tailEnd type="none" w="med" len="med"/>
                    </a:lnT>
                    <a:lnB w="9525" cap="flat" cmpd="sng" algn="ctr">
                      <a:solidFill>
                        <a:srgbClr val="DADFE6"/>
                      </a:solidFill>
                      <a:prstDash val="solid"/>
                      <a:round/>
                      <a:headEnd type="none" w="med" len="med"/>
                      <a:tailEnd type="none" w="med" len="med"/>
                    </a:lnB>
                    <a:solidFill>
                      <a:srgbClr val="FFFFFF"/>
                    </a:solidFill>
                  </a:tcPr>
                </a:tc>
                <a:tc>
                  <a:txBody>
                    <a:bodyPr/>
                    <a:lstStyle/>
                    <a:p>
                      <a:pPr marL="0" indent="0" algn="r">
                        <a:buNone/>
                      </a:pPr>
                      <a:r>
                        <a:rPr lang="en-US" sz="1200">
                          <a:solidFill>
                            <a:srgbClr val="141414"/>
                          </a:solidFill>
                          <a:latin typeface="Calibri" pitchFamily="34" charset="0"/>
                          <a:ea typeface="Calibri" pitchFamily="34" charset="-122"/>
                          <a:cs typeface="Calibri" pitchFamily="34" charset="-120"/>
                        </a:rPr>
                        <a:t>R4,000</a:t>
                      </a:r>
                      <a:endParaRPr lang="en-US" sz="1200">
                        <a:latin typeface="Calibri" charset="0"/>
                        <a:ea typeface="Calibri" charset="0"/>
                        <a:cs typeface="Calibri" charset="0"/>
                      </a:endParaRPr>
                    </a:p>
                  </a:txBody>
                  <a:tcPr anchor="ctr">
                    <a:lnL w="9525" cap="flat" cmpd="sng" algn="ctr">
                      <a:solidFill>
                        <a:srgbClr val="DADFE6"/>
                      </a:solidFill>
                      <a:prstDash val="solid"/>
                      <a:round/>
                      <a:headEnd type="none" w="med" len="med"/>
                      <a:tailEnd type="none" w="med" len="med"/>
                    </a:lnL>
                    <a:lnR w="9525" cap="flat" cmpd="sng" algn="ctr">
                      <a:solidFill>
                        <a:srgbClr val="DADFE6"/>
                      </a:solidFill>
                      <a:prstDash val="solid"/>
                      <a:round/>
                      <a:headEnd type="none" w="med" len="med"/>
                      <a:tailEnd type="none" w="med" len="med"/>
                    </a:lnR>
                    <a:lnT w="9525" cap="flat" cmpd="sng" algn="ctr">
                      <a:solidFill>
                        <a:srgbClr val="DADFE6"/>
                      </a:solidFill>
                      <a:prstDash val="solid"/>
                      <a:round/>
                      <a:headEnd type="none" w="med" len="med"/>
                      <a:tailEnd type="none" w="med" len="med"/>
                    </a:lnT>
                    <a:lnB w="9525" cap="flat" cmpd="sng" algn="ctr">
                      <a:solidFill>
                        <a:srgbClr val="DADFE6"/>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93192">
                <a:tc>
                  <a:txBody>
                    <a:bodyPr/>
                    <a:lstStyle/>
                    <a:p>
                      <a:pPr marL="0" indent="0" algn="l">
                        <a:buNone/>
                      </a:pPr>
                      <a:r>
                        <a:rPr lang="en-US" sz="1200">
                          <a:solidFill>
                            <a:srgbClr val="141414"/>
                          </a:solidFill>
                          <a:latin typeface="Calibri"/>
                          <a:ea typeface="Calibri"/>
                          <a:cs typeface="Calibri"/>
                        </a:rPr>
                        <a:t>Food</a:t>
                      </a:r>
                    </a:p>
                  </a:txBody>
                  <a:tcPr anchor="ctr">
                    <a:lnL w="9525" cap="flat" cmpd="sng" algn="ctr">
                      <a:solidFill>
                        <a:srgbClr val="DADFE6"/>
                      </a:solidFill>
                      <a:prstDash val="solid"/>
                      <a:round/>
                      <a:headEnd type="none" w="med" len="med"/>
                      <a:tailEnd type="none" w="med" len="med"/>
                    </a:lnL>
                    <a:lnR w="9525" cap="flat" cmpd="sng" algn="ctr">
                      <a:solidFill>
                        <a:srgbClr val="DADFE6"/>
                      </a:solidFill>
                      <a:prstDash val="solid"/>
                      <a:round/>
                      <a:headEnd type="none" w="med" len="med"/>
                      <a:tailEnd type="none" w="med" len="med"/>
                    </a:lnR>
                    <a:lnT w="9525" cap="flat" cmpd="sng" algn="ctr">
                      <a:solidFill>
                        <a:srgbClr val="DADFE6"/>
                      </a:solidFill>
                      <a:prstDash val="solid"/>
                      <a:round/>
                      <a:headEnd type="none" w="med" len="med"/>
                      <a:tailEnd type="none" w="med" len="med"/>
                    </a:lnT>
                    <a:lnB w="9525" cap="flat" cmpd="sng" algn="ctr">
                      <a:solidFill>
                        <a:srgbClr val="DADFE6"/>
                      </a:solidFill>
                      <a:prstDash val="solid"/>
                      <a:round/>
                      <a:headEnd type="none" w="med" len="med"/>
                      <a:tailEnd type="none" w="med" len="med"/>
                    </a:lnB>
                    <a:solidFill>
                      <a:srgbClr val="EEF1F6"/>
                    </a:solidFill>
                  </a:tcPr>
                </a:tc>
                <a:tc>
                  <a:txBody>
                    <a:bodyPr/>
                    <a:lstStyle/>
                    <a:p>
                      <a:pPr marL="0" indent="0" algn="l">
                        <a:buNone/>
                      </a:pPr>
                      <a:r>
                        <a:rPr lang="en-US" sz="1200">
                          <a:solidFill>
                            <a:srgbClr val="141414"/>
                          </a:solidFill>
                          <a:latin typeface="Calibri"/>
                          <a:ea typeface="Calibri"/>
                          <a:cs typeface="Calibri"/>
                        </a:rPr>
                        <a:t>Labour + The weekend event</a:t>
                      </a:r>
                    </a:p>
                  </a:txBody>
                  <a:tcPr anchor="ctr">
                    <a:lnL w="9525" cap="flat" cmpd="sng" algn="ctr">
                      <a:solidFill>
                        <a:srgbClr val="DADFE6"/>
                      </a:solidFill>
                      <a:prstDash val="solid"/>
                      <a:round/>
                      <a:headEnd type="none" w="med" len="med"/>
                      <a:tailEnd type="none" w="med" len="med"/>
                    </a:lnL>
                    <a:lnR w="9525" cap="flat" cmpd="sng" algn="ctr">
                      <a:solidFill>
                        <a:srgbClr val="DADFE6"/>
                      </a:solidFill>
                      <a:prstDash val="solid"/>
                      <a:round/>
                      <a:headEnd type="none" w="med" len="med"/>
                      <a:tailEnd type="none" w="med" len="med"/>
                    </a:lnR>
                    <a:lnT w="9525" cap="flat" cmpd="sng" algn="ctr">
                      <a:solidFill>
                        <a:srgbClr val="DADFE6"/>
                      </a:solidFill>
                      <a:prstDash val="solid"/>
                      <a:round/>
                      <a:headEnd type="none" w="med" len="med"/>
                      <a:tailEnd type="none" w="med" len="med"/>
                    </a:lnT>
                    <a:lnB w="9525" cap="flat" cmpd="sng" algn="ctr">
                      <a:solidFill>
                        <a:srgbClr val="DADFE6"/>
                      </a:solidFill>
                      <a:prstDash val="solid"/>
                      <a:round/>
                      <a:headEnd type="none" w="med" len="med"/>
                      <a:tailEnd type="none" w="med" len="med"/>
                    </a:lnB>
                    <a:solidFill>
                      <a:srgbClr val="EEF1F6"/>
                    </a:solidFill>
                  </a:tcPr>
                </a:tc>
                <a:tc>
                  <a:txBody>
                    <a:bodyPr/>
                    <a:lstStyle/>
                    <a:p>
                      <a:pPr marL="0" indent="0" algn="r">
                        <a:buNone/>
                      </a:pPr>
                      <a:r>
                        <a:rPr lang="en-US" sz="1200">
                          <a:solidFill>
                            <a:srgbClr val="141414"/>
                          </a:solidFill>
                          <a:latin typeface="Calibri" pitchFamily="34" charset="0"/>
                          <a:ea typeface="Calibri" pitchFamily="34" charset="-122"/>
                          <a:cs typeface="Calibri" pitchFamily="34" charset="-120"/>
                        </a:rPr>
                        <a:t>R10,000</a:t>
                      </a:r>
                      <a:endParaRPr lang="en-US" sz="1200">
                        <a:latin typeface="Calibri" charset="0"/>
                        <a:ea typeface="Calibri" charset="0"/>
                        <a:cs typeface="Calibri" charset="0"/>
                      </a:endParaRPr>
                    </a:p>
                  </a:txBody>
                  <a:tcPr anchor="ctr">
                    <a:lnL w="9525" cap="flat" cmpd="sng" algn="ctr">
                      <a:solidFill>
                        <a:srgbClr val="DADFE6"/>
                      </a:solidFill>
                      <a:prstDash val="solid"/>
                      <a:round/>
                      <a:headEnd type="none" w="med" len="med"/>
                      <a:tailEnd type="none" w="med" len="med"/>
                    </a:lnL>
                    <a:lnR w="9525" cap="flat" cmpd="sng" algn="ctr">
                      <a:solidFill>
                        <a:srgbClr val="DADFE6"/>
                      </a:solidFill>
                      <a:prstDash val="solid"/>
                      <a:round/>
                      <a:headEnd type="none" w="med" len="med"/>
                      <a:tailEnd type="none" w="med" len="med"/>
                    </a:lnR>
                    <a:lnT w="9525" cap="flat" cmpd="sng" algn="ctr">
                      <a:solidFill>
                        <a:srgbClr val="DADFE6"/>
                      </a:solidFill>
                      <a:prstDash val="solid"/>
                      <a:round/>
                      <a:headEnd type="none" w="med" len="med"/>
                      <a:tailEnd type="none" w="med" len="med"/>
                    </a:lnT>
                    <a:lnB w="9525" cap="flat" cmpd="sng" algn="ctr">
                      <a:solidFill>
                        <a:srgbClr val="DADFE6"/>
                      </a:solidFill>
                      <a:prstDash val="solid"/>
                      <a:round/>
                      <a:headEnd type="none" w="med" len="med"/>
                      <a:tailEnd type="none" w="med" len="med"/>
                    </a:lnB>
                    <a:solidFill>
                      <a:srgbClr val="EEF1F6"/>
                    </a:solidFill>
                  </a:tcPr>
                </a:tc>
                <a:extLst>
                  <a:ext uri="{0D108BD9-81ED-4DB2-BD59-A6C34878D82A}">
                    <a16:rowId xmlns:a16="http://schemas.microsoft.com/office/drawing/2014/main" val="10010"/>
                  </a:ext>
                </a:extLst>
              </a:tr>
            </a:tbl>
          </a:graphicData>
        </a:graphic>
      </p:graphicFrame>
      <p:sp>
        <p:nvSpPr>
          <p:cNvPr id="79" name="Shape 76"/>
          <p:cNvSpPr/>
          <p:nvPr/>
        </p:nvSpPr>
        <p:spPr>
          <a:xfrm>
            <a:off x="8229600" y="1554480"/>
            <a:ext cx="3429000" cy="4572000"/>
          </a:xfrm>
          <a:prstGeom prst="roundRect">
            <a:avLst>
              <a:gd name="adj" fmla="val 2133"/>
            </a:avLst>
          </a:prstGeom>
          <a:solidFill>
            <a:srgbClr val="12274D"/>
          </a:solidFill>
          <a:ln/>
        </p:spPr>
        <p:txBody>
          <a:bodyPr/>
          <a:lstStyle/>
          <a:p>
            <a:endParaRPr lang="en-US"/>
          </a:p>
        </p:txBody>
      </p:sp>
      <p:sp>
        <p:nvSpPr>
          <p:cNvPr id="80" name="Text 77"/>
          <p:cNvSpPr/>
          <p:nvPr/>
        </p:nvSpPr>
        <p:spPr>
          <a:xfrm>
            <a:off x="8503920" y="1828800"/>
            <a:ext cx="2926080" cy="320040"/>
          </a:xfrm>
          <a:prstGeom prst="rect">
            <a:avLst/>
          </a:prstGeom>
          <a:noFill/>
          <a:ln/>
        </p:spPr>
        <p:txBody>
          <a:bodyPr wrap="square" rtlCol="0" anchor="ctr"/>
          <a:lstStyle/>
          <a:p>
            <a:pPr marL="0" indent="0">
              <a:buNone/>
            </a:pPr>
            <a:r>
              <a:rPr lang="en-US" sz="1200" b="1" kern="0" spc="200">
                <a:solidFill>
                  <a:srgbClr val="9FB3D6"/>
                </a:solidFill>
                <a:latin typeface="Calibri" pitchFamily="34" charset="0"/>
                <a:ea typeface="Calibri" pitchFamily="34" charset="-122"/>
                <a:cs typeface="Calibri" pitchFamily="34" charset="-120"/>
              </a:rPr>
              <a:t>SUBTOTAL</a:t>
            </a:r>
            <a:endParaRPr lang="en-US" sz="1200"/>
          </a:p>
        </p:txBody>
      </p:sp>
      <p:sp>
        <p:nvSpPr>
          <p:cNvPr id="81" name="Text 78"/>
          <p:cNvSpPr/>
          <p:nvPr/>
        </p:nvSpPr>
        <p:spPr>
          <a:xfrm>
            <a:off x="8503920" y="2103120"/>
            <a:ext cx="2926080" cy="502920"/>
          </a:xfrm>
          <a:prstGeom prst="rect">
            <a:avLst/>
          </a:prstGeom>
          <a:noFill/>
          <a:ln/>
        </p:spPr>
        <p:txBody>
          <a:bodyPr wrap="square" rtlCol="0" anchor="ctr"/>
          <a:lstStyle/>
          <a:p>
            <a:pPr marL="0" indent="0">
              <a:buNone/>
            </a:pPr>
            <a:r>
              <a:rPr lang="en-US" sz="2600" b="1">
                <a:solidFill>
                  <a:srgbClr val="FFFFFF"/>
                </a:solidFill>
                <a:latin typeface="Cambria" pitchFamily="34" charset="0"/>
                <a:ea typeface="Cambria" pitchFamily="34" charset="-122"/>
                <a:cs typeface="Cambria" pitchFamily="34" charset="-120"/>
              </a:rPr>
              <a:t>R121,000</a:t>
            </a:r>
            <a:endParaRPr lang="en-US" sz="2600"/>
          </a:p>
        </p:txBody>
      </p:sp>
      <p:sp>
        <p:nvSpPr>
          <p:cNvPr id="82" name="Text 79"/>
          <p:cNvSpPr/>
          <p:nvPr/>
        </p:nvSpPr>
        <p:spPr>
          <a:xfrm>
            <a:off x="8503920" y="2788920"/>
            <a:ext cx="2926080" cy="320040"/>
          </a:xfrm>
          <a:prstGeom prst="rect">
            <a:avLst/>
          </a:prstGeom>
          <a:noFill/>
          <a:ln/>
        </p:spPr>
        <p:txBody>
          <a:bodyPr wrap="square" rtlCol="0" anchor="ctr"/>
          <a:lstStyle/>
          <a:p>
            <a:pPr marL="0" indent="0">
              <a:buNone/>
            </a:pPr>
            <a:r>
              <a:rPr lang="en-US" sz="1200" b="1" kern="0" spc="100">
                <a:solidFill>
                  <a:srgbClr val="9FB3D6"/>
                </a:solidFill>
                <a:latin typeface="Calibri" pitchFamily="34" charset="0"/>
                <a:ea typeface="Calibri" pitchFamily="34" charset="-122"/>
                <a:cs typeface="Calibri" pitchFamily="34" charset="-120"/>
              </a:rPr>
              <a:t>CONTINGENCY (10%)</a:t>
            </a:r>
            <a:endParaRPr lang="en-US" sz="1200"/>
          </a:p>
        </p:txBody>
      </p:sp>
      <p:sp>
        <p:nvSpPr>
          <p:cNvPr id="83" name="Text 80"/>
          <p:cNvSpPr/>
          <p:nvPr/>
        </p:nvSpPr>
        <p:spPr>
          <a:xfrm>
            <a:off x="8503920" y="3063240"/>
            <a:ext cx="2926080" cy="411480"/>
          </a:xfrm>
          <a:prstGeom prst="rect">
            <a:avLst/>
          </a:prstGeom>
          <a:noFill/>
          <a:ln/>
        </p:spPr>
        <p:txBody>
          <a:bodyPr wrap="square" rtlCol="0" anchor="ctr"/>
          <a:lstStyle/>
          <a:p>
            <a:pPr marL="0" indent="0">
              <a:buNone/>
            </a:pPr>
            <a:r>
              <a:rPr lang="en-US" sz="2000" b="1">
                <a:solidFill>
                  <a:srgbClr val="FFFFFF"/>
                </a:solidFill>
                <a:latin typeface="Cambria" pitchFamily="34" charset="0"/>
                <a:ea typeface="Cambria" pitchFamily="34" charset="-122"/>
                <a:cs typeface="Cambria" pitchFamily="34" charset="-120"/>
              </a:rPr>
              <a:t>R12,100</a:t>
            </a:r>
            <a:endParaRPr lang="en-US" sz="2000"/>
          </a:p>
        </p:txBody>
      </p:sp>
      <p:sp>
        <p:nvSpPr>
          <p:cNvPr id="84" name="Shape 81"/>
          <p:cNvSpPr/>
          <p:nvPr/>
        </p:nvSpPr>
        <p:spPr>
          <a:xfrm>
            <a:off x="8503920" y="3703320"/>
            <a:ext cx="2880360" cy="0"/>
          </a:xfrm>
          <a:prstGeom prst="line">
            <a:avLst/>
          </a:prstGeom>
          <a:noFill/>
          <a:ln w="12700">
            <a:solidFill>
              <a:srgbClr val="3E5487"/>
            </a:solidFill>
            <a:prstDash val="solid"/>
          </a:ln>
        </p:spPr>
        <p:txBody>
          <a:bodyPr/>
          <a:lstStyle/>
          <a:p>
            <a:endParaRPr lang="en-US"/>
          </a:p>
        </p:txBody>
      </p:sp>
      <p:sp>
        <p:nvSpPr>
          <p:cNvPr id="85" name="Text 82"/>
          <p:cNvSpPr/>
          <p:nvPr/>
        </p:nvSpPr>
        <p:spPr>
          <a:xfrm>
            <a:off x="8503920" y="3886200"/>
            <a:ext cx="2926080" cy="365760"/>
          </a:xfrm>
          <a:prstGeom prst="rect">
            <a:avLst/>
          </a:prstGeom>
          <a:noFill/>
          <a:ln/>
        </p:spPr>
        <p:txBody>
          <a:bodyPr wrap="square" rtlCol="0" anchor="ctr"/>
          <a:lstStyle/>
          <a:p>
            <a:pPr marL="0" indent="0">
              <a:buNone/>
            </a:pPr>
            <a:r>
              <a:rPr lang="en-US" sz="1300" b="1" kern="0" spc="200">
                <a:solidFill>
                  <a:srgbClr val="E42C58"/>
                </a:solidFill>
                <a:latin typeface="Calibri" pitchFamily="34" charset="0"/>
                <a:ea typeface="Calibri" pitchFamily="34" charset="-122"/>
                <a:cs typeface="Calibri" pitchFamily="34" charset="-120"/>
              </a:rPr>
              <a:t>TOTAL ASK</a:t>
            </a:r>
            <a:endParaRPr lang="en-US" sz="1300"/>
          </a:p>
        </p:txBody>
      </p:sp>
      <p:sp>
        <p:nvSpPr>
          <p:cNvPr id="86" name="Text 83"/>
          <p:cNvSpPr/>
          <p:nvPr/>
        </p:nvSpPr>
        <p:spPr>
          <a:xfrm>
            <a:off x="8503920" y="4206240"/>
            <a:ext cx="2926080" cy="685800"/>
          </a:xfrm>
          <a:prstGeom prst="rect">
            <a:avLst/>
          </a:prstGeom>
          <a:noFill/>
          <a:ln/>
        </p:spPr>
        <p:txBody>
          <a:bodyPr wrap="square" rtlCol="0" anchor="ctr"/>
          <a:lstStyle/>
          <a:p>
            <a:pPr marL="0" indent="0">
              <a:buNone/>
            </a:pPr>
            <a:r>
              <a:rPr lang="en-US" sz="3400" b="1">
                <a:solidFill>
                  <a:srgbClr val="FFFFFF"/>
                </a:solidFill>
                <a:latin typeface="Cambria" pitchFamily="34" charset="0"/>
                <a:ea typeface="Cambria" pitchFamily="34" charset="-122"/>
                <a:cs typeface="Cambria" pitchFamily="34" charset="-120"/>
              </a:rPr>
              <a:t>R135,000</a:t>
            </a:r>
            <a:endParaRPr lang="en-US" sz="3400"/>
          </a:p>
        </p:txBody>
      </p:sp>
      <p:sp>
        <p:nvSpPr>
          <p:cNvPr id="87" name="Text 84"/>
          <p:cNvSpPr/>
          <p:nvPr/>
        </p:nvSpPr>
        <p:spPr>
          <a:xfrm>
            <a:off x="8503920" y="4937760"/>
            <a:ext cx="2926080" cy="320040"/>
          </a:xfrm>
          <a:prstGeom prst="rect">
            <a:avLst/>
          </a:prstGeom>
          <a:noFill/>
          <a:ln/>
        </p:spPr>
        <p:txBody>
          <a:bodyPr wrap="square" rtlCol="0" anchor="ctr"/>
          <a:lstStyle/>
          <a:p>
            <a:pPr marL="0" indent="0">
              <a:buNone/>
            </a:pPr>
            <a:r>
              <a:rPr lang="en-US" sz="1000" i="1">
                <a:solidFill>
                  <a:srgbClr val="9FB3D6"/>
                </a:solidFill>
                <a:latin typeface="Calibri" pitchFamily="34" charset="0"/>
                <a:ea typeface="Calibri" pitchFamily="34" charset="-122"/>
                <a:cs typeface="Calibri" pitchFamily="34" charset="-120"/>
              </a:rPr>
              <a:t>Rounded for clean planning</a:t>
            </a:r>
            <a:endParaRPr lang="en-US" sz="1000"/>
          </a:p>
        </p:txBody>
      </p:sp>
      <p:sp>
        <p:nvSpPr>
          <p:cNvPr id="88" name="Shape 85"/>
          <p:cNvSpPr/>
          <p:nvPr/>
        </p:nvSpPr>
        <p:spPr>
          <a:xfrm>
            <a:off x="0" y="6693408"/>
            <a:ext cx="164592" cy="164592"/>
          </a:xfrm>
          <a:prstGeom prst="rect">
            <a:avLst/>
          </a:prstGeom>
          <a:solidFill>
            <a:srgbClr val="12274D"/>
          </a:solidFill>
          <a:ln/>
        </p:spPr>
        <p:txBody>
          <a:bodyPr/>
          <a:lstStyle/>
          <a:p>
            <a:endParaRPr lang="en-US"/>
          </a:p>
        </p:txBody>
      </p:sp>
      <p:sp>
        <p:nvSpPr>
          <p:cNvPr id="89" name="Shape 86"/>
          <p:cNvSpPr/>
          <p:nvPr/>
        </p:nvSpPr>
        <p:spPr>
          <a:xfrm>
            <a:off x="164592" y="6693408"/>
            <a:ext cx="164592" cy="164592"/>
          </a:xfrm>
          <a:prstGeom prst="rect">
            <a:avLst/>
          </a:prstGeom>
          <a:solidFill>
            <a:srgbClr val="E42C58"/>
          </a:solidFill>
          <a:ln/>
        </p:spPr>
        <p:txBody>
          <a:bodyPr/>
          <a:lstStyle/>
          <a:p>
            <a:endParaRPr lang="en-US"/>
          </a:p>
        </p:txBody>
      </p:sp>
      <p:sp>
        <p:nvSpPr>
          <p:cNvPr id="90" name="Shape 87"/>
          <p:cNvSpPr/>
          <p:nvPr/>
        </p:nvSpPr>
        <p:spPr>
          <a:xfrm>
            <a:off x="329184" y="6693408"/>
            <a:ext cx="164592" cy="164592"/>
          </a:xfrm>
          <a:prstGeom prst="rect">
            <a:avLst/>
          </a:prstGeom>
          <a:solidFill>
            <a:srgbClr val="12274D"/>
          </a:solidFill>
          <a:ln/>
        </p:spPr>
        <p:txBody>
          <a:bodyPr/>
          <a:lstStyle/>
          <a:p>
            <a:endParaRPr lang="en-US"/>
          </a:p>
        </p:txBody>
      </p:sp>
      <p:sp>
        <p:nvSpPr>
          <p:cNvPr id="91" name="Shape 88"/>
          <p:cNvSpPr/>
          <p:nvPr/>
        </p:nvSpPr>
        <p:spPr>
          <a:xfrm>
            <a:off x="493776" y="6693408"/>
            <a:ext cx="164592" cy="164592"/>
          </a:xfrm>
          <a:prstGeom prst="rect">
            <a:avLst/>
          </a:prstGeom>
          <a:solidFill>
            <a:srgbClr val="E42C58"/>
          </a:solidFill>
          <a:ln/>
        </p:spPr>
        <p:txBody>
          <a:bodyPr/>
          <a:lstStyle/>
          <a:p>
            <a:endParaRPr lang="en-US"/>
          </a:p>
        </p:txBody>
      </p:sp>
      <p:sp>
        <p:nvSpPr>
          <p:cNvPr id="92" name="Shape 89"/>
          <p:cNvSpPr/>
          <p:nvPr/>
        </p:nvSpPr>
        <p:spPr>
          <a:xfrm>
            <a:off x="658368" y="6693408"/>
            <a:ext cx="164592" cy="164592"/>
          </a:xfrm>
          <a:prstGeom prst="rect">
            <a:avLst/>
          </a:prstGeom>
          <a:solidFill>
            <a:srgbClr val="12274D"/>
          </a:solidFill>
          <a:ln/>
        </p:spPr>
        <p:txBody>
          <a:bodyPr/>
          <a:lstStyle/>
          <a:p>
            <a:endParaRPr lang="en-US"/>
          </a:p>
        </p:txBody>
      </p:sp>
      <p:sp>
        <p:nvSpPr>
          <p:cNvPr id="93" name="Shape 90"/>
          <p:cNvSpPr/>
          <p:nvPr/>
        </p:nvSpPr>
        <p:spPr>
          <a:xfrm>
            <a:off x="822960" y="6693408"/>
            <a:ext cx="164592" cy="164592"/>
          </a:xfrm>
          <a:prstGeom prst="rect">
            <a:avLst/>
          </a:prstGeom>
          <a:solidFill>
            <a:srgbClr val="E42C58"/>
          </a:solidFill>
          <a:ln/>
        </p:spPr>
        <p:txBody>
          <a:bodyPr/>
          <a:lstStyle/>
          <a:p>
            <a:endParaRPr lang="en-US"/>
          </a:p>
        </p:txBody>
      </p:sp>
      <p:sp>
        <p:nvSpPr>
          <p:cNvPr id="94" name="Shape 91"/>
          <p:cNvSpPr/>
          <p:nvPr/>
        </p:nvSpPr>
        <p:spPr>
          <a:xfrm>
            <a:off x="987552" y="6693408"/>
            <a:ext cx="164592" cy="164592"/>
          </a:xfrm>
          <a:prstGeom prst="rect">
            <a:avLst/>
          </a:prstGeom>
          <a:solidFill>
            <a:srgbClr val="12274D"/>
          </a:solidFill>
          <a:ln/>
        </p:spPr>
        <p:txBody>
          <a:bodyPr/>
          <a:lstStyle/>
          <a:p>
            <a:endParaRPr lang="en-US"/>
          </a:p>
        </p:txBody>
      </p:sp>
      <p:sp>
        <p:nvSpPr>
          <p:cNvPr id="95" name="Shape 92"/>
          <p:cNvSpPr/>
          <p:nvPr/>
        </p:nvSpPr>
        <p:spPr>
          <a:xfrm>
            <a:off x="1152144" y="6693408"/>
            <a:ext cx="164592" cy="164592"/>
          </a:xfrm>
          <a:prstGeom prst="rect">
            <a:avLst/>
          </a:prstGeom>
          <a:solidFill>
            <a:srgbClr val="E42C58"/>
          </a:solidFill>
          <a:ln/>
        </p:spPr>
        <p:txBody>
          <a:bodyPr/>
          <a:lstStyle/>
          <a:p>
            <a:endParaRPr lang="en-US"/>
          </a:p>
        </p:txBody>
      </p:sp>
      <p:sp>
        <p:nvSpPr>
          <p:cNvPr id="96" name="Shape 93"/>
          <p:cNvSpPr/>
          <p:nvPr/>
        </p:nvSpPr>
        <p:spPr>
          <a:xfrm>
            <a:off x="1316736" y="6693408"/>
            <a:ext cx="164592" cy="164592"/>
          </a:xfrm>
          <a:prstGeom prst="rect">
            <a:avLst/>
          </a:prstGeom>
          <a:solidFill>
            <a:srgbClr val="12274D"/>
          </a:solidFill>
          <a:ln/>
        </p:spPr>
        <p:txBody>
          <a:bodyPr/>
          <a:lstStyle/>
          <a:p>
            <a:endParaRPr lang="en-US"/>
          </a:p>
        </p:txBody>
      </p:sp>
      <p:sp>
        <p:nvSpPr>
          <p:cNvPr id="97" name="Shape 94"/>
          <p:cNvSpPr/>
          <p:nvPr/>
        </p:nvSpPr>
        <p:spPr>
          <a:xfrm>
            <a:off x="1481328" y="6693408"/>
            <a:ext cx="164592" cy="164592"/>
          </a:xfrm>
          <a:prstGeom prst="rect">
            <a:avLst/>
          </a:prstGeom>
          <a:solidFill>
            <a:srgbClr val="E42C58"/>
          </a:solidFill>
          <a:ln/>
        </p:spPr>
        <p:txBody>
          <a:bodyPr/>
          <a:lstStyle/>
          <a:p>
            <a:endParaRPr lang="en-US"/>
          </a:p>
        </p:txBody>
      </p:sp>
      <p:sp>
        <p:nvSpPr>
          <p:cNvPr id="98" name="Shape 95"/>
          <p:cNvSpPr/>
          <p:nvPr/>
        </p:nvSpPr>
        <p:spPr>
          <a:xfrm>
            <a:off x="1645920" y="6693408"/>
            <a:ext cx="164592" cy="164592"/>
          </a:xfrm>
          <a:prstGeom prst="rect">
            <a:avLst/>
          </a:prstGeom>
          <a:solidFill>
            <a:srgbClr val="12274D"/>
          </a:solidFill>
          <a:ln/>
        </p:spPr>
        <p:txBody>
          <a:bodyPr/>
          <a:lstStyle/>
          <a:p>
            <a:endParaRPr lang="en-US"/>
          </a:p>
        </p:txBody>
      </p:sp>
      <p:sp>
        <p:nvSpPr>
          <p:cNvPr id="99" name="Shape 96"/>
          <p:cNvSpPr/>
          <p:nvPr/>
        </p:nvSpPr>
        <p:spPr>
          <a:xfrm>
            <a:off x="1810512" y="6693408"/>
            <a:ext cx="164592" cy="164592"/>
          </a:xfrm>
          <a:prstGeom prst="rect">
            <a:avLst/>
          </a:prstGeom>
          <a:solidFill>
            <a:srgbClr val="E42C58"/>
          </a:solidFill>
          <a:ln/>
        </p:spPr>
        <p:txBody>
          <a:bodyPr/>
          <a:lstStyle/>
          <a:p>
            <a:endParaRPr lang="en-US"/>
          </a:p>
        </p:txBody>
      </p:sp>
      <p:sp>
        <p:nvSpPr>
          <p:cNvPr id="100" name="Shape 97"/>
          <p:cNvSpPr/>
          <p:nvPr/>
        </p:nvSpPr>
        <p:spPr>
          <a:xfrm>
            <a:off x="1975104" y="6693408"/>
            <a:ext cx="164592" cy="164592"/>
          </a:xfrm>
          <a:prstGeom prst="rect">
            <a:avLst/>
          </a:prstGeom>
          <a:solidFill>
            <a:srgbClr val="12274D"/>
          </a:solidFill>
          <a:ln/>
        </p:spPr>
        <p:txBody>
          <a:bodyPr/>
          <a:lstStyle/>
          <a:p>
            <a:endParaRPr lang="en-US"/>
          </a:p>
        </p:txBody>
      </p:sp>
      <p:sp>
        <p:nvSpPr>
          <p:cNvPr id="101" name="Shape 98"/>
          <p:cNvSpPr/>
          <p:nvPr/>
        </p:nvSpPr>
        <p:spPr>
          <a:xfrm>
            <a:off x="2139696" y="6693408"/>
            <a:ext cx="164592" cy="164592"/>
          </a:xfrm>
          <a:prstGeom prst="rect">
            <a:avLst/>
          </a:prstGeom>
          <a:solidFill>
            <a:srgbClr val="E42C58"/>
          </a:solidFill>
          <a:ln/>
        </p:spPr>
        <p:txBody>
          <a:bodyPr/>
          <a:lstStyle/>
          <a:p>
            <a:endParaRPr lang="en-US"/>
          </a:p>
        </p:txBody>
      </p:sp>
      <p:sp>
        <p:nvSpPr>
          <p:cNvPr id="102" name="Shape 99"/>
          <p:cNvSpPr/>
          <p:nvPr/>
        </p:nvSpPr>
        <p:spPr>
          <a:xfrm>
            <a:off x="2304288" y="6693408"/>
            <a:ext cx="164592" cy="164592"/>
          </a:xfrm>
          <a:prstGeom prst="rect">
            <a:avLst/>
          </a:prstGeom>
          <a:solidFill>
            <a:srgbClr val="12274D"/>
          </a:solidFill>
          <a:ln/>
        </p:spPr>
        <p:txBody>
          <a:bodyPr/>
          <a:lstStyle/>
          <a:p>
            <a:endParaRPr lang="en-US"/>
          </a:p>
        </p:txBody>
      </p:sp>
      <p:sp>
        <p:nvSpPr>
          <p:cNvPr id="103" name="Shape 100"/>
          <p:cNvSpPr/>
          <p:nvPr/>
        </p:nvSpPr>
        <p:spPr>
          <a:xfrm>
            <a:off x="2468880" y="6693408"/>
            <a:ext cx="164592" cy="164592"/>
          </a:xfrm>
          <a:prstGeom prst="rect">
            <a:avLst/>
          </a:prstGeom>
          <a:solidFill>
            <a:srgbClr val="E42C58"/>
          </a:solidFill>
          <a:ln/>
        </p:spPr>
        <p:txBody>
          <a:bodyPr/>
          <a:lstStyle/>
          <a:p>
            <a:endParaRPr lang="en-US"/>
          </a:p>
        </p:txBody>
      </p:sp>
      <p:sp>
        <p:nvSpPr>
          <p:cNvPr id="104" name="Shape 101"/>
          <p:cNvSpPr/>
          <p:nvPr/>
        </p:nvSpPr>
        <p:spPr>
          <a:xfrm>
            <a:off x="2633472" y="6693408"/>
            <a:ext cx="164592" cy="164592"/>
          </a:xfrm>
          <a:prstGeom prst="rect">
            <a:avLst/>
          </a:prstGeom>
          <a:solidFill>
            <a:srgbClr val="12274D"/>
          </a:solidFill>
          <a:ln/>
        </p:spPr>
        <p:txBody>
          <a:bodyPr/>
          <a:lstStyle/>
          <a:p>
            <a:endParaRPr lang="en-US"/>
          </a:p>
        </p:txBody>
      </p:sp>
      <p:sp>
        <p:nvSpPr>
          <p:cNvPr id="105" name="Shape 102"/>
          <p:cNvSpPr/>
          <p:nvPr/>
        </p:nvSpPr>
        <p:spPr>
          <a:xfrm>
            <a:off x="2798064" y="6693408"/>
            <a:ext cx="164592" cy="164592"/>
          </a:xfrm>
          <a:prstGeom prst="rect">
            <a:avLst/>
          </a:prstGeom>
          <a:solidFill>
            <a:srgbClr val="E42C58"/>
          </a:solidFill>
          <a:ln/>
        </p:spPr>
        <p:txBody>
          <a:bodyPr/>
          <a:lstStyle/>
          <a:p>
            <a:endParaRPr lang="en-US"/>
          </a:p>
        </p:txBody>
      </p:sp>
      <p:sp>
        <p:nvSpPr>
          <p:cNvPr id="106" name="Shape 103"/>
          <p:cNvSpPr/>
          <p:nvPr/>
        </p:nvSpPr>
        <p:spPr>
          <a:xfrm>
            <a:off x="2962656" y="6693408"/>
            <a:ext cx="164592" cy="164592"/>
          </a:xfrm>
          <a:prstGeom prst="rect">
            <a:avLst/>
          </a:prstGeom>
          <a:solidFill>
            <a:srgbClr val="12274D"/>
          </a:solidFill>
          <a:ln/>
        </p:spPr>
        <p:txBody>
          <a:bodyPr/>
          <a:lstStyle/>
          <a:p>
            <a:endParaRPr lang="en-US"/>
          </a:p>
        </p:txBody>
      </p:sp>
      <p:sp>
        <p:nvSpPr>
          <p:cNvPr id="107" name="Shape 104"/>
          <p:cNvSpPr/>
          <p:nvPr/>
        </p:nvSpPr>
        <p:spPr>
          <a:xfrm>
            <a:off x="3127248" y="6693408"/>
            <a:ext cx="164592" cy="164592"/>
          </a:xfrm>
          <a:prstGeom prst="rect">
            <a:avLst/>
          </a:prstGeom>
          <a:solidFill>
            <a:srgbClr val="E42C58"/>
          </a:solidFill>
          <a:ln/>
        </p:spPr>
        <p:txBody>
          <a:bodyPr/>
          <a:lstStyle/>
          <a:p>
            <a:endParaRPr lang="en-US"/>
          </a:p>
        </p:txBody>
      </p:sp>
      <p:sp>
        <p:nvSpPr>
          <p:cNvPr id="108" name="Shape 105"/>
          <p:cNvSpPr/>
          <p:nvPr/>
        </p:nvSpPr>
        <p:spPr>
          <a:xfrm>
            <a:off x="3291840" y="6693408"/>
            <a:ext cx="164592" cy="164592"/>
          </a:xfrm>
          <a:prstGeom prst="rect">
            <a:avLst/>
          </a:prstGeom>
          <a:solidFill>
            <a:srgbClr val="12274D"/>
          </a:solidFill>
          <a:ln/>
        </p:spPr>
        <p:txBody>
          <a:bodyPr/>
          <a:lstStyle/>
          <a:p>
            <a:endParaRPr lang="en-US"/>
          </a:p>
        </p:txBody>
      </p:sp>
      <p:sp>
        <p:nvSpPr>
          <p:cNvPr id="109" name="Shape 106"/>
          <p:cNvSpPr/>
          <p:nvPr/>
        </p:nvSpPr>
        <p:spPr>
          <a:xfrm>
            <a:off x="3456432" y="6693408"/>
            <a:ext cx="164592" cy="164592"/>
          </a:xfrm>
          <a:prstGeom prst="rect">
            <a:avLst/>
          </a:prstGeom>
          <a:solidFill>
            <a:srgbClr val="E42C58"/>
          </a:solidFill>
          <a:ln/>
        </p:spPr>
        <p:txBody>
          <a:bodyPr/>
          <a:lstStyle/>
          <a:p>
            <a:endParaRPr lang="en-US"/>
          </a:p>
        </p:txBody>
      </p:sp>
      <p:sp>
        <p:nvSpPr>
          <p:cNvPr id="110" name="Shape 107"/>
          <p:cNvSpPr/>
          <p:nvPr/>
        </p:nvSpPr>
        <p:spPr>
          <a:xfrm>
            <a:off x="3621024" y="6693408"/>
            <a:ext cx="164592" cy="164592"/>
          </a:xfrm>
          <a:prstGeom prst="rect">
            <a:avLst/>
          </a:prstGeom>
          <a:solidFill>
            <a:srgbClr val="12274D"/>
          </a:solidFill>
          <a:ln/>
        </p:spPr>
        <p:txBody>
          <a:bodyPr/>
          <a:lstStyle/>
          <a:p>
            <a:endParaRPr lang="en-US"/>
          </a:p>
        </p:txBody>
      </p:sp>
      <p:sp>
        <p:nvSpPr>
          <p:cNvPr id="111" name="Shape 108"/>
          <p:cNvSpPr/>
          <p:nvPr/>
        </p:nvSpPr>
        <p:spPr>
          <a:xfrm>
            <a:off x="3785616" y="6693408"/>
            <a:ext cx="164592" cy="164592"/>
          </a:xfrm>
          <a:prstGeom prst="rect">
            <a:avLst/>
          </a:prstGeom>
          <a:solidFill>
            <a:srgbClr val="E42C58"/>
          </a:solidFill>
          <a:ln/>
        </p:spPr>
        <p:txBody>
          <a:bodyPr/>
          <a:lstStyle/>
          <a:p>
            <a:endParaRPr lang="en-US"/>
          </a:p>
        </p:txBody>
      </p:sp>
      <p:sp>
        <p:nvSpPr>
          <p:cNvPr id="112" name="Shape 109"/>
          <p:cNvSpPr/>
          <p:nvPr/>
        </p:nvSpPr>
        <p:spPr>
          <a:xfrm>
            <a:off x="3950208" y="6693408"/>
            <a:ext cx="164592" cy="164592"/>
          </a:xfrm>
          <a:prstGeom prst="rect">
            <a:avLst/>
          </a:prstGeom>
          <a:solidFill>
            <a:srgbClr val="12274D"/>
          </a:solidFill>
          <a:ln/>
        </p:spPr>
        <p:txBody>
          <a:bodyPr/>
          <a:lstStyle/>
          <a:p>
            <a:endParaRPr lang="en-US"/>
          </a:p>
        </p:txBody>
      </p:sp>
      <p:sp>
        <p:nvSpPr>
          <p:cNvPr id="113" name="Shape 110"/>
          <p:cNvSpPr/>
          <p:nvPr/>
        </p:nvSpPr>
        <p:spPr>
          <a:xfrm>
            <a:off x="4114800" y="6693408"/>
            <a:ext cx="164592" cy="164592"/>
          </a:xfrm>
          <a:prstGeom prst="rect">
            <a:avLst/>
          </a:prstGeom>
          <a:solidFill>
            <a:srgbClr val="E42C58"/>
          </a:solidFill>
          <a:ln/>
        </p:spPr>
        <p:txBody>
          <a:bodyPr/>
          <a:lstStyle/>
          <a:p>
            <a:endParaRPr lang="en-US"/>
          </a:p>
        </p:txBody>
      </p:sp>
      <p:sp>
        <p:nvSpPr>
          <p:cNvPr id="114" name="Shape 111"/>
          <p:cNvSpPr/>
          <p:nvPr/>
        </p:nvSpPr>
        <p:spPr>
          <a:xfrm>
            <a:off x="4279392" y="6693408"/>
            <a:ext cx="164592" cy="164592"/>
          </a:xfrm>
          <a:prstGeom prst="rect">
            <a:avLst/>
          </a:prstGeom>
          <a:solidFill>
            <a:srgbClr val="12274D"/>
          </a:solidFill>
          <a:ln/>
        </p:spPr>
        <p:txBody>
          <a:bodyPr/>
          <a:lstStyle/>
          <a:p>
            <a:endParaRPr lang="en-US"/>
          </a:p>
        </p:txBody>
      </p:sp>
      <p:sp>
        <p:nvSpPr>
          <p:cNvPr id="115" name="Shape 112"/>
          <p:cNvSpPr/>
          <p:nvPr/>
        </p:nvSpPr>
        <p:spPr>
          <a:xfrm>
            <a:off x="4443984" y="6693408"/>
            <a:ext cx="164592" cy="164592"/>
          </a:xfrm>
          <a:prstGeom prst="rect">
            <a:avLst/>
          </a:prstGeom>
          <a:solidFill>
            <a:srgbClr val="E42C58"/>
          </a:solidFill>
          <a:ln/>
        </p:spPr>
        <p:txBody>
          <a:bodyPr/>
          <a:lstStyle/>
          <a:p>
            <a:endParaRPr lang="en-US"/>
          </a:p>
        </p:txBody>
      </p:sp>
      <p:sp>
        <p:nvSpPr>
          <p:cNvPr id="116" name="Shape 113"/>
          <p:cNvSpPr/>
          <p:nvPr/>
        </p:nvSpPr>
        <p:spPr>
          <a:xfrm>
            <a:off x="4608576" y="6693408"/>
            <a:ext cx="164592" cy="164592"/>
          </a:xfrm>
          <a:prstGeom prst="rect">
            <a:avLst/>
          </a:prstGeom>
          <a:solidFill>
            <a:srgbClr val="12274D"/>
          </a:solidFill>
          <a:ln/>
        </p:spPr>
        <p:txBody>
          <a:bodyPr/>
          <a:lstStyle/>
          <a:p>
            <a:endParaRPr lang="en-US"/>
          </a:p>
        </p:txBody>
      </p:sp>
      <p:sp>
        <p:nvSpPr>
          <p:cNvPr id="117" name="Shape 114"/>
          <p:cNvSpPr/>
          <p:nvPr/>
        </p:nvSpPr>
        <p:spPr>
          <a:xfrm>
            <a:off x="4773168" y="6693408"/>
            <a:ext cx="164592" cy="164592"/>
          </a:xfrm>
          <a:prstGeom prst="rect">
            <a:avLst/>
          </a:prstGeom>
          <a:solidFill>
            <a:srgbClr val="E42C58"/>
          </a:solidFill>
          <a:ln/>
        </p:spPr>
        <p:txBody>
          <a:bodyPr/>
          <a:lstStyle/>
          <a:p>
            <a:endParaRPr lang="en-US"/>
          </a:p>
        </p:txBody>
      </p:sp>
      <p:sp>
        <p:nvSpPr>
          <p:cNvPr id="118" name="Shape 115"/>
          <p:cNvSpPr/>
          <p:nvPr/>
        </p:nvSpPr>
        <p:spPr>
          <a:xfrm>
            <a:off x="4937760" y="6693408"/>
            <a:ext cx="164592" cy="164592"/>
          </a:xfrm>
          <a:prstGeom prst="rect">
            <a:avLst/>
          </a:prstGeom>
          <a:solidFill>
            <a:srgbClr val="12274D"/>
          </a:solidFill>
          <a:ln/>
        </p:spPr>
        <p:txBody>
          <a:bodyPr/>
          <a:lstStyle/>
          <a:p>
            <a:endParaRPr lang="en-US"/>
          </a:p>
        </p:txBody>
      </p:sp>
      <p:sp>
        <p:nvSpPr>
          <p:cNvPr id="119" name="Shape 116"/>
          <p:cNvSpPr/>
          <p:nvPr/>
        </p:nvSpPr>
        <p:spPr>
          <a:xfrm>
            <a:off x="5102352" y="6693408"/>
            <a:ext cx="164592" cy="164592"/>
          </a:xfrm>
          <a:prstGeom prst="rect">
            <a:avLst/>
          </a:prstGeom>
          <a:solidFill>
            <a:srgbClr val="E42C58"/>
          </a:solidFill>
          <a:ln/>
        </p:spPr>
        <p:txBody>
          <a:bodyPr/>
          <a:lstStyle/>
          <a:p>
            <a:endParaRPr lang="en-US"/>
          </a:p>
        </p:txBody>
      </p:sp>
      <p:sp>
        <p:nvSpPr>
          <p:cNvPr id="120" name="Shape 117"/>
          <p:cNvSpPr/>
          <p:nvPr/>
        </p:nvSpPr>
        <p:spPr>
          <a:xfrm>
            <a:off x="5266944" y="6693408"/>
            <a:ext cx="164592" cy="164592"/>
          </a:xfrm>
          <a:prstGeom prst="rect">
            <a:avLst/>
          </a:prstGeom>
          <a:solidFill>
            <a:srgbClr val="12274D"/>
          </a:solidFill>
          <a:ln/>
        </p:spPr>
        <p:txBody>
          <a:bodyPr/>
          <a:lstStyle/>
          <a:p>
            <a:endParaRPr lang="en-US"/>
          </a:p>
        </p:txBody>
      </p:sp>
      <p:sp>
        <p:nvSpPr>
          <p:cNvPr id="121" name="Shape 118"/>
          <p:cNvSpPr/>
          <p:nvPr/>
        </p:nvSpPr>
        <p:spPr>
          <a:xfrm>
            <a:off x="5431536" y="6693408"/>
            <a:ext cx="164592" cy="164592"/>
          </a:xfrm>
          <a:prstGeom prst="rect">
            <a:avLst/>
          </a:prstGeom>
          <a:solidFill>
            <a:srgbClr val="E42C58"/>
          </a:solidFill>
          <a:ln/>
        </p:spPr>
        <p:txBody>
          <a:bodyPr/>
          <a:lstStyle/>
          <a:p>
            <a:endParaRPr lang="en-US"/>
          </a:p>
        </p:txBody>
      </p:sp>
      <p:sp>
        <p:nvSpPr>
          <p:cNvPr id="122" name="Shape 119"/>
          <p:cNvSpPr/>
          <p:nvPr/>
        </p:nvSpPr>
        <p:spPr>
          <a:xfrm>
            <a:off x="5596128" y="6693408"/>
            <a:ext cx="164592" cy="164592"/>
          </a:xfrm>
          <a:prstGeom prst="rect">
            <a:avLst/>
          </a:prstGeom>
          <a:solidFill>
            <a:srgbClr val="12274D"/>
          </a:solidFill>
          <a:ln/>
        </p:spPr>
        <p:txBody>
          <a:bodyPr/>
          <a:lstStyle/>
          <a:p>
            <a:endParaRPr lang="en-US"/>
          </a:p>
        </p:txBody>
      </p:sp>
      <p:sp>
        <p:nvSpPr>
          <p:cNvPr id="123" name="Shape 120"/>
          <p:cNvSpPr/>
          <p:nvPr/>
        </p:nvSpPr>
        <p:spPr>
          <a:xfrm>
            <a:off x="5760720" y="6693408"/>
            <a:ext cx="164592" cy="164592"/>
          </a:xfrm>
          <a:prstGeom prst="rect">
            <a:avLst/>
          </a:prstGeom>
          <a:solidFill>
            <a:srgbClr val="E42C58"/>
          </a:solidFill>
          <a:ln/>
        </p:spPr>
        <p:txBody>
          <a:bodyPr/>
          <a:lstStyle/>
          <a:p>
            <a:endParaRPr lang="en-US"/>
          </a:p>
        </p:txBody>
      </p:sp>
      <p:sp>
        <p:nvSpPr>
          <p:cNvPr id="124" name="Shape 121"/>
          <p:cNvSpPr/>
          <p:nvPr/>
        </p:nvSpPr>
        <p:spPr>
          <a:xfrm>
            <a:off x="5925312" y="6693408"/>
            <a:ext cx="164592" cy="164592"/>
          </a:xfrm>
          <a:prstGeom prst="rect">
            <a:avLst/>
          </a:prstGeom>
          <a:solidFill>
            <a:srgbClr val="12274D"/>
          </a:solidFill>
          <a:ln/>
        </p:spPr>
        <p:txBody>
          <a:bodyPr/>
          <a:lstStyle/>
          <a:p>
            <a:endParaRPr lang="en-US"/>
          </a:p>
        </p:txBody>
      </p:sp>
      <p:sp>
        <p:nvSpPr>
          <p:cNvPr id="125" name="Shape 122"/>
          <p:cNvSpPr/>
          <p:nvPr/>
        </p:nvSpPr>
        <p:spPr>
          <a:xfrm>
            <a:off x="6089904" y="6693408"/>
            <a:ext cx="164592" cy="164592"/>
          </a:xfrm>
          <a:prstGeom prst="rect">
            <a:avLst/>
          </a:prstGeom>
          <a:solidFill>
            <a:srgbClr val="E42C58"/>
          </a:solidFill>
          <a:ln/>
        </p:spPr>
        <p:txBody>
          <a:bodyPr/>
          <a:lstStyle/>
          <a:p>
            <a:endParaRPr lang="en-US"/>
          </a:p>
        </p:txBody>
      </p:sp>
      <p:sp>
        <p:nvSpPr>
          <p:cNvPr id="126" name="Shape 123"/>
          <p:cNvSpPr/>
          <p:nvPr/>
        </p:nvSpPr>
        <p:spPr>
          <a:xfrm>
            <a:off x="6254496" y="6693408"/>
            <a:ext cx="164592" cy="164592"/>
          </a:xfrm>
          <a:prstGeom prst="rect">
            <a:avLst/>
          </a:prstGeom>
          <a:solidFill>
            <a:srgbClr val="12274D"/>
          </a:solidFill>
          <a:ln/>
        </p:spPr>
        <p:txBody>
          <a:bodyPr/>
          <a:lstStyle/>
          <a:p>
            <a:endParaRPr lang="en-US"/>
          </a:p>
        </p:txBody>
      </p:sp>
      <p:sp>
        <p:nvSpPr>
          <p:cNvPr id="127" name="Shape 124"/>
          <p:cNvSpPr/>
          <p:nvPr/>
        </p:nvSpPr>
        <p:spPr>
          <a:xfrm>
            <a:off x="6419088" y="6693408"/>
            <a:ext cx="164592" cy="164592"/>
          </a:xfrm>
          <a:prstGeom prst="rect">
            <a:avLst/>
          </a:prstGeom>
          <a:solidFill>
            <a:srgbClr val="E42C58"/>
          </a:solidFill>
          <a:ln/>
        </p:spPr>
        <p:txBody>
          <a:bodyPr/>
          <a:lstStyle/>
          <a:p>
            <a:endParaRPr lang="en-US"/>
          </a:p>
        </p:txBody>
      </p:sp>
      <p:sp>
        <p:nvSpPr>
          <p:cNvPr id="128" name="Shape 125"/>
          <p:cNvSpPr/>
          <p:nvPr/>
        </p:nvSpPr>
        <p:spPr>
          <a:xfrm>
            <a:off x="6583680" y="6693408"/>
            <a:ext cx="164592" cy="164592"/>
          </a:xfrm>
          <a:prstGeom prst="rect">
            <a:avLst/>
          </a:prstGeom>
          <a:solidFill>
            <a:srgbClr val="12274D"/>
          </a:solidFill>
          <a:ln/>
        </p:spPr>
        <p:txBody>
          <a:bodyPr/>
          <a:lstStyle/>
          <a:p>
            <a:endParaRPr lang="en-US"/>
          </a:p>
        </p:txBody>
      </p:sp>
      <p:sp>
        <p:nvSpPr>
          <p:cNvPr id="129" name="Shape 126"/>
          <p:cNvSpPr/>
          <p:nvPr/>
        </p:nvSpPr>
        <p:spPr>
          <a:xfrm>
            <a:off x="6748272" y="6693408"/>
            <a:ext cx="164592" cy="164592"/>
          </a:xfrm>
          <a:prstGeom prst="rect">
            <a:avLst/>
          </a:prstGeom>
          <a:solidFill>
            <a:srgbClr val="E42C58"/>
          </a:solidFill>
          <a:ln/>
        </p:spPr>
        <p:txBody>
          <a:bodyPr/>
          <a:lstStyle/>
          <a:p>
            <a:endParaRPr lang="en-US"/>
          </a:p>
        </p:txBody>
      </p:sp>
      <p:sp>
        <p:nvSpPr>
          <p:cNvPr id="130" name="Shape 127"/>
          <p:cNvSpPr/>
          <p:nvPr/>
        </p:nvSpPr>
        <p:spPr>
          <a:xfrm>
            <a:off x="6912864" y="6693408"/>
            <a:ext cx="164592" cy="164592"/>
          </a:xfrm>
          <a:prstGeom prst="rect">
            <a:avLst/>
          </a:prstGeom>
          <a:solidFill>
            <a:srgbClr val="12274D"/>
          </a:solidFill>
          <a:ln/>
        </p:spPr>
        <p:txBody>
          <a:bodyPr/>
          <a:lstStyle/>
          <a:p>
            <a:endParaRPr lang="en-US"/>
          </a:p>
        </p:txBody>
      </p:sp>
      <p:sp>
        <p:nvSpPr>
          <p:cNvPr id="131" name="Shape 128"/>
          <p:cNvSpPr/>
          <p:nvPr/>
        </p:nvSpPr>
        <p:spPr>
          <a:xfrm>
            <a:off x="7077456" y="6693408"/>
            <a:ext cx="164592" cy="164592"/>
          </a:xfrm>
          <a:prstGeom prst="rect">
            <a:avLst/>
          </a:prstGeom>
          <a:solidFill>
            <a:srgbClr val="E42C58"/>
          </a:solidFill>
          <a:ln/>
        </p:spPr>
        <p:txBody>
          <a:bodyPr/>
          <a:lstStyle/>
          <a:p>
            <a:endParaRPr lang="en-US"/>
          </a:p>
        </p:txBody>
      </p:sp>
      <p:sp>
        <p:nvSpPr>
          <p:cNvPr id="132" name="Shape 129"/>
          <p:cNvSpPr/>
          <p:nvPr/>
        </p:nvSpPr>
        <p:spPr>
          <a:xfrm>
            <a:off x="7242048" y="6693408"/>
            <a:ext cx="164592" cy="164592"/>
          </a:xfrm>
          <a:prstGeom prst="rect">
            <a:avLst/>
          </a:prstGeom>
          <a:solidFill>
            <a:srgbClr val="12274D"/>
          </a:solidFill>
          <a:ln/>
        </p:spPr>
        <p:txBody>
          <a:bodyPr/>
          <a:lstStyle/>
          <a:p>
            <a:endParaRPr lang="en-US"/>
          </a:p>
        </p:txBody>
      </p:sp>
      <p:sp>
        <p:nvSpPr>
          <p:cNvPr id="133" name="Shape 130"/>
          <p:cNvSpPr/>
          <p:nvPr/>
        </p:nvSpPr>
        <p:spPr>
          <a:xfrm>
            <a:off x="7406640" y="6693408"/>
            <a:ext cx="164592" cy="164592"/>
          </a:xfrm>
          <a:prstGeom prst="rect">
            <a:avLst/>
          </a:prstGeom>
          <a:solidFill>
            <a:srgbClr val="E42C58"/>
          </a:solidFill>
          <a:ln/>
        </p:spPr>
        <p:txBody>
          <a:bodyPr/>
          <a:lstStyle/>
          <a:p>
            <a:endParaRPr lang="en-US"/>
          </a:p>
        </p:txBody>
      </p:sp>
      <p:sp>
        <p:nvSpPr>
          <p:cNvPr id="134" name="Shape 131"/>
          <p:cNvSpPr/>
          <p:nvPr/>
        </p:nvSpPr>
        <p:spPr>
          <a:xfrm>
            <a:off x="7571232" y="6693408"/>
            <a:ext cx="164592" cy="164592"/>
          </a:xfrm>
          <a:prstGeom prst="rect">
            <a:avLst/>
          </a:prstGeom>
          <a:solidFill>
            <a:srgbClr val="12274D"/>
          </a:solidFill>
          <a:ln/>
        </p:spPr>
        <p:txBody>
          <a:bodyPr/>
          <a:lstStyle/>
          <a:p>
            <a:endParaRPr lang="en-US"/>
          </a:p>
        </p:txBody>
      </p:sp>
      <p:sp>
        <p:nvSpPr>
          <p:cNvPr id="135" name="Shape 132"/>
          <p:cNvSpPr/>
          <p:nvPr/>
        </p:nvSpPr>
        <p:spPr>
          <a:xfrm>
            <a:off x="7735824" y="6693408"/>
            <a:ext cx="164592" cy="164592"/>
          </a:xfrm>
          <a:prstGeom prst="rect">
            <a:avLst/>
          </a:prstGeom>
          <a:solidFill>
            <a:srgbClr val="E42C58"/>
          </a:solidFill>
          <a:ln/>
        </p:spPr>
        <p:txBody>
          <a:bodyPr/>
          <a:lstStyle/>
          <a:p>
            <a:endParaRPr lang="en-US"/>
          </a:p>
        </p:txBody>
      </p:sp>
      <p:sp>
        <p:nvSpPr>
          <p:cNvPr id="136" name="Shape 133"/>
          <p:cNvSpPr/>
          <p:nvPr/>
        </p:nvSpPr>
        <p:spPr>
          <a:xfrm>
            <a:off x="7900416" y="6693408"/>
            <a:ext cx="164592" cy="164592"/>
          </a:xfrm>
          <a:prstGeom prst="rect">
            <a:avLst/>
          </a:prstGeom>
          <a:solidFill>
            <a:srgbClr val="12274D"/>
          </a:solidFill>
          <a:ln/>
        </p:spPr>
        <p:txBody>
          <a:bodyPr/>
          <a:lstStyle/>
          <a:p>
            <a:endParaRPr lang="en-US"/>
          </a:p>
        </p:txBody>
      </p:sp>
      <p:sp>
        <p:nvSpPr>
          <p:cNvPr id="137" name="Shape 134"/>
          <p:cNvSpPr/>
          <p:nvPr/>
        </p:nvSpPr>
        <p:spPr>
          <a:xfrm>
            <a:off x="8065008" y="6693408"/>
            <a:ext cx="164592" cy="164592"/>
          </a:xfrm>
          <a:prstGeom prst="rect">
            <a:avLst/>
          </a:prstGeom>
          <a:solidFill>
            <a:srgbClr val="E42C58"/>
          </a:solidFill>
          <a:ln/>
        </p:spPr>
        <p:txBody>
          <a:bodyPr/>
          <a:lstStyle/>
          <a:p>
            <a:endParaRPr lang="en-US"/>
          </a:p>
        </p:txBody>
      </p:sp>
      <p:sp>
        <p:nvSpPr>
          <p:cNvPr id="138" name="Shape 135"/>
          <p:cNvSpPr/>
          <p:nvPr/>
        </p:nvSpPr>
        <p:spPr>
          <a:xfrm>
            <a:off x="8229600" y="6693408"/>
            <a:ext cx="164592" cy="164592"/>
          </a:xfrm>
          <a:prstGeom prst="rect">
            <a:avLst/>
          </a:prstGeom>
          <a:solidFill>
            <a:srgbClr val="12274D"/>
          </a:solidFill>
          <a:ln/>
        </p:spPr>
        <p:txBody>
          <a:bodyPr/>
          <a:lstStyle/>
          <a:p>
            <a:endParaRPr lang="en-US"/>
          </a:p>
        </p:txBody>
      </p:sp>
      <p:sp>
        <p:nvSpPr>
          <p:cNvPr id="139" name="Shape 136"/>
          <p:cNvSpPr/>
          <p:nvPr/>
        </p:nvSpPr>
        <p:spPr>
          <a:xfrm>
            <a:off x="8394192" y="6693408"/>
            <a:ext cx="164592" cy="164592"/>
          </a:xfrm>
          <a:prstGeom prst="rect">
            <a:avLst/>
          </a:prstGeom>
          <a:solidFill>
            <a:srgbClr val="E42C58"/>
          </a:solidFill>
          <a:ln/>
        </p:spPr>
        <p:txBody>
          <a:bodyPr/>
          <a:lstStyle/>
          <a:p>
            <a:endParaRPr lang="en-US"/>
          </a:p>
        </p:txBody>
      </p:sp>
      <p:sp>
        <p:nvSpPr>
          <p:cNvPr id="140" name="Shape 137"/>
          <p:cNvSpPr/>
          <p:nvPr/>
        </p:nvSpPr>
        <p:spPr>
          <a:xfrm>
            <a:off x="8558784" y="6693408"/>
            <a:ext cx="164592" cy="164592"/>
          </a:xfrm>
          <a:prstGeom prst="rect">
            <a:avLst/>
          </a:prstGeom>
          <a:solidFill>
            <a:srgbClr val="12274D"/>
          </a:solidFill>
          <a:ln/>
        </p:spPr>
        <p:txBody>
          <a:bodyPr/>
          <a:lstStyle/>
          <a:p>
            <a:endParaRPr lang="en-US"/>
          </a:p>
        </p:txBody>
      </p:sp>
      <p:sp>
        <p:nvSpPr>
          <p:cNvPr id="141" name="Shape 138"/>
          <p:cNvSpPr/>
          <p:nvPr/>
        </p:nvSpPr>
        <p:spPr>
          <a:xfrm>
            <a:off x="8723376" y="6693408"/>
            <a:ext cx="164592" cy="164592"/>
          </a:xfrm>
          <a:prstGeom prst="rect">
            <a:avLst/>
          </a:prstGeom>
          <a:solidFill>
            <a:srgbClr val="E42C58"/>
          </a:solidFill>
          <a:ln/>
        </p:spPr>
        <p:txBody>
          <a:bodyPr/>
          <a:lstStyle/>
          <a:p>
            <a:endParaRPr lang="en-US"/>
          </a:p>
        </p:txBody>
      </p:sp>
      <p:sp>
        <p:nvSpPr>
          <p:cNvPr id="142" name="Shape 139"/>
          <p:cNvSpPr/>
          <p:nvPr/>
        </p:nvSpPr>
        <p:spPr>
          <a:xfrm>
            <a:off x="8887968" y="6693408"/>
            <a:ext cx="164592" cy="164592"/>
          </a:xfrm>
          <a:prstGeom prst="rect">
            <a:avLst/>
          </a:prstGeom>
          <a:solidFill>
            <a:srgbClr val="12274D"/>
          </a:solidFill>
          <a:ln/>
        </p:spPr>
        <p:txBody>
          <a:bodyPr/>
          <a:lstStyle/>
          <a:p>
            <a:endParaRPr lang="en-US"/>
          </a:p>
        </p:txBody>
      </p:sp>
      <p:sp>
        <p:nvSpPr>
          <p:cNvPr id="143" name="Shape 140"/>
          <p:cNvSpPr/>
          <p:nvPr/>
        </p:nvSpPr>
        <p:spPr>
          <a:xfrm>
            <a:off x="9052560" y="6693408"/>
            <a:ext cx="164592" cy="164592"/>
          </a:xfrm>
          <a:prstGeom prst="rect">
            <a:avLst/>
          </a:prstGeom>
          <a:solidFill>
            <a:srgbClr val="E42C58"/>
          </a:solidFill>
          <a:ln/>
        </p:spPr>
        <p:txBody>
          <a:bodyPr/>
          <a:lstStyle/>
          <a:p>
            <a:endParaRPr lang="en-US"/>
          </a:p>
        </p:txBody>
      </p:sp>
      <p:sp>
        <p:nvSpPr>
          <p:cNvPr id="144" name="Shape 141"/>
          <p:cNvSpPr/>
          <p:nvPr/>
        </p:nvSpPr>
        <p:spPr>
          <a:xfrm>
            <a:off x="9217152" y="6693408"/>
            <a:ext cx="164592" cy="164592"/>
          </a:xfrm>
          <a:prstGeom prst="rect">
            <a:avLst/>
          </a:prstGeom>
          <a:solidFill>
            <a:srgbClr val="12274D"/>
          </a:solidFill>
          <a:ln/>
        </p:spPr>
        <p:txBody>
          <a:bodyPr/>
          <a:lstStyle/>
          <a:p>
            <a:endParaRPr lang="en-US"/>
          </a:p>
        </p:txBody>
      </p:sp>
      <p:sp>
        <p:nvSpPr>
          <p:cNvPr id="145" name="Shape 142"/>
          <p:cNvSpPr/>
          <p:nvPr/>
        </p:nvSpPr>
        <p:spPr>
          <a:xfrm>
            <a:off x="9381744" y="6693408"/>
            <a:ext cx="164592" cy="164592"/>
          </a:xfrm>
          <a:prstGeom prst="rect">
            <a:avLst/>
          </a:prstGeom>
          <a:solidFill>
            <a:srgbClr val="E42C58"/>
          </a:solidFill>
          <a:ln/>
        </p:spPr>
        <p:txBody>
          <a:bodyPr/>
          <a:lstStyle/>
          <a:p>
            <a:endParaRPr lang="en-US"/>
          </a:p>
        </p:txBody>
      </p:sp>
      <p:sp>
        <p:nvSpPr>
          <p:cNvPr id="146" name="Shape 143"/>
          <p:cNvSpPr/>
          <p:nvPr/>
        </p:nvSpPr>
        <p:spPr>
          <a:xfrm>
            <a:off x="9546336" y="6693408"/>
            <a:ext cx="164592" cy="164592"/>
          </a:xfrm>
          <a:prstGeom prst="rect">
            <a:avLst/>
          </a:prstGeom>
          <a:solidFill>
            <a:srgbClr val="12274D"/>
          </a:solidFill>
          <a:ln/>
        </p:spPr>
        <p:txBody>
          <a:bodyPr/>
          <a:lstStyle/>
          <a:p>
            <a:endParaRPr lang="en-US"/>
          </a:p>
        </p:txBody>
      </p:sp>
      <p:sp>
        <p:nvSpPr>
          <p:cNvPr id="147" name="Shape 144"/>
          <p:cNvSpPr/>
          <p:nvPr/>
        </p:nvSpPr>
        <p:spPr>
          <a:xfrm>
            <a:off x="9710928" y="6693408"/>
            <a:ext cx="164592" cy="164592"/>
          </a:xfrm>
          <a:prstGeom prst="rect">
            <a:avLst/>
          </a:prstGeom>
          <a:solidFill>
            <a:srgbClr val="E42C58"/>
          </a:solidFill>
          <a:ln/>
        </p:spPr>
        <p:txBody>
          <a:bodyPr/>
          <a:lstStyle/>
          <a:p>
            <a:endParaRPr lang="en-US"/>
          </a:p>
        </p:txBody>
      </p:sp>
      <p:sp>
        <p:nvSpPr>
          <p:cNvPr id="148" name="Shape 145"/>
          <p:cNvSpPr/>
          <p:nvPr/>
        </p:nvSpPr>
        <p:spPr>
          <a:xfrm>
            <a:off x="9875520" y="6693408"/>
            <a:ext cx="164592" cy="164592"/>
          </a:xfrm>
          <a:prstGeom prst="rect">
            <a:avLst/>
          </a:prstGeom>
          <a:solidFill>
            <a:srgbClr val="12274D"/>
          </a:solidFill>
          <a:ln/>
        </p:spPr>
        <p:txBody>
          <a:bodyPr/>
          <a:lstStyle/>
          <a:p>
            <a:endParaRPr lang="en-US"/>
          </a:p>
        </p:txBody>
      </p:sp>
      <p:sp>
        <p:nvSpPr>
          <p:cNvPr id="149" name="Shape 146"/>
          <p:cNvSpPr/>
          <p:nvPr/>
        </p:nvSpPr>
        <p:spPr>
          <a:xfrm>
            <a:off x="10040112" y="6693408"/>
            <a:ext cx="164592" cy="164592"/>
          </a:xfrm>
          <a:prstGeom prst="rect">
            <a:avLst/>
          </a:prstGeom>
          <a:solidFill>
            <a:srgbClr val="E42C58"/>
          </a:solidFill>
          <a:ln/>
        </p:spPr>
        <p:txBody>
          <a:bodyPr/>
          <a:lstStyle/>
          <a:p>
            <a:endParaRPr lang="en-US"/>
          </a:p>
        </p:txBody>
      </p:sp>
      <p:sp>
        <p:nvSpPr>
          <p:cNvPr id="150" name="Shape 147"/>
          <p:cNvSpPr/>
          <p:nvPr/>
        </p:nvSpPr>
        <p:spPr>
          <a:xfrm>
            <a:off x="10204704" y="6693408"/>
            <a:ext cx="164592" cy="164592"/>
          </a:xfrm>
          <a:prstGeom prst="rect">
            <a:avLst/>
          </a:prstGeom>
          <a:solidFill>
            <a:srgbClr val="12274D"/>
          </a:solidFill>
          <a:ln/>
        </p:spPr>
        <p:txBody>
          <a:bodyPr/>
          <a:lstStyle/>
          <a:p>
            <a:endParaRPr lang="en-US"/>
          </a:p>
        </p:txBody>
      </p:sp>
      <p:sp>
        <p:nvSpPr>
          <p:cNvPr id="151" name="Shape 148"/>
          <p:cNvSpPr/>
          <p:nvPr/>
        </p:nvSpPr>
        <p:spPr>
          <a:xfrm>
            <a:off x="10369296" y="6693408"/>
            <a:ext cx="164592" cy="164592"/>
          </a:xfrm>
          <a:prstGeom prst="rect">
            <a:avLst/>
          </a:prstGeom>
          <a:solidFill>
            <a:srgbClr val="E42C58"/>
          </a:solidFill>
          <a:ln/>
        </p:spPr>
        <p:txBody>
          <a:bodyPr/>
          <a:lstStyle/>
          <a:p>
            <a:endParaRPr lang="en-US"/>
          </a:p>
        </p:txBody>
      </p:sp>
      <p:sp>
        <p:nvSpPr>
          <p:cNvPr id="152" name="Shape 149"/>
          <p:cNvSpPr/>
          <p:nvPr/>
        </p:nvSpPr>
        <p:spPr>
          <a:xfrm>
            <a:off x="10533888" y="6693408"/>
            <a:ext cx="164592" cy="164592"/>
          </a:xfrm>
          <a:prstGeom prst="rect">
            <a:avLst/>
          </a:prstGeom>
          <a:solidFill>
            <a:srgbClr val="12274D"/>
          </a:solidFill>
          <a:ln/>
        </p:spPr>
        <p:txBody>
          <a:bodyPr/>
          <a:lstStyle/>
          <a:p>
            <a:endParaRPr lang="en-US"/>
          </a:p>
        </p:txBody>
      </p:sp>
      <p:sp>
        <p:nvSpPr>
          <p:cNvPr id="153" name="Shape 150"/>
          <p:cNvSpPr/>
          <p:nvPr/>
        </p:nvSpPr>
        <p:spPr>
          <a:xfrm>
            <a:off x="10698480" y="6693408"/>
            <a:ext cx="164592" cy="164592"/>
          </a:xfrm>
          <a:prstGeom prst="rect">
            <a:avLst/>
          </a:prstGeom>
          <a:solidFill>
            <a:srgbClr val="E42C58"/>
          </a:solidFill>
          <a:ln/>
        </p:spPr>
        <p:txBody>
          <a:bodyPr/>
          <a:lstStyle/>
          <a:p>
            <a:endParaRPr lang="en-US"/>
          </a:p>
        </p:txBody>
      </p:sp>
      <p:sp>
        <p:nvSpPr>
          <p:cNvPr id="154" name="Shape 151"/>
          <p:cNvSpPr/>
          <p:nvPr/>
        </p:nvSpPr>
        <p:spPr>
          <a:xfrm>
            <a:off x="10863072" y="6693408"/>
            <a:ext cx="164592" cy="164592"/>
          </a:xfrm>
          <a:prstGeom prst="rect">
            <a:avLst/>
          </a:prstGeom>
          <a:solidFill>
            <a:srgbClr val="12274D"/>
          </a:solidFill>
          <a:ln/>
        </p:spPr>
        <p:txBody>
          <a:bodyPr/>
          <a:lstStyle/>
          <a:p>
            <a:endParaRPr lang="en-US"/>
          </a:p>
        </p:txBody>
      </p:sp>
      <p:sp>
        <p:nvSpPr>
          <p:cNvPr id="155" name="Shape 152"/>
          <p:cNvSpPr/>
          <p:nvPr/>
        </p:nvSpPr>
        <p:spPr>
          <a:xfrm>
            <a:off x="11027664" y="6693408"/>
            <a:ext cx="164592" cy="164592"/>
          </a:xfrm>
          <a:prstGeom prst="rect">
            <a:avLst/>
          </a:prstGeom>
          <a:solidFill>
            <a:srgbClr val="E42C58"/>
          </a:solidFill>
          <a:ln/>
        </p:spPr>
        <p:txBody>
          <a:bodyPr/>
          <a:lstStyle/>
          <a:p>
            <a:endParaRPr lang="en-US"/>
          </a:p>
        </p:txBody>
      </p:sp>
      <p:sp>
        <p:nvSpPr>
          <p:cNvPr id="156" name="Shape 153"/>
          <p:cNvSpPr/>
          <p:nvPr/>
        </p:nvSpPr>
        <p:spPr>
          <a:xfrm>
            <a:off x="11192256" y="6693408"/>
            <a:ext cx="164592" cy="164592"/>
          </a:xfrm>
          <a:prstGeom prst="rect">
            <a:avLst/>
          </a:prstGeom>
          <a:solidFill>
            <a:srgbClr val="12274D"/>
          </a:solidFill>
          <a:ln/>
        </p:spPr>
        <p:txBody>
          <a:bodyPr/>
          <a:lstStyle/>
          <a:p>
            <a:endParaRPr lang="en-US"/>
          </a:p>
        </p:txBody>
      </p:sp>
      <p:sp>
        <p:nvSpPr>
          <p:cNvPr id="157" name="Shape 154"/>
          <p:cNvSpPr/>
          <p:nvPr/>
        </p:nvSpPr>
        <p:spPr>
          <a:xfrm>
            <a:off x="11356848" y="6693408"/>
            <a:ext cx="164592" cy="164592"/>
          </a:xfrm>
          <a:prstGeom prst="rect">
            <a:avLst/>
          </a:prstGeom>
          <a:solidFill>
            <a:srgbClr val="E42C58"/>
          </a:solidFill>
          <a:ln/>
        </p:spPr>
        <p:txBody>
          <a:bodyPr/>
          <a:lstStyle/>
          <a:p>
            <a:endParaRPr lang="en-US"/>
          </a:p>
        </p:txBody>
      </p:sp>
      <p:sp>
        <p:nvSpPr>
          <p:cNvPr id="158" name="Shape 155"/>
          <p:cNvSpPr/>
          <p:nvPr/>
        </p:nvSpPr>
        <p:spPr>
          <a:xfrm>
            <a:off x="11521440" y="6693408"/>
            <a:ext cx="164592" cy="164592"/>
          </a:xfrm>
          <a:prstGeom prst="rect">
            <a:avLst/>
          </a:prstGeom>
          <a:solidFill>
            <a:srgbClr val="12274D"/>
          </a:solidFill>
          <a:ln/>
        </p:spPr>
        <p:txBody>
          <a:bodyPr/>
          <a:lstStyle/>
          <a:p>
            <a:endParaRPr lang="en-US"/>
          </a:p>
        </p:txBody>
      </p:sp>
      <p:sp>
        <p:nvSpPr>
          <p:cNvPr id="159" name="Shape 156"/>
          <p:cNvSpPr/>
          <p:nvPr/>
        </p:nvSpPr>
        <p:spPr>
          <a:xfrm>
            <a:off x="11686032" y="6693408"/>
            <a:ext cx="164592" cy="164592"/>
          </a:xfrm>
          <a:prstGeom prst="rect">
            <a:avLst/>
          </a:prstGeom>
          <a:solidFill>
            <a:srgbClr val="E42C58"/>
          </a:solidFill>
          <a:ln/>
        </p:spPr>
        <p:txBody>
          <a:bodyPr/>
          <a:lstStyle/>
          <a:p>
            <a:endParaRPr lang="en-US"/>
          </a:p>
        </p:txBody>
      </p:sp>
      <p:sp>
        <p:nvSpPr>
          <p:cNvPr id="160" name="Shape 157"/>
          <p:cNvSpPr/>
          <p:nvPr/>
        </p:nvSpPr>
        <p:spPr>
          <a:xfrm>
            <a:off x="11850624" y="6693408"/>
            <a:ext cx="164592" cy="164592"/>
          </a:xfrm>
          <a:prstGeom prst="rect">
            <a:avLst/>
          </a:prstGeom>
          <a:solidFill>
            <a:srgbClr val="12274D"/>
          </a:solidFill>
          <a:ln/>
        </p:spPr>
        <p:txBody>
          <a:bodyPr/>
          <a:lstStyle/>
          <a:p>
            <a:endParaRPr lang="en-US"/>
          </a:p>
        </p:txBody>
      </p:sp>
      <p:sp>
        <p:nvSpPr>
          <p:cNvPr id="161" name="Shape 158"/>
          <p:cNvSpPr/>
          <p:nvPr/>
        </p:nvSpPr>
        <p:spPr>
          <a:xfrm>
            <a:off x="12015216" y="6693408"/>
            <a:ext cx="164592" cy="164592"/>
          </a:xfrm>
          <a:prstGeom prst="rect">
            <a:avLst/>
          </a:prstGeom>
          <a:solidFill>
            <a:srgbClr val="E42C58"/>
          </a:solidFill>
          <a:ln/>
        </p:spPr>
        <p:txBody>
          <a:bodyPr/>
          <a:lstStyle/>
          <a:p>
            <a:endParaRPr lang="en-US"/>
          </a:p>
        </p:txBody>
      </p:sp>
      <p:sp>
        <p:nvSpPr>
          <p:cNvPr id="162" name="Text 159"/>
          <p:cNvSpPr/>
          <p:nvPr/>
        </p:nvSpPr>
        <p:spPr>
          <a:xfrm>
            <a:off x="457200" y="6355080"/>
            <a:ext cx="7315200" cy="274320"/>
          </a:xfrm>
          <a:prstGeom prst="rect">
            <a:avLst/>
          </a:prstGeom>
          <a:noFill/>
          <a:ln/>
        </p:spPr>
        <p:txBody>
          <a:bodyPr wrap="square" rtlCol="0" anchor="ctr"/>
          <a:lstStyle/>
          <a:p>
            <a:pPr marL="0" indent="0" algn="l">
              <a:buNone/>
            </a:pPr>
            <a:r>
              <a:rPr lang="en-US" sz="900">
                <a:solidFill>
                  <a:srgbClr val="6B6F76"/>
                </a:solidFill>
                <a:latin typeface="Calibri" pitchFamily="34" charset="0"/>
                <a:ea typeface="Calibri" pitchFamily="34" charset="-122"/>
                <a:cs typeface="Calibri" pitchFamily="34" charset="-120"/>
              </a:rPr>
              <a:t>KWIK KWIK NAWU NAWU  ×  PICK N PAY</a:t>
            </a:r>
            <a:endParaRPr lang="en-US" sz="900"/>
          </a:p>
        </p:txBody>
      </p:sp>
      <p:sp>
        <p:nvSpPr>
          <p:cNvPr id="163" name="Text 160"/>
          <p:cNvSpPr/>
          <p:nvPr/>
        </p:nvSpPr>
        <p:spPr>
          <a:xfrm>
            <a:off x="10789920" y="6537960"/>
            <a:ext cx="914400" cy="274320"/>
          </a:xfrm>
          <a:prstGeom prst="rect">
            <a:avLst/>
          </a:prstGeom>
          <a:noFill/>
          <a:ln/>
        </p:spPr>
        <p:txBody>
          <a:bodyPr wrap="square" rtlCol="0" anchor="ctr"/>
          <a:lstStyle/>
          <a:p>
            <a:pPr marL="0" indent="0" algn="r">
              <a:buNone/>
            </a:pPr>
            <a:r>
              <a:rPr lang="en-US" sz="900">
                <a:solidFill>
                  <a:srgbClr val="6B6F76"/>
                </a:solidFill>
                <a:latin typeface="Calibri" pitchFamily="34" charset="0"/>
                <a:ea typeface="Calibri" pitchFamily="34" charset="-122"/>
                <a:cs typeface="Calibri" pitchFamily="34" charset="-120"/>
              </a:rPr>
              <a:t>01</a:t>
            </a:r>
            <a:endParaRPr lang="en-US" sz="9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F7047"/>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Slides>
  <Notes>9</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revision>2</cp:revision>
  <dcterms:created xsi:type="dcterms:W3CDTF">2026-07-24T08:45:57Z</dcterms:created>
  <dcterms:modified xsi:type="dcterms:W3CDTF">2026-07-26T13:52:20Z</dcterms:modified>
</cp:coreProperties>
</file>